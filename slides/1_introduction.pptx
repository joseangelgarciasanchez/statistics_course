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lesson replaces the previous, more mathematical introduction. Idea to announce: before any formula, we simulate. If you can write a few lines that generate fake data from a model, you can see what an estimate, a standard error or a "significant" result really means. A companion Python notebook goes with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map. This version is deliberately rich, more than fits in 2h30, so it is best taught as two sessions: Part A, steps 1 to 5 (foundations: regression first look, measurement, probability, toolkit, simulation), and Part B, steps 6 to 11 (inference: estimates, bias, significance, bootstrap, Bayesian view, exercises). For a single session, skip the slides about the toolkit and the detailed case studies. Each step is followed by a live demo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spirit as the previous version of the course (formulate a problem, choose methods, understand their limits), but the route is now simulation first and formulas second. Stress that the mathematics comes back later, once the intuition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verbs organise the whole course, and every demo in the notebook exercises at least one of them. We spend more time on understand and display than on fit, because software does the fitting for us but cannot choose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examples from the previous version. Let students answer the final question before moving on: the common ingredient is randomness.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thread is randomness, and it raises three kinds of questions: averages, chances and variability. Everything in this lesson is a way to answer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for the whole course and it will come back all course long. Give one concrete example for each: an opinion poll (1), a drug trial (2), a test score standing for ability (3). Prediction for new people, for outcomes under other treatments, for the underlying construct.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notebook, section 1. Let students describe the pattern before showing the line: higher growth, higher vote share, but with a lot of scatter. Some elections (1952, 1968) sit far from the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fit in the notebook (statsmodels). Make the point that a regression gives a prediction with uncertainty, never a certainty. Ask: what does this model not tell us? Only 16 elections, not a random sample of anything, and association is not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version of the election slide. The least-squares slope is the covariance of x and y divided by the variance of x. Means used: growth 1.90, vote 52.06. The standard error of the slope, 0.70, is sigma hat divided by the square root of the sum of squared deviations of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common uses. In this course we start with prediction and association (linear regression, then logistic regression), and we will keep coming back to the warning that a regression can always be fitted, but that does not make it a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the coefficient on a binary variable equals the difference of the two group means, printed in the notebook as 6.15 for both. Panel (b): the true effect has diminishing returns, but the line still gives an interpretable summary (slope about 3 per unit of dose) and is a poor description at low doses. Ask students: what would you do about that? Answer: look at the plot, then change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(c): treated students had a mean pre-test of 40 against 54 for controls, so the raw comparison is not like with like and even changes sign. The adjusted estimate 6.8 with standard error 0.8 is within about 1.5 standard errors of the true value 8. Panel (d): the fitted model has an interaction coefficient of about 0.53, so the slope is roughly 0.16 for non-smokers and 0.69 for smokers.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have seen linear algebra get the general formula; the others only need the reading of each coefficient. Stress the phrase held fixed: it is a statement about the model, not a causal claim unless the design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examples quickly. The Xbox poll: huge sample but not representative, so the issue is sample to population. Electric Company: randomization makes the groups comparable. Peacekeeping: peacekeepers may have chosen easy cases, so adjust for pre-treatment difficulty. Gun laws: 30 predictors and 50 data points, no prior information, plus observational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when students want to see what real regression questions look like. Xbox: a huge sample does not fix a biased sample. Electric Company: a randomized experiment; we still fit a regression with the pre-test. Peacekeeping: a raw comparison of 56% versus 34% is encouraging but confounded by case difficulty. Gun laws: too many predictors for 50 data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slide, give it 5 to 8 minutes in breakout rooms if online. Ask: both studies use regression on observational data, so what distinguishes them? Answer: one is focused and addresses a specific threat to validity, the other is diffuse and depends on implausible model assumptions. One could argue that the gun-law claims would never have been published without the false confidence given by regression and statistical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for their own examples: a questionnaire score for "happiness", a test for "ability", clicks for "interest". The next slide shows both problems in simulated data, where we know the truth because we wrote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classical test theory model. Validity in a broader sense also asks whether we measure the right concept at all; the bias b is the part we can write as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section 2 of the notebook. Left: the same test taken twice, correlation about 0.8, which is its reliability. Right: group averages of ability are equal by construction, but test 3 subtracts 0.8 for group 1 (think of a test given in a language some students do not master). Average scores: -0.01 versus -0.74.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is a modelling choice. Ask students for a measure they use that has a hidden definition. Reliability can be checked by test-retest correlation or agreement between raters; validity requires that the measure is right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First, a composite hides weights and choices; plot it in several ways. Second, measures that look interchangeable can give different patterns, so state which one answers your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Xbox poll and forward to the biased poll with reweighting. Invite students to name the target population of their last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a few minutes. This part is about habits more than techniques. If time allows, show any graph from the students' own field and ask what comparison it makes. Mortality trends can change once the changing age composition of a group is taken into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good and one bad graph from the students' own work if possible. The three uses give the structure of a data analysis: first look at the data, then at the model, then at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population example the weighted and naive averages happen to be close (34.6 and 34.7), while in the teachers example they differ by about $1,000, which shows the principle. The same idea reappears in poll reweighting and in age adjustment on the next slide. Always ask: weighted by what, and does the weight match the population I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adjustment is just a weighted average with weights fixed at the year-0 age mix. Emphasise that the numbers are synthetic, built to show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mortality demo is exactly this: the age-specific rates are constant, so the adjusted rate is flat, while the raw rate rises with the age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comes from the previous version of the course, with the same drug example. In the notebook (section 5.5) both directions are computed in a few lines: the 99.99% by simulating 100,000 trials of 100 patients at 80%, the interval from the standard error. Do not derive the interval here, it comes in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vote (poll or chat) before showing the numbers, as in the previous version. Surprise: the two roles have the same expected gain. The simulated values come from 100,000 rolls in the notebook. Message: when the process is known, we can compute exact answers or simulate and get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physical process: each side has chance 1/6 and the dice are independent, so probabilities of outcomes and expected amounts can be deduced. This is probability. Statistics is what we need when the process is not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continuous variables replace the sum by an integral. The variance of a difference has a minus sign before the covariance term, which is why the standard error of a difference of independent estimates is the square root of the sum of the squared standard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is 1000 draws made with one line of numpy. Let students change the parameters in the notebook and watch the shapes move. Normal(3, 0.5), its lognormal, binomial(20, 0.6) and Poisson(5).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Recentring makes the intercept interpretable (the predicted time in 1900 is 260 s). For logs: multiplication becomes addition, so exponential growth is a straight line on a log y axis and a power law is a straight line on log-log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Curved on the original scale, straight after taking logs. This is the first hint of why we transform variables in linear regression: the model stays linear in the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heights: women mean 63.7 in, sd 2.7; men mean 69.1 in, sd 2.9. The mixture is flatter on top than the matching normal. Use this to remind students that a named distribution is a model, not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simulated binomial gives mean 5.99 and sd 2.05, matching the formulas. Remind students that the geometric sd is a multiplicative factor: 68% of men lie within a factor 1.19 of 169 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is the standard normal cumulative distribution function. Remind students that they will rarely compute these densities by hand: numpy draws from them and scipy.stats evaluates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calculation is 20/190 = 0.105 standard deviations, a normal cdf of 0.542. Statistical significance can come with a tiny practical effect when samples are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binomial treats p as known exactly, so it gives nonsense: tiny when p is slightly off, large when p is exactly 0.5. Putting a forecast distribution on the share gives a sensible answer, of the order of one in 20,000 to 100,000. Lesson: a model is only as good as its handling of uncertainty in its own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gives the intuition first; the formal statement of the law of large numbers and the central limit theorem follows on the next slide. The orange curve is Normal(10, 1.29), with mean 20 × 0.5 and standard deviation the square root of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formal statements that the simulation illustrated. Conditions: independent draws with finite variance. How large n must be depends on how skewed X is; for the uniform, 20 is plenty.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kept from the previous version. The election regression is exactly this: a straight line (the simple process) plus scatter (the noise). A model is a recipe that could have generated the data. If we can write the recipe in code, we can run it as often as we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draw from a binomial is one possible year. To see what could happen, repeat. With twins (1 birth in 125 fraternal, 1 in 300 identical) the average moves to about 198. Message for students: simulation handles complications that would make the algebra painful.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mixed discrete and continuous model: first draw the sex, then draw the height given the sex. Compute any summary of the sample (mean, max, median) and repeat. This is the basic move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error only captures the first kind, and only if sampling is random. Also separate the estimand (the quantity of interest in the population) from the parameter of a convenient model: they are not always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vocabulary for the whole course: the regression coefficient is an estimator, its standard error is the sd of its sampling distribution, and an unbiased but noisy estimator can be worse than a slightly biased stable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the head-turning example from last year's introduction, but we now answer "how large must n be?" with a simulation instead of the Law of Large Numbers and the CLT. Model in one sentence: each couple turns right with probability p, independently. Let students say why 3 couples are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sampling distribution is the set of datasets we could have seen, with their probabilities. We cannot repeat the real study, but we can repeat a simulated one. The formula is a shortcut for what the computer did by brute force. Note how far 0.5 is from the bulk of the histogram.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numbers: p-hat 0.645, standard error 0.043, interval 0.561 to 0.729. This is the same interval as in the old slides (with the exact standard error instead of the conservative bound 1/(2 sqrt n)). The poll example: 57% of 400 men versus 45% of 600 women, gap 0.12 with standard error 0.032, so about 12 ± 6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formulas cover most of the intervals in the course. The 1.96 comes from the normal approximation of the sampling distribution, which the central limit theorem justifies.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simulation we know the truth, so we can check the coverage. Run the cell several times with different seeds: the count moves around 95. Orange intervals are the misses. Never say "there is a 95% probability that p is in this particular interval" without being careful: the 95% belongs to the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question left open in the head-turning example: with n = 3 the standard error is about 0.27, with n = 124 it is 0.043. The x axis is logarithmic: equal steps are factors of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has assumptions, and simulation is how we check them. For p = 0.05 and n = 10 the usual interval contains the truth only about 40% of the time (when there are zero events it even has zero width). The quick fix works well. Values are from the seeded notebook run, so they move slightly with another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so few observations the standard error is itself uncertain, so the t distribution has heavier tails. By about n = 30 the difference is negligible. Coverage values come from 20,000 simulated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regression the same idea gives t with n minus k degrees of freedom, where k is the number of coefficients: that is what statsmodels reports in the 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lesson: standard errors only measure sampling noise. With a biased sample the naive interval becomes extremely precise and wrong (about 53.6% instead of 50.4%). Weighting by the population share of each group (a weighted average) corrects the bias. The reweighted values still fluctuate a little because of sampling noise: 51.4% at n = 6000 is roughly one and a half standard errors from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ways to deal with error that is not in the model: improve data collection, expand the model, or increase the stated uncertainty. Here we did the third. Errors are assumed independent, so variances add, not standard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picture of the lesson. To reach significance an estimate must be at least about two standard errors from zero, here 0.33, so every significant estimate is at least three times the true effect. If only significant results are published, the literature overestimates effects (type M error, magnitude) and some have the wrong sign (type S error). The published estimate in the Jamaica study was 0.35 with a standard error of 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classic pitfalls. The last one is a classic: the difference between "significant" and "not significant" is not itself statistically significant. The standard error of the difference is the square root of 10 squared plus 10 squared, about 14.1, so z is about 1.06 and p about 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rejecting zero is not the same as learning the size. Also distinguish type 1 and type 2 errors (wrong rejection, missed effect) from the type S and type M errors seen earlier (wrong sign, wrong magnitude), which matter more for noisy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p-value is not the probability that H0 is true, and 1 minus p is not the probability that the effect is real.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 values (power 9.0%, type S 6.0%, exaggeration 4.1) match the simulation in section 7.1 (9.0%, 5.8%, 4.1). The power formula ignores nothing but the normal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to cheat on purpose: when analysis choices depend on the data, a low p-value is easy to find in pure noise. A well-known example is a study of ovulation and political attitudes. A better answer than an adjusted p-value is to model the variation hidden in the choices, and to accept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habits answer the forking-paths problem on the previous slides. They cost little and make results easier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Resampling with replacement lets us build new datasets of the same size. Any estimate can be bootstrapped, which is both the appeal and the danger of the method. It can fail, for instance in a logistic regression where one group has no positive cases: no bootstrap sample contains one either. The bootstrap 95% interval for the slope is about 1.5 to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 sd is 1.4826 times the median absolute deviation, which matches the sd for normal data. The bootstrap works for the ratio of medians even though no simple formula exists, and for almost any statistic you can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Election slope: bootstrap se 0.60 against least-squares 0.70. Ratio of medians: bootstrap se 0.16. The bootstrap assumes the data are a fair sample from the population, which is the same assumption the formulas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habit to keep for the whole course. With 16 noisy elections the slope can easily land anywhere between about 1.5 and 4.5, yet the method is unbiased and its interval does cover 95% of the time. The point is not insight into elections but a check of the method in a world where we know the truth. Next lessons: linear regression written properly, then logistic regression, with the same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inference summarises the data alone and is judged by long-run coverage. With weak data the interval is huge and the estimate is probably exaggerated. A Bayesian analysis adds a prior; on the log scale this is a precision-weighted average. The prior here (mean 0, sd 0.10) is my own illustrative choice, so results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is one over the variance. When se is much smaller than tau the data dominate and the Bayesian and classical answers coincide; here se (0.17) is larger than tau (0.10), so the prior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questions. A good closing prompt: which of the five would have changed your mind about a study you read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in pairs or breakout rooms. Each exercise has an empty code cell in section 14 of the notebook. Suggested order of difficulty: 1, 3, 2, 5, 4. Expected result for exercise 5: with standard error 0.05 about half of the studies are significant, the exaggeration factor falls from about 4 to about 1.4 and wrong signs almost disappear, which illustrates the value of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code and all simulations on these slides come from the companion notebook, so every figure can be reproduced and modified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991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F2A4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623020"/>
            <a:ext cx="10566400" cy="4422180"/>
          </a:xfrm>
          <a:prstGeom prst="rect">
            <a:avLst/>
          </a:prstGeom>
          <a:noFill/>
          <a:ln/>
        </p:spPr>
        <p:txBody>
          <a:bodyPr wrap="square" lIns="0" tIns="0" rIns="0" bIns="0" rtlCol="0" anchor="t"/>
          <a:lstStyle>
            <a:lvl1pPr algn="l" indent="0" marL="0">
              <a:lnSpc>
                <a:spcPct val="140000"/>
              </a:lnSpc>
              <a:buNone/>
              <a:defRPr lang="en-US" sz="1600" dirty="0">
                <a:solidFill>
                  <a:srgbClr val="0F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991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F2A4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623020"/>
            <a:ext cx="10566400" cy="4422180"/>
          </a:xfrm>
          <a:prstGeom prst="rect">
            <a:avLst/>
          </a:prstGeom>
          <a:noFill/>
          <a:ln/>
        </p:spPr>
        <p:txBody>
          <a:bodyPr wrap="square" lIns="0" tIns="0" rIns="0" bIns="0" rtlCol="0" anchor="t"/>
          <a:lstStyle>
            <a:lvl1pPr algn="l" indent="0" marL="0">
              <a:lnSpc>
                <a:spcPct val="140000"/>
              </a:lnSpc>
              <a:buNone/>
              <a:defRPr lang="en-US" sz="1600" dirty="0">
                <a:solidFill>
                  <a:srgbClr val="0F2A4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2.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2.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2.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2.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2.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2.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9A6B"/>
                </a:solidFill>
                <a:latin typeface="IBM Plex Sans" pitchFamily="34" charset="0"/>
                <a:ea typeface="IBM Plex Sans" pitchFamily="34" charset="-122"/>
                <a:cs typeface="IBM Plex Sans" pitchFamily="34" charset="-120"/>
              </a:rPr>
              <a:t>SORBONNE DATA ANALYTICS · LESSON 1</a:t>
            </a:r>
            <a:endParaRPr lang="en-US" sz="1400" dirty="0"/>
          </a:p>
        </p:txBody>
      </p:sp>
      <p:sp>
        <p:nvSpPr>
          <p:cNvPr id="3" name="Text 1"/>
          <p:cNvSpPr/>
          <p:nvPr>
            <p:ph type="title"/>
          </p:nvPr>
        </p:nvSpPr>
        <p:spPr>
          <a:xfrm>
            <a:off x="812800" y="24575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1E8"/>
                </a:solidFill>
                <a:latin typeface="Source Serif 4" pitchFamily="18" charset="0"/>
                <a:ea typeface="Source Serif 4" pitchFamily="18" charset="-122"/>
                <a:cs typeface="Source Serif 4" pitchFamily="18" charset="-120"/>
              </a:rPr>
              <a:t>Statistics</a:t>
            </a:r>
            <a:endParaRPr lang="en-US" sz="6000" dirty="0"/>
          </a:p>
        </p:txBody>
      </p:sp>
      <p:pic>
        <p:nvPicPr>
          <p:cNvPr id="4" name="Image 0" descr="line">    </p:cNvPr>
          <p:cNvPicPr>
            <a:picLocks noChangeAspect="1"/>
          </p:cNvPicPr>
          <p:nvPr/>
        </p:nvPicPr>
        <p:blipFill>
          <a:blip r:embed="rId1"/>
          <a:srcRect l="0" r="0" t="0" b="0"/>
          <a:stretch/>
        </p:blipFill>
        <p:spPr>
          <a:xfrm>
            <a:off x="812800" y="3460800"/>
            <a:ext cx="1016000" cy="38100"/>
          </a:xfrm>
          <a:prstGeom prst="rect">
            <a:avLst/>
          </a:prstGeom>
        </p:spPr>
      </p:pic>
      <p:sp>
        <p:nvSpPr>
          <p:cNvPr id="5" name="Text 2"/>
          <p:cNvSpPr/>
          <p:nvPr/>
        </p:nvSpPr>
        <p:spPr>
          <a:xfrm>
            <a:off x="812800" y="370210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0E2"/>
                </a:solidFill>
                <a:latin typeface="IBM Plex Sans" pitchFamily="34" charset="0"/>
                <a:ea typeface="IBM Plex Sans" pitchFamily="34" charset="-122"/>
                <a:cs typeface="IBM Plex Sans" pitchFamily="34" charset="-120"/>
              </a:rPr>
              <a:t>Introduction: learning from data by simulation</a:t>
            </a:r>
            <a:endParaRPr lang="en-US" sz="2200" dirty="0"/>
          </a:p>
        </p:txBody>
      </p:sp>
      <p:sp>
        <p:nvSpPr>
          <p:cNvPr id="6" name="Text 3"/>
          <p:cNvSpPr/>
          <p:nvPr/>
        </p:nvSpPr>
        <p:spPr>
          <a:xfrm>
            <a:off x="812800" y="54610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8"/>
                </a:solidFill>
                <a:latin typeface="IBM Plex Sans" pitchFamily="34" charset="0"/>
                <a:ea typeface="IBM Plex Sans" pitchFamily="34" charset="-122"/>
                <a:cs typeface="IBM Plex Sans" pitchFamily="34" charset="-120"/>
              </a:rPr>
              <a:t>Jose Angel Garcia Sanchez</a:t>
            </a:r>
            <a:endParaRPr lang="en-US" sz="1600" dirty="0"/>
          </a:p>
        </p:txBody>
      </p:sp>
      <p:sp>
        <p:nvSpPr>
          <p:cNvPr id="7" name="Text 4"/>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2"/>
                </a:solidFill>
                <a:latin typeface="IBM Plex Sans" pitchFamily="34" charset="0"/>
                <a:ea typeface="IBM Plex Sans" pitchFamily="34" charset="-122"/>
                <a:cs typeface="IBM Plex Sans" pitchFamily="34" charset="-120"/>
              </a:rPr>
              <a:t>Université Paris 1 Panthéon-Sorbonne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6091"/>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B8461A"/>
                </a:solidFill>
                <a:latin typeface="IBM Plex Sans" pitchFamily="34" charset="0"/>
                <a:ea typeface="IBM Plex Sans" pitchFamily="34" charset="-122"/>
                <a:cs typeface="IBM Plex Sans" pitchFamily="34" charset="-120"/>
              </a:rPr>
              <a:t>ROADMAP</a:t>
            </a:r>
            <a:endParaRPr lang="en-US" sz="1196" dirty="0"/>
          </a:p>
        </p:txBody>
      </p:sp>
      <p:sp>
        <p:nvSpPr>
          <p:cNvPr id="3" name="Text 1"/>
          <p:cNvSpPr/>
          <p:nvPr>
            <p:ph type="title"/>
          </p:nvPr>
        </p:nvSpPr>
        <p:spPr>
          <a:xfrm>
            <a:off x="812800" y="896491"/>
            <a:ext cx="10883392" cy="439390"/>
          </a:xfrm>
          <a:prstGeom prst="rect">
            <a:avLst/>
          </a:prstGeom>
          <a:noFill/>
          <a:ln/>
        </p:spPr>
        <p:txBody>
          <a:bodyPr wrap="square" lIns="0" tIns="0" rIns="0" bIns="0" rtlCol="0" anchor="t">
            <a:normAutofit/>
          </a:bodyPr>
          <a:lstStyle/>
          <a:p>
            <a:pPr algn="l" indent="0" marL="0">
              <a:lnSpc>
                <a:spcPts val="3269"/>
              </a:lnSpc>
              <a:buNone/>
            </a:pPr>
            <a:r>
              <a:rPr lang="en-US" sz="2972" b="1" i="0" dirty="0">
                <a:solidFill>
                  <a:srgbClr val="0F2A4A"/>
                </a:solidFill>
                <a:latin typeface="Source Serif 4" pitchFamily="18" charset="0"/>
                <a:ea typeface="Source Serif 4" pitchFamily="18" charset="-122"/>
                <a:cs typeface="Source Serif 4" pitchFamily="18" charset="-120"/>
              </a:rPr>
              <a:t>Eleven steps, in two parts</a:t>
            </a:r>
            <a:endParaRPr lang="en-US" sz="2972"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77181"/>
          <a:ext cx="10553700" cy="4264819"/>
        </p:xfrm>
        <a:graphic>
          <a:graphicData uri="http://schemas.openxmlformats.org/drawingml/2006/table">
            <a:tbl>
              <a:tblPr/>
              <a:tblGrid>
                <a:gridCol w="844296"/>
                <a:gridCol w="7598664"/>
                <a:gridCol w="2110740"/>
              </a:tblGrid>
              <a:tr h="355402">
                <a:tc>
                  <a:txBody>
                    <a:bodyPr/>
                    <a:lstStyle/>
                    <a:p>
                      <a:pPr indent="0" marL="0">
                        <a:lnSpc>
                          <a:spcPts val="1797"/>
                        </a:lnSpc>
                        <a:buNone/>
                      </a:pPr>
                      <a:r>
                        <a:rPr lang="en-US" sz="1284" b="1" dirty="0">
                          <a:solidFill>
                            <a:srgbClr val="1B2633"/>
                          </a:solidFill>
                          <a:latin typeface="IBM Plex Sans" pitchFamily="34" charset="0"/>
                          <a:ea typeface="IBM Plex Sans" pitchFamily="34" charset="-122"/>
                          <a:cs typeface="IBM Plex Sans" pitchFamily="34" charset="-120"/>
                        </a:rPr>
                        <a:t>#</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797"/>
                        </a:lnSpc>
                        <a:buNone/>
                      </a:pPr>
                      <a:r>
                        <a:rPr lang="en-US" sz="1284" b="1" dirty="0">
                          <a:solidFill>
                            <a:srgbClr val="1B2633"/>
                          </a:solidFill>
                          <a:latin typeface="IBM Plex Sans" pitchFamily="34" charset="0"/>
                          <a:ea typeface="IBM Plex Sans" pitchFamily="34" charset="-122"/>
                          <a:cs typeface="IBM Plex Sans" pitchFamily="34" charset="-120"/>
                        </a:rPr>
                        <a:t>Topic</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797"/>
                        </a:lnSpc>
                        <a:buNone/>
                      </a:pPr>
                      <a:r>
                        <a:rPr lang="en-US" sz="1284" b="1" dirty="0">
                          <a:solidFill>
                            <a:srgbClr val="1B2633"/>
                          </a:solidFill>
                          <a:latin typeface="IBM Plex Sans" pitchFamily="34" charset="0"/>
                          <a:ea typeface="IBM Plex Sans" pitchFamily="34" charset="-122"/>
                          <a:cs typeface="IBM Plex Sans" pitchFamily="34" charset="-120"/>
                        </a:rPr>
                        <a:t>Notebook</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Why statistics, and why regression</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 §9</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2</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Data, measurement and aggregation</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§2, §10</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3</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Probability as a generative model</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§3</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4</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The mathematical toolkit</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§11</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5</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Simulating probability models</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§4</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6</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Estimates, standard errors, intervals</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§5, §12</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7</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Bias and unmodeled uncertainty</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§6</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8</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Significance and its traps</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§7, §12</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9</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Bootstrap and fake-data simulation</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§8, §12</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10</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Classical and Bayesian inference</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§13</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5402">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11</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Exercises</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97"/>
                        </a:lnSpc>
                        <a:buNone/>
                      </a:pPr>
                      <a:r>
                        <a:rPr lang="en-US" sz="1284" dirty="0">
                          <a:solidFill>
                            <a:srgbClr val="1B2633"/>
                          </a:solidFill>
                          <a:latin typeface="IBM Plex Sans" pitchFamily="34" charset="0"/>
                          <a:ea typeface="IBM Plex Sans" pitchFamily="34" charset="-122"/>
                          <a:cs typeface="IBM Plex Sans" pitchFamily="34" charset="-120"/>
                        </a:rPr>
                        <a:t>§14</a:t>
                      </a:r>
                      <a:endParaRPr lang="en-US" sz="1284" dirty="0">
                        <a:latin typeface="IBM Plex Sans" charset="0"/>
                        <a:ea typeface="IBM Plex Sans" charset="0"/>
                        <a:cs typeface="IBM Plex Sans" charset="0"/>
                      </a:endParaRPr>
                    </a:p>
                  </a:txBody>
                  <a:tcPr marL="57063" marR="57063" marT="57063" marB="5706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GOALS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At the end of this lesson, you will be able to</a:t>
            </a:r>
            <a:endParaRPr lang="en-US" sz="3000" dirty="0"/>
          </a:p>
        </p:txBody>
      </p:sp>
      <p:sp>
        <p:nvSpPr>
          <p:cNvPr id="4" name="Shape 2"/>
          <p:cNvSpPr/>
          <p:nvPr/>
        </p:nvSpPr>
        <p:spPr>
          <a:xfrm>
            <a:off x="815975" y="1575395"/>
            <a:ext cx="3380284" cy="2688431"/>
          </a:xfrm>
          <a:prstGeom prst="roundRect">
            <a:avLst>
              <a:gd name="adj" fmla="val 3661"/>
            </a:avLst>
          </a:prstGeom>
          <a:solidFill>
            <a:srgbClr val="FBFAF6"/>
          </a:solidFill>
          <a:ln w="6350">
            <a:solidFill>
              <a:srgbClr val="DAD8CF"/>
            </a:solidFill>
            <a:prstDash val="solid"/>
          </a:ln>
        </p:spPr>
      </p:sp>
      <p:sp>
        <p:nvSpPr>
          <p:cNvPr id="5" name="Text 3"/>
          <p:cNvSpPr/>
          <p:nvPr/>
        </p:nvSpPr>
        <p:spPr>
          <a:xfrm>
            <a:off x="1073150" y="183257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073150" y="21474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A4A"/>
                </a:solidFill>
                <a:latin typeface="Source Serif 4" pitchFamily="18" charset="0"/>
                <a:ea typeface="Source Serif 4" pitchFamily="18" charset="-122"/>
                <a:cs typeface="Source Serif 4" pitchFamily="18" charset="-120"/>
              </a:rPr>
              <a:t>Formulate</a:t>
            </a:r>
            <a:endParaRPr lang="en-US" sz="2200" dirty="0"/>
          </a:p>
        </p:txBody>
      </p:sp>
      <p:sp>
        <p:nvSpPr>
          <p:cNvPr id="7" name="Text 5"/>
          <p:cNvSpPr/>
          <p:nvPr/>
        </p:nvSpPr>
        <p:spPr>
          <a:xfrm>
            <a:off x="1073150" y="2584351"/>
            <a:ext cx="2951912"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Turn a real situation into a statistical question: what is the population, what do we estimate, how uncertain are we?</a:t>
            </a:r>
            <a:endParaRPr lang="en-US" sz="1600" dirty="0"/>
          </a:p>
        </p:txBody>
      </p:sp>
      <p:sp>
        <p:nvSpPr>
          <p:cNvPr id="8" name="Shape 6"/>
          <p:cNvSpPr/>
          <p:nvPr/>
        </p:nvSpPr>
        <p:spPr>
          <a:xfrm>
            <a:off x="4405809" y="1575395"/>
            <a:ext cx="3380333" cy="2688431"/>
          </a:xfrm>
          <a:prstGeom prst="roundRect">
            <a:avLst>
              <a:gd name="adj" fmla="val 3661"/>
            </a:avLst>
          </a:prstGeom>
          <a:solidFill>
            <a:srgbClr val="FBFAF6"/>
          </a:solidFill>
          <a:ln w="6350">
            <a:solidFill>
              <a:srgbClr val="DAD8CF"/>
            </a:solidFill>
            <a:prstDash val="solid"/>
          </a:ln>
        </p:spPr>
      </p:sp>
      <p:sp>
        <p:nvSpPr>
          <p:cNvPr id="9" name="Text 7"/>
          <p:cNvSpPr/>
          <p:nvPr/>
        </p:nvSpPr>
        <p:spPr>
          <a:xfrm>
            <a:off x="4662984" y="183257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4662984" y="2147491"/>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A4A"/>
                </a:solidFill>
                <a:latin typeface="Source Serif 4" pitchFamily="18" charset="0"/>
                <a:ea typeface="Source Serif 4" pitchFamily="18" charset="-122"/>
                <a:cs typeface="Source Serif 4" pitchFamily="18" charset="-120"/>
              </a:rPr>
              <a:t>Simulate</a:t>
            </a:r>
            <a:endParaRPr lang="en-US" sz="2200" dirty="0"/>
          </a:p>
        </p:txBody>
      </p:sp>
      <p:sp>
        <p:nvSpPr>
          <p:cNvPr id="11" name="Text 9"/>
          <p:cNvSpPr/>
          <p:nvPr/>
        </p:nvSpPr>
        <p:spPr>
          <a:xfrm>
            <a:off x="4662984" y="2584351"/>
            <a:ext cx="2951963"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Write a few lines of Python that generate fake data from a model, and read what the results say.</a:t>
            </a:r>
            <a:endParaRPr lang="en-US" sz="1600" dirty="0"/>
          </a:p>
        </p:txBody>
      </p:sp>
      <p:sp>
        <p:nvSpPr>
          <p:cNvPr id="12" name="Shape 10"/>
          <p:cNvSpPr/>
          <p:nvPr/>
        </p:nvSpPr>
        <p:spPr>
          <a:xfrm>
            <a:off x="7995692" y="1575395"/>
            <a:ext cx="3380333" cy="2688431"/>
          </a:xfrm>
          <a:prstGeom prst="roundRect">
            <a:avLst>
              <a:gd name="adj" fmla="val 3661"/>
            </a:avLst>
          </a:prstGeom>
          <a:solidFill>
            <a:srgbClr val="FBFAF6"/>
          </a:solidFill>
          <a:ln w="6350">
            <a:solidFill>
              <a:srgbClr val="DAD8CF"/>
            </a:solidFill>
            <a:prstDash val="solid"/>
          </a:ln>
        </p:spPr>
      </p:sp>
      <p:sp>
        <p:nvSpPr>
          <p:cNvPr id="13" name="Text 11"/>
          <p:cNvSpPr/>
          <p:nvPr/>
        </p:nvSpPr>
        <p:spPr>
          <a:xfrm>
            <a:off x="8252867" y="183257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8252867" y="2147491"/>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A4A"/>
                </a:solidFill>
                <a:latin typeface="Source Serif 4" pitchFamily="18" charset="0"/>
                <a:ea typeface="Source Serif 4" pitchFamily="18" charset="-122"/>
                <a:cs typeface="Source Serif 4" pitchFamily="18" charset="-120"/>
              </a:rPr>
              <a:t>Judge</a:t>
            </a:r>
            <a:endParaRPr lang="en-US" sz="2200" dirty="0"/>
          </a:p>
        </p:txBody>
      </p:sp>
      <p:sp>
        <p:nvSpPr>
          <p:cNvPr id="15" name="Text 13"/>
          <p:cNvSpPr/>
          <p:nvPr/>
        </p:nvSpPr>
        <p:spPr>
          <a:xfrm>
            <a:off x="8252867" y="2584351"/>
            <a:ext cx="2951963"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Say what a standard error, a confidence interval or a "significant" result does, and does not, tell you.</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 · Goals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GOALS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Four skills we will practise</a:t>
            </a:r>
            <a:endParaRPr lang="en-US" sz="3000" dirty="0"/>
          </a:p>
        </p:txBody>
      </p:sp>
      <p:sp>
        <p:nvSpPr>
          <p:cNvPr id="4" name="Shape 2"/>
          <p:cNvSpPr/>
          <p:nvPr/>
        </p:nvSpPr>
        <p:spPr>
          <a:xfrm>
            <a:off x="815975" y="1575395"/>
            <a:ext cx="2482850" cy="1398240"/>
          </a:xfrm>
          <a:prstGeom prst="roundRect">
            <a:avLst>
              <a:gd name="adj" fmla="val 7039"/>
            </a:avLst>
          </a:prstGeom>
          <a:solidFill>
            <a:srgbClr val="FBFAF6"/>
          </a:solidFill>
          <a:ln w="6350">
            <a:solidFill>
              <a:srgbClr val="DAD8CF"/>
            </a:solidFill>
            <a:prstDash val="solid"/>
          </a:ln>
        </p:spPr>
      </p:sp>
      <p:sp>
        <p:nvSpPr>
          <p:cNvPr id="5" name="Text 3"/>
          <p:cNvSpPr/>
          <p:nvPr/>
        </p:nvSpPr>
        <p:spPr>
          <a:xfrm>
            <a:off x="10223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Understand</a:t>
            </a:r>
            <a:endParaRPr lang="en-US" sz="1500" dirty="0"/>
          </a:p>
        </p:txBody>
      </p:sp>
      <p:sp>
        <p:nvSpPr>
          <p:cNvPr id="6" name="Text 4"/>
          <p:cNvSpPr/>
          <p:nvPr/>
        </p:nvSpPr>
        <p:spPr>
          <a:xfrm>
            <a:off x="1022350" y="2099270"/>
            <a:ext cx="213220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What a method does and what it assumes, before pressing a button.</a:t>
            </a:r>
            <a:endParaRPr lang="en-US" sz="1300" dirty="0"/>
          </a:p>
        </p:txBody>
      </p:sp>
      <p:sp>
        <p:nvSpPr>
          <p:cNvPr id="7" name="Shape 5"/>
          <p:cNvSpPr/>
          <p:nvPr/>
        </p:nvSpPr>
        <p:spPr>
          <a:xfrm>
            <a:off x="3508375" y="1575395"/>
            <a:ext cx="2482850" cy="1398240"/>
          </a:xfrm>
          <a:prstGeom prst="roundRect">
            <a:avLst>
              <a:gd name="adj" fmla="val 7039"/>
            </a:avLst>
          </a:prstGeom>
          <a:solidFill>
            <a:srgbClr val="FBFAF6"/>
          </a:solidFill>
          <a:ln w="6350">
            <a:solidFill>
              <a:srgbClr val="DAD8CF"/>
            </a:solidFill>
            <a:prstDash val="solid"/>
          </a:ln>
        </p:spPr>
      </p:sp>
      <p:sp>
        <p:nvSpPr>
          <p:cNvPr id="8" name="Text 6"/>
          <p:cNvSpPr/>
          <p:nvPr/>
        </p:nvSpPr>
        <p:spPr>
          <a:xfrm>
            <a:off x="37147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Construct</a:t>
            </a:r>
            <a:endParaRPr lang="en-US" sz="1500" dirty="0"/>
          </a:p>
        </p:txBody>
      </p:sp>
      <p:sp>
        <p:nvSpPr>
          <p:cNvPr id="9" name="Text 7"/>
          <p:cNvSpPr/>
          <p:nvPr/>
        </p:nvSpPr>
        <p:spPr>
          <a:xfrm>
            <a:off x="3714750" y="2099270"/>
            <a:ext cx="213220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Build a model for the situation, including how the data were generated.</a:t>
            </a:r>
            <a:endParaRPr lang="en-US" sz="1300" dirty="0"/>
          </a:p>
        </p:txBody>
      </p:sp>
      <p:sp>
        <p:nvSpPr>
          <p:cNvPr id="10" name="Shape 8"/>
          <p:cNvSpPr/>
          <p:nvPr/>
        </p:nvSpPr>
        <p:spPr>
          <a:xfrm>
            <a:off x="6200775" y="1575395"/>
            <a:ext cx="2482850" cy="1398240"/>
          </a:xfrm>
          <a:prstGeom prst="roundRect">
            <a:avLst>
              <a:gd name="adj" fmla="val 7039"/>
            </a:avLst>
          </a:prstGeom>
          <a:solidFill>
            <a:srgbClr val="FBFAF6"/>
          </a:solidFill>
          <a:ln w="6350">
            <a:solidFill>
              <a:srgbClr val="DAD8CF"/>
            </a:solidFill>
            <a:prstDash val="solid"/>
          </a:ln>
        </p:spPr>
      </p:sp>
      <p:sp>
        <p:nvSpPr>
          <p:cNvPr id="11" name="Text 9"/>
          <p:cNvSpPr/>
          <p:nvPr/>
        </p:nvSpPr>
        <p:spPr>
          <a:xfrm>
            <a:off x="64071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Fit</a:t>
            </a:r>
            <a:endParaRPr lang="en-US" sz="1500" dirty="0"/>
          </a:p>
        </p:txBody>
      </p:sp>
      <p:sp>
        <p:nvSpPr>
          <p:cNvPr id="12" name="Text 10"/>
          <p:cNvSpPr/>
          <p:nvPr/>
        </p:nvSpPr>
        <p:spPr>
          <a:xfrm>
            <a:off x="6407150" y="2099270"/>
            <a:ext cx="213220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Estimate parameters and know how uncertain the estimates are.</a:t>
            </a:r>
            <a:endParaRPr lang="en-US" sz="1300" dirty="0"/>
          </a:p>
        </p:txBody>
      </p:sp>
      <p:sp>
        <p:nvSpPr>
          <p:cNvPr id="13" name="Shape 11"/>
          <p:cNvSpPr/>
          <p:nvPr/>
        </p:nvSpPr>
        <p:spPr>
          <a:xfrm>
            <a:off x="8893175" y="1575395"/>
            <a:ext cx="2482850" cy="1398240"/>
          </a:xfrm>
          <a:prstGeom prst="roundRect">
            <a:avLst>
              <a:gd name="adj" fmla="val 7039"/>
            </a:avLst>
          </a:prstGeom>
          <a:solidFill>
            <a:srgbClr val="FBFAF6"/>
          </a:solidFill>
          <a:ln w="6350">
            <a:solidFill>
              <a:srgbClr val="DAD8CF"/>
            </a:solidFill>
            <a:prstDash val="solid"/>
          </a:ln>
        </p:spPr>
      </p:sp>
      <p:sp>
        <p:nvSpPr>
          <p:cNvPr id="14" name="Text 12"/>
          <p:cNvSpPr/>
          <p:nvPr/>
        </p:nvSpPr>
        <p:spPr>
          <a:xfrm>
            <a:off x="90995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Display</a:t>
            </a:r>
            <a:endParaRPr lang="en-US" sz="1500" dirty="0"/>
          </a:p>
        </p:txBody>
      </p:sp>
      <p:sp>
        <p:nvSpPr>
          <p:cNvPr id="15" name="Text 13"/>
          <p:cNvSpPr/>
          <p:nvPr/>
        </p:nvSpPr>
        <p:spPr>
          <a:xfrm>
            <a:off x="9099550" y="2099270"/>
            <a:ext cx="213220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Show the data, the fitted model and the result so that others can check them.</a:t>
            </a:r>
            <a:endParaRPr lang="en-US" sz="13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WHY STATISTICS?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Three questions from three centuries</a:t>
            </a:r>
            <a:endParaRPr lang="en-US" sz="3000" dirty="0"/>
          </a:p>
        </p:txBody>
      </p:sp>
      <p:sp>
        <p:nvSpPr>
          <p:cNvPr id="4" name="Shape 2"/>
          <p:cNvSpPr/>
          <p:nvPr/>
        </p:nvSpPr>
        <p:spPr>
          <a:xfrm>
            <a:off x="815975" y="1575395"/>
            <a:ext cx="3380284" cy="2439541"/>
          </a:xfrm>
          <a:prstGeom prst="roundRect">
            <a:avLst>
              <a:gd name="adj" fmla="val 4035"/>
            </a:avLst>
          </a:prstGeom>
          <a:solidFill>
            <a:srgbClr val="FBFAF6"/>
          </a:solidFill>
          <a:ln w="6350">
            <a:solidFill>
              <a:srgbClr val="DAD8CF"/>
            </a:solidFill>
            <a:prstDash val="solid"/>
          </a:ln>
        </p:spPr>
      </p:sp>
      <p:sp>
        <p:nvSpPr>
          <p:cNvPr id="5" name="Text 3"/>
          <p:cNvSpPr/>
          <p:nvPr/>
        </p:nvSpPr>
        <p:spPr>
          <a:xfrm>
            <a:off x="1073150" y="1832570"/>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A4A"/>
                </a:solidFill>
                <a:latin typeface="Source Serif 4" pitchFamily="18" charset="0"/>
                <a:ea typeface="Source Serif 4" pitchFamily="18" charset="-122"/>
                <a:cs typeface="Source Serif 4" pitchFamily="18" charset="-120"/>
              </a:rPr>
              <a:t>Hydrology</a:t>
            </a:r>
            <a:endParaRPr lang="en-US" sz="2200" dirty="0"/>
          </a:p>
        </p:txBody>
      </p:sp>
      <p:sp>
        <p:nvSpPr>
          <p:cNvPr id="6" name="Text 4"/>
          <p:cNvSpPr/>
          <p:nvPr/>
        </p:nvSpPr>
        <p:spPr>
          <a:xfrm>
            <a:off x="1073150" y="2269430"/>
            <a:ext cx="29519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61A"/>
                </a:solidFill>
                <a:latin typeface="IBM Plex Sans" pitchFamily="34" charset="0"/>
                <a:ea typeface="IBM Plex Sans" pitchFamily="34" charset="-122"/>
                <a:cs typeface="IBM Plex Sans" pitchFamily="34" charset="-120"/>
              </a:rPr>
              <a:t>Netherlands, 10th century</a:t>
            </a:r>
            <a:endParaRPr lang="en-US" sz="1400" dirty="0"/>
          </a:p>
        </p:txBody>
      </p:sp>
      <p:sp>
        <p:nvSpPr>
          <p:cNvPr id="7" name="Text 5"/>
          <p:cNvSpPr/>
          <p:nvPr/>
        </p:nvSpPr>
        <p:spPr>
          <a:xfrm>
            <a:off x="1073150" y="2619921"/>
            <a:ext cx="295191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How high should a dyke be? High enough for most floods, not so high that it is too expensive.</a:t>
            </a:r>
            <a:endParaRPr lang="en-US" sz="1600" dirty="0"/>
          </a:p>
        </p:txBody>
      </p:sp>
      <p:sp>
        <p:nvSpPr>
          <p:cNvPr id="8" name="Shape 6"/>
          <p:cNvSpPr/>
          <p:nvPr/>
        </p:nvSpPr>
        <p:spPr>
          <a:xfrm>
            <a:off x="4405809" y="1575395"/>
            <a:ext cx="3380333" cy="2439541"/>
          </a:xfrm>
          <a:prstGeom prst="roundRect">
            <a:avLst>
              <a:gd name="adj" fmla="val 4035"/>
            </a:avLst>
          </a:prstGeom>
          <a:solidFill>
            <a:srgbClr val="FBFAF6"/>
          </a:solidFill>
          <a:ln w="6350">
            <a:solidFill>
              <a:srgbClr val="DAD8CF"/>
            </a:solidFill>
            <a:prstDash val="solid"/>
          </a:ln>
        </p:spPr>
      </p:sp>
      <p:sp>
        <p:nvSpPr>
          <p:cNvPr id="9" name="Text 7"/>
          <p:cNvSpPr/>
          <p:nvPr/>
        </p:nvSpPr>
        <p:spPr>
          <a:xfrm>
            <a:off x="4662984" y="1832570"/>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A4A"/>
                </a:solidFill>
                <a:latin typeface="Source Serif 4" pitchFamily="18" charset="0"/>
                <a:ea typeface="Source Serif 4" pitchFamily="18" charset="-122"/>
                <a:cs typeface="Source Serif 4" pitchFamily="18" charset="-120"/>
              </a:rPr>
              <a:t>Insurance</a:t>
            </a:r>
            <a:endParaRPr lang="en-US" sz="2200" dirty="0"/>
          </a:p>
        </p:txBody>
      </p:sp>
      <p:sp>
        <p:nvSpPr>
          <p:cNvPr id="10" name="Text 8"/>
          <p:cNvSpPr/>
          <p:nvPr/>
        </p:nvSpPr>
        <p:spPr>
          <a:xfrm>
            <a:off x="4662984" y="2269430"/>
            <a:ext cx="29519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61A"/>
                </a:solidFill>
                <a:latin typeface="IBM Plex Sans" pitchFamily="34" charset="0"/>
                <a:ea typeface="IBM Plex Sans" pitchFamily="34" charset="-122"/>
                <a:cs typeface="IBM Plex Sans" pitchFamily="34" charset="-120"/>
              </a:rPr>
              <a:t>Pricing a risk</a:t>
            </a:r>
            <a:endParaRPr lang="en-US" sz="1400" dirty="0"/>
          </a:p>
        </p:txBody>
      </p:sp>
      <p:sp>
        <p:nvSpPr>
          <p:cNvPr id="11" name="Text 9"/>
          <p:cNvSpPr/>
          <p:nvPr/>
        </p:nvSpPr>
        <p:spPr>
          <a:xfrm>
            <a:off x="4662984" y="2619921"/>
            <a:ext cx="295196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Given a driving record, the car and the coverage, what is a fair premium?</a:t>
            </a:r>
            <a:endParaRPr lang="en-US" sz="1600" dirty="0"/>
          </a:p>
        </p:txBody>
      </p:sp>
      <p:sp>
        <p:nvSpPr>
          <p:cNvPr id="12" name="Shape 10"/>
          <p:cNvSpPr/>
          <p:nvPr/>
        </p:nvSpPr>
        <p:spPr>
          <a:xfrm>
            <a:off x="7995692" y="1575395"/>
            <a:ext cx="3380333" cy="2439541"/>
          </a:xfrm>
          <a:prstGeom prst="roundRect">
            <a:avLst>
              <a:gd name="adj" fmla="val 4035"/>
            </a:avLst>
          </a:prstGeom>
          <a:solidFill>
            <a:srgbClr val="FBFAF6"/>
          </a:solidFill>
          <a:ln w="6350">
            <a:solidFill>
              <a:srgbClr val="DAD8CF"/>
            </a:solidFill>
            <a:prstDash val="solid"/>
          </a:ln>
        </p:spPr>
      </p:sp>
      <p:sp>
        <p:nvSpPr>
          <p:cNvPr id="13" name="Text 11"/>
          <p:cNvSpPr/>
          <p:nvPr/>
        </p:nvSpPr>
        <p:spPr>
          <a:xfrm>
            <a:off x="8252867" y="1832570"/>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A4A"/>
                </a:solidFill>
                <a:latin typeface="Source Serif 4" pitchFamily="18" charset="0"/>
                <a:ea typeface="Source Serif 4" pitchFamily="18" charset="-122"/>
                <a:cs typeface="Source Serif 4" pitchFamily="18" charset="-120"/>
              </a:rPr>
              <a:t>Clinical trials</a:t>
            </a:r>
            <a:endParaRPr lang="en-US" sz="2200" dirty="0"/>
          </a:p>
        </p:txBody>
      </p:sp>
      <p:sp>
        <p:nvSpPr>
          <p:cNvPr id="14" name="Text 12"/>
          <p:cNvSpPr/>
          <p:nvPr/>
        </p:nvSpPr>
        <p:spPr>
          <a:xfrm>
            <a:off x="8252867" y="2269430"/>
            <a:ext cx="29519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61A"/>
                </a:solidFill>
                <a:latin typeface="IBM Plex Sans" pitchFamily="34" charset="0"/>
                <a:ea typeface="IBM Plex Sans" pitchFamily="34" charset="-122"/>
                <a:cs typeface="IBM Plex Sans" pitchFamily="34" charset="-120"/>
              </a:rPr>
              <a:t>Does a drug work?</a:t>
            </a:r>
            <a:endParaRPr lang="en-US" sz="1400" dirty="0"/>
          </a:p>
        </p:txBody>
      </p:sp>
      <p:sp>
        <p:nvSpPr>
          <p:cNvPr id="15" name="Text 13"/>
          <p:cNvSpPr/>
          <p:nvPr/>
        </p:nvSpPr>
        <p:spPr>
          <a:xfrm>
            <a:off x="8252867" y="2619921"/>
            <a:ext cx="2951963"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drug is tested on 100 patients: 56 are cured, 44 show no improvement. Is it effective?</a:t>
            </a:r>
            <a:endParaRPr lang="en-US" sz="1600" dirty="0"/>
          </a:p>
        </p:txBody>
      </p:sp>
      <p:sp>
        <p:nvSpPr>
          <p:cNvPr id="16" name="Text 14"/>
          <p:cNvSpPr/>
          <p:nvPr/>
        </p:nvSpPr>
        <p:spPr>
          <a:xfrm>
            <a:off x="812800" y="4272111"/>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2A4A"/>
                </a:solidFill>
                <a:latin typeface="IBM Plex Sans" pitchFamily="34" charset="0"/>
                <a:ea typeface="IBM Plex Sans" pitchFamily="34" charset="-122"/>
                <a:cs typeface="IBM Plex Sans" pitchFamily="34" charset="-120"/>
              </a:rPr>
              <a:t>What is common to all these examples?</a:t>
            </a:r>
            <a:endParaRPr lang="en-US" sz="18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 · Why statistics?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4A"/>
        </a:solidFill>
      </p:bgPr>
    </p:bg>
    <p:spTree>
      <p:nvGrpSpPr>
        <p:cNvPr id="1" name=""/>
        <p:cNvGrpSpPr/>
        <p:nvPr/>
      </p:nvGrpSpPr>
      <p:grpSpPr>
        <a:xfrm>
          <a:off x="0" y="0"/>
          <a:ext cx="0" cy="0"/>
          <a:chOff x="0" y="0"/>
          <a:chExt cx="0" cy="0"/>
        </a:xfrm>
      </p:grpSpPr>
      <p:sp>
        <p:nvSpPr>
          <p:cNvPr id="2" name="Text 0"/>
          <p:cNvSpPr/>
          <p:nvPr>
            <p:ph type="title"/>
          </p:nvPr>
        </p:nvSpPr>
        <p:spPr>
          <a:xfrm>
            <a:off x="812800" y="2085975"/>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4F1E8"/>
                </a:solidFill>
                <a:latin typeface="Source Serif 4" pitchFamily="18" charset="0"/>
                <a:ea typeface="Source Serif 4" pitchFamily="18" charset="-122"/>
                <a:cs typeface="Source Serif 4" pitchFamily="18" charset="-120"/>
              </a:rPr>
              <a:t>Randomness</a:t>
            </a:r>
            <a:endParaRPr lang="en-US" sz="7000" dirty="0"/>
          </a:p>
        </p:txBody>
      </p:sp>
      <p:sp>
        <p:nvSpPr>
          <p:cNvPr id="3" name="Shape 1"/>
          <p:cNvSpPr/>
          <p:nvPr/>
        </p:nvSpPr>
        <p:spPr>
          <a:xfrm>
            <a:off x="812800" y="3438525"/>
            <a:ext cx="3318917" cy="0"/>
          </a:xfrm>
          <a:prstGeom prst="line">
            <a:avLst/>
          </a:prstGeom>
          <a:noFill/>
          <a:ln w="25400">
            <a:solidFill>
              <a:srgbClr val="F29A6B"/>
            </a:solidFill>
            <a:prstDash val="solid"/>
          </a:ln>
        </p:spPr>
      </p:sp>
      <p:sp>
        <p:nvSpPr>
          <p:cNvPr id="4" name="Text 2"/>
          <p:cNvSpPr/>
          <p:nvPr/>
        </p:nvSpPr>
        <p:spPr>
          <a:xfrm>
            <a:off x="812800" y="3603625"/>
            <a:ext cx="34184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F1E8"/>
                </a:solidFill>
                <a:latin typeface="IBM Plex Sans" pitchFamily="34" charset="0"/>
                <a:ea typeface="IBM Plex Sans" pitchFamily="34" charset="-122"/>
                <a:cs typeface="IBM Plex Sans" pitchFamily="34" charset="-120"/>
              </a:rPr>
              <a:t>An average</a:t>
            </a:r>
            <a:endParaRPr lang="en-US" sz="2000" dirty="0"/>
          </a:p>
        </p:txBody>
      </p:sp>
      <p:sp>
        <p:nvSpPr>
          <p:cNvPr id="5" name="Text 3"/>
          <p:cNvSpPr/>
          <p:nvPr/>
        </p:nvSpPr>
        <p:spPr>
          <a:xfrm>
            <a:off x="812800" y="4035425"/>
            <a:ext cx="34184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E2"/>
                </a:solidFill>
                <a:latin typeface="IBM Plex Sans" pitchFamily="34" charset="0"/>
                <a:ea typeface="IBM Plex Sans" pitchFamily="34" charset="-122"/>
                <a:cs typeface="IBM Plex Sans" pitchFamily="34" charset="-120"/>
              </a:rPr>
              <a:t>What is typical? A "fair" premium.</a:t>
            </a:r>
            <a:endParaRPr lang="en-US" sz="1500" dirty="0"/>
          </a:p>
        </p:txBody>
      </p:sp>
      <p:sp>
        <p:nvSpPr>
          <p:cNvPr id="6" name="Shape 4"/>
          <p:cNvSpPr/>
          <p:nvPr/>
        </p:nvSpPr>
        <p:spPr>
          <a:xfrm>
            <a:off x="4436517" y="3438525"/>
            <a:ext cx="3318966" cy="0"/>
          </a:xfrm>
          <a:prstGeom prst="line">
            <a:avLst/>
          </a:prstGeom>
          <a:noFill/>
          <a:ln w="25400">
            <a:solidFill>
              <a:srgbClr val="F29A6B"/>
            </a:solidFill>
            <a:prstDash val="solid"/>
          </a:ln>
        </p:spPr>
      </p:sp>
      <p:sp>
        <p:nvSpPr>
          <p:cNvPr id="7" name="Text 5"/>
          <p:cNvSpPr/>
          <p:nvPr/>
        </p:nvSpPr>
        <p:spPr>
          <a:xfrm>
            <a:off x="4436517" y="3603625"/>
            <a:ext cx="34185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F1E8"/>
                </a:solidFill>
                <a:latin typeface="IBM Plex Sans" pitchFamily="34" charset="0"/>
                <a:ea typeface="IBM Plex Sans" pitchFamily="34" charset="-122"/>
                <a:cs typeface="IBM Plex Sans" pitchFamily="34" charset="-120"/>
              </a:rPr>
              <a:t>A chance</a:t>
            </a:r>
            <a:endParaRPr lang="en-US" sz="2000" dirty="0"/>
          </a:p>
        </p:txBody>
      </p:sp>
      <p:sp>
        <p:nvSpPr>
          <p:cNvPr id="8" name="Text 6"/>
          <p:cNvSpPr/>
          <p:nvPr/>
        </p:nvSpPr>
        <p:spPr>
          <a:xfrm>
            <a:off x="4436517" y="4035425"/>
            <a:ext cx="34185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E2"/>
                </a:solidFill>
                <a:latin typeface="IBM Plex Sans" pitchFamily="34" charset="0"/>
                <a:ea typeface="IBM Plex Sans" pitchFamily="34" charset="-122"/>
                <a:cs typeface="IBM Plex Sans" pitchFamily="34" charset="-120"/>
              </a:rPr>
              <a:t>How likely? "Most of the floods".</a:t>
            </a:r>
            <a:endParaRPr lang="en-US" sz="1500" dirty="0"/>
          </a:p>
        </p:txBody>
      </p:sp>
      <p:sp>
        <p:nvSpPr>
          <p:cNvPr id="9" name="Shape 7"/>
          <p:cNvSpPr/>
          <p:nvPr/>
        </p:nvSpPr>
        <p:spPr>
          <a:xfrm>
            <a:off x="8060283" y="3438525"/>
            <a:ext cx="3318917" cy="0"/>
          </a:xfrm>
          <a:prstGeom prst="line">
            <a:avLst/>
          </a:prstGeom>
          <a:noFill/>
          <a:ln w="25400">
            <a:solidFill>
              <a:srgbClr val="F29A6B"/>
            </a:solidFill>
            <a:prstDash val="solid"/>
          </a:ln>
        </p:spPr>
      </p:sp>
      <p:sp>
        <p:nvSpPr>
          <p:cNvPr id="10" name="Text 8"/>
          <p:cNvSpPr/>
          <p:nvPr/>
        </p:nvSpPr>
        <p:spPr>
          <a:xfrm>
            <a:off x="8060283" y="3603625"/>
            <a:ext cx="341848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F1E8"/>
                </a:solidFill>
                <a:latin typeface="IBM Plex Sans" pitchFamily="34" charset="0"/>
                <a:ea typeface="IBM Plex Sans" pitchFamily="34" charset="-122"/>
                <a:cs typeface="IBM Plex Sans" pitchFamily="34" charset="-120"/>
              </a:rPr>
              <a:t>A variability</a:t>
            </a:r>
            <a:endParaRPr lang="en-US" sz="2000" dirty="0"/>
          </a:p>
        </p:txBody>
      </p:sp>
      <p:sp>
        <p:nvSpPr>
          <p:cNvPr id="11" name="Text 9"/>
          <p:cNvSpPr/>
          <p:nvPr/>
        </p:nvSpPr>
        <p:spPr>
          <a:xfrm>
            <a:off x="8060283" y="4035425"/>
            <a:ext cx="34184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E2"/>
                </a:solidFill>
                <a:latin typeface="IBM Plex Sans" pitchFamily="34" charset="0"/>
                <a:ea typeface="IBM Plex Sans" pitchFamily="34" charset="-122"/>
                <a:cs typeface="IBM Plex Sans" pitchFamily="34" charset="-120"/>
              </a:rPr>
              <a:t>How much could it change? Is it significant?</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IBM Plex Sans" pitchFamily="34" charset="0"/>
                <a:ea typeface="IBM Plex Sans" pitchFamily="34" charset="-122"/>
                <a:cs typeface="IBM Plex Sans" pitchFamily="34" charset="-120"/>
              </a:rPr>
              <a:t>Statistics · Lesson 1 · Why statistics?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WHY STATISTICS?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three challenges of statistics</a:t>
            </a:r>
            <a:endParaRPr lang="en-US" sz="3000" dirty="0"/>
          </a:p>
        </p:txBody>
      </p:sp>
      <p:sp>
        <p:nvSpPr>
          <p:cNvPr id="4" name="Shape 2"/>
          <p:cNvSpPr/>
          <p:nvPr/>
        </p:nvSpPr>
        <p:spPr>
          <a:xfrm>
            <a:off x="815975" y="1575395"/>
            <a:ext cx="3380284" cy="1967111"/>
          </a:xfrm>
          <a:prstGeom prst="roundRect">
            <a:avLst>
              <a:gd name="adj" fmla="val 5004"/>
            </a:avLst>
          </a:prstGeom>
          <a:solidFill>
            <a:srgbClr val="FBFAF6"/>
          </a:solidFill>
          <a:ln w="6350">
            <a:solidFill>
              <a:srgbClr val="DAD8CF"/>
            </a:solidFill>
            <a:prstDash val="solid"/>
          </a:ln>
        </p:spPr>
      </p:sp>
      <p:sp>
        <p:nvSpPr>
          <p:cNvPr id="5" name="Text 3"/>
          <p:cNvSpPr/>
          <p:nvPr/>
        </p:nvSpPr>
        <p:spPr>
          <a:xfrm>
            <a:off x="1073150" y="183257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1 · SAMPLE TO POPULATION</a:t>
            </a:r>
            <a:endParaRPr lang="en-US" sz="1200" dirty="0"/>
          </a:p>
        </p:txBody>
      </p:sp>
      <p:sp>
        <p:nvSpPr>
          <p:cNvPr id="6" name="Text 4"/>
          <p:cNvSpPr/>
          <p:nvPr/>
        </p:nvSpPr>
        <p:spPr>
          <a:xfrm>
            <a:off x="1073150" y="2147491"/>
            <a:ext cx="295191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From the people we measured to the people we did not. Surveys, but also nearly every study.</a:t>
            </a:r>
            <a:endParaRPr lang="en-US" sz="1600" dirty="0"/>
          </a:p>
        </p:txBody>
      </p:sp>
      <p:sp>
        <p:nvSpPr>
          <p:cNvPr id="7" name="Shape 5"/>
          <p:cNvSpPr/>
          <p:nvPr/>
        </p:nvSpPr>
        <p:spPr>
          <a:xfrm>
            <a:off x="4405809" y="1575395"/>
            <a:ext cx="3380333" cy="1967111"/>
          </a:xfrm>
          <a:prstGeom prst="roundRect">
            <a:avLst>
              <a:gd name="adj" fmla="val 5004"/>
            </a:avLst>
          </a:prstGeom>
          <a:solidFill>
            <a:srgbClr val="FBFAF6"/>
          </a:solidFill>
          <a:ln w="6350">
            <a:solidFill>
              <a:srgbClr val="DAD8CF"/>
            </a:solidFill>
            <a:prstDash val="solid"/>
          </a:ln>
        </p:spPr>
      </p:sp>
      <p:sp>
        <p:nvSpPr>
          <p:cNvPr id="8" name="Text 6"/>
          <p:cNvSpPr/>
          <p:nvPr/>
        </p:nvSpPr>
        <p:spPr>
          <a:xfrm>
            <a:off x="4662984" y="183257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2 · TREATMENT TO CONTROL</a:t>
            </a:r>
            <a:endParaRPr lang="en-US" sz="1200" dirty="0"/>
          </a:p>
        </p:txBody>
      </p:sp>
      <p:sp>
        <p:nvSpPr>
          <p:cNvPr id="9" name="Text 7"/>
          <p:cNvSpPr/>
          <p:nvPr/>
        </p:nvSpPr>
        <p:spPr>
          <a:xfrm>
            <a:off x="4662984" y="2147491"/>
            <a:ext cx="2951963"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From those who got the treatment to what would have happened without it. This is causal inference.</a:t>
            </a:r>
            <a:endParaRPr lang="en-US" sz="1600" dirty="0"/>
          </a:p>
        </p:txBody>
      </p:sp>
      <p:sp>
        <p:nvSpPr>
          <p:cNvPr id="10" name="Shape 8"/>
          <p:cNvSpPr/>
          <p:nvPr/>
        </p:nvSpPr>
        <p:spPr>
          <a:xfrm>
            <a:off x="7995692" y="1575395"/>
            <a:ext cx="3380333" cy="1967111"/>
          </a:xfrm>
          <a:prstGeom prst="roundRect">
            <a:avLst>
              <a:gd name="adj" fmla="val 5004"/>
            </a:avLst>
          </a:prstGeom>
          <a:solidFill>
            <a:srgbClr val="FBFAF6"/>
          </a:solidFill>
          <a:ln w="6350">
            <a:solidFill>
              <a:srgbClr val="DAD8CF"/>
            </a:solidFill>
            <a:prstDash val="solid"/>
          </a:ln>
        </p:spPr>
      </p:sp>
      <p:sp>
        <p:nvSpPr>
          <p:cNvPr id="11" name="Text 9"/>
          <p:cNvSpPr/>
          <p:nvPr/>
        </p:nvSpPr>
        <p:spPr>
          <a:xfrm>
            <a:off x="8252867" y="1832570"/>
            <a:ext cx="311998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3 · MEASUREMENT TO CONSTRUCT</a:t>
            </a:r>
            <a:endParaRPr lang="en-US" sz="1200" dirty="0"/>
          </a:p>
        </p:txBody>
      </p:sp>
      <p:sp>
        <p:nvSpPr>
          <p:cNvPr id="12" name="Text 10"/>
          <p:cNvSpPr/>
          <p:nvPr/>
        </p:nvSpPr>
        <p:spPr>
          <a:xfrm>
            <a:off x="8252867" y="2147491"/>
            <a:ext cx="2951963"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From what we recorded to what we actually care about. Data rarely measure the thing itself.</a:t>
            </a:r>
            <a:endParaRPr lang="en-US" sz="1600" dirty="0"/>
          </a:p>
        </p:txBody>
      </p:sp>
      <p:sp>
        <p:nvSpPr>
          <p:cNvPr id="13" name="Text 11"/>
          <p:cNvSpPr/>
          <p:nvPr/>
        </p:nvSpPr>
        <p:spPr>
          <a:xfrm>
            <a:off x="812800" y="379968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F2A4A"/>
                </a:solidFill>
                <a:latin typeface="Source Serif 4" pitchFamily="18" charset="0"/>
                <a:ea typeface="Source Serif 4" pitchFamily="18" charset="-122"/>
                <a:cs typeface="Source Serif 4" pitchFamily="18" charset="-120"/>
              </a:rPr>
              <a:t>All three are problems of prediction.</a:t>
            </a:r>
            <a:endParaRPr lang="en-US" sz="2000" dirty="0"/>
          </a:p>
        </p:txBody>
      </p:sp>
      <p:sp>
        <p:nvSpPr>
          <p:cNvPr id="14" name="Text 1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Can the economy predict an election?</a:t>
            </a:r>
            <a:endParaRPr lang="en-US" sz="3000" dirty="0"/>
          </a:p>
        </p:txBody>
      </p:sp>
      <p:sp>
        <p:nvSpPr>
          <p:cNvPr id="4" name="Text 2"/>
          <p:cNvSpPr/>
          <p:nvPr/>
        </p:nvSpPr>
        <p:spPr>
          <a:xfrm>
            <a:off x="812800" y="2368550"/>
            <a:ext cx="40224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16 US presidential elections, 1952 to 2012.</a:t>
            </a:r>
            <a:endParaRPr lang="en-US" sz="1600" dirty="0"/>
          </a:p>
        </p:txBody>
      </p:sp>
      <p:sp>
        <p:nvSpPr>
          <p:cNvPr id="5" name="Text 3"/>
          <p:cNvSpPr/>
          <p:nvPr/>
        </p:nvSpPr>
        <p:spPr>
          <a:xfrm>
            <a:off x="812800" y="3115270"/>
            <a:ext cx="40224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Horizontal:</a:t>
            </a:r>
            <a:r>
              <a:rPr lang="en-US" sz="1500" dirty="0">
                <a:solidFill>
                  <a:srgbClr val="4A5568"/>
                </a:solidFill>
                <a:latin typeface="IBM Plex Sans" pitchFamily="34" charset="0"/>
                <a:ea typeface="IBM Plex Sans" pitchFamily="34" charset="-122"/>
                <a:cs typeface="IBM Plex Sans" pitchFamily="34" charset="-120"/>
              </a:rPr>
              <a:t> average growth of personal income in the years before the election.</a:t>
            </a:r>
            <a:endParaRPr lang="en-US" sz="1500" dirty="0"/>
          </a:p>
        </p:txBody>
      </p:sp>
      <p:sp>
        <p:nvSpPr>
          <p:cNvPr id="6" name="Text 4"/>
          <p:cNvSpPr/>
          <p:nvPr/>
        </p:nvSpPr>
        <p:spPr>
          <a:xfrm>
            <a:off x="812800" y="3826470"/>
            <a:ext cx="40224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Vertical:</a:t>
            </a:r>
            <a:r>
              <a:rPr lang="en-US" sz="1500" dirty="0">
                <a:solidFill>
                  <a:srgbClr val="4A5568"/>
                </a:solidFill>
                <a:latin typeface="IBM Plex Sans" pitchFamily="34" charset="0"/>
                <a:ea typeface="IBM Plex Sans" pitchFamily="34" charset="-122"/>
                <a:cs typeface="IBM Plex Sans" pitchFamily="34" charset="-120"/>
              </a:rPr>
              <a:t> share of the vote won by the party of the incumbent president.</a:t>
            </a:r>
            <a:endParaRPr lang="en-US" sz="1500" dirty="0"/>
          </a:p>
        </p:txBody>
      </p:sp>
      <p:sp>
        <p:nvSpPr>
          <p:cNvPr id="7" name="Text 5"/>
          <p:cNvSpPr/>
          <p:nvPr/>
        </p:nvSpPr>
        <p:spPr>
          <a:xfrm>
            <a:off x="812800" y="4537670"/>
            <a:ext cx="4022408"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2A4A"/>
                </a:solidFill>
                <a:latin typeface="IBM Plex Sans" pitchFamily="34" charset="0"/>
                <a:ea typeface="IBM Plex Sans" pitchFamily="34" charset="-122"/>
                <a:cs typeface="IBM Plex Sans" pitchFamily="34" charset="-120"/>
              </a:rPr>
              <a:t>What pattern do you see?</a:t>
            </a:r>
            <a:endParaRPr lang="en-US" sz="1700" dirty="0"/>
          </a:p>
        </p:txBody>
      </p:sp>
      <p:pic>
        <p:nvPicPr>
          <p:cNvPr id="8" name="Image 0" descr="Scatter plot of incumbent party vote share against income growth for 16 US elections">    </p:cNvPr>
          <p:cNvPicPr>
            <a:picLocks noChangeAspect="1"/>
          </p:cNvPicPr>
          <p:nvPr/>
        </p:nvPicPr>
        <p:blipFill>
          <a:blip r:embed="rId1"/>
          <a:srcRect l="0" r="0" t="-8" b="-8"/>
          <a:stretch/>
        </p:blipFill>
        <p:spPr>
          <a:xfrm>
            <a:off x="5073650" y="1572220"/>
            <a:ext cx="6305550" cy="4064000"/>
          </a:xfrm>
          <a:prstGeom prst="rect">
            <a:avLst/>
          </a:prstGeom>
        </p:spPr>
      </p:pic>
      <p:sp>
        <p:nvSpPr>
          <p:cNvPr id="9"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 line, and the scatter around it</a:t>
            </a:r>
            <a:endParaRPr lang="en-US" sz="3000" dirty="0"/>
          </a:p>
        </p:txBody>
      </p:sp>
      <p:sp>
        <p:nvSpPr>
          <p:cNvPr id="4" name="Text 2"/>
          <p:cNvSpPr/>
          <p:nvPr/>
        </p:nvSpPr>
        <p:spPr>
          <a:xfrm>
            <a:off x="812800" y="2274540"/>
            <a:ext cx="423824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461A"/>
                </a:solidFill>
                <a:latin typeface="Source Serif 4" pitchFamily="18" charset="0"/>
                <a:ea typeface="Source Serif 4" pitchFamily="18" charset="-122"/>
                <a:cs typeface="Source Serif 4" pitchFamily="18" charset="-120"/>
              </a:rPr>
              <a:t>vote = 46.2 + 3.1 × growth</a:t>
            </a:r>
            <a:endParaRPr lang="en-US" sz="2200" dirty="0"/>
          </a:p>
        </p:txBody>
      </p:sp>
      <p:sp>
        <p:nvSpPr>
          <p:cNvPr id="5" name="Text 3"/>
          <p:cNvSpPr/>
          <p:nvPr/>
        </p:nvSpPr>
        <p:spPr>
          <a:xfrm>
            <a:off x="812800" y="2762200"/>
            <a:ext cx="423824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Slope 3.1.</a:t>
            </a:r>
            <a:r>
              <a:rPr lang="en-US" sz="1500" dirty="0">
                <a:solidFill>
                  <a:srgbClr val="1B2633"/>
                </a:solidFill>
                <a:latin typeface="IBM Plex Sans" pitchFamily="34" charset="0"/>
                <a:ea typeface="IBM Plex Sans" pitchFamily="34" charset="-122"/>
                <a:cs typeface="IBM Plex Sans" pitchFamily="34" charset="-120"/>
              </a:rPr>
              <a:t> Two elections that differ by one point of growth differ, on average, by about 3 points of vote share.</a:t>
            </a:r>
            <a:endParaRPr lang="en-US" sz="1500" dirty="0"/>
          </a:p>
        </p:txBody>
      </p:sp>
      <p:sp>
        <p:nvSpPr>
          <p:cNvPr id="6" name="Text 4"/>
          <p:cNvSpPr/>
          <p:nvPr/>
        </p:nvSpPr>
        <p:spPr>
          <a:xfrm>
            <a:off x="812800" y="3714700"/>
            <a:ext cx="423824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Scatter 3.8.</a:t>
            </a:r>
            <a:r>
              <a:rPr lang="en-US" sz="1500" dirty="0">
                <a:solidFill>
                  <a:srgbClr val="1B2633"/>
                </a:solidFill>
                <a:latin typeface="IBM Plex Sans" pitchFamily="34" charset="0"/>
                <a:ea typeface="IBM Plex Sans" pitchFamily="34" charset="-122"/>
                <a:cs typeface="IBM Plex Sans" pitchFamily="34" charset="-120"/>
              </a:rPr>
              <a:t> Even knowing the economy, predictions are off by about ±4 points.</a:t>
            </a:r>
            <a:endParaRPr lang="en-US" sz="1500" dirty="0"/>
          </a:p>
        </p:txBody>
      </p:sp>
      <p:sp>
        <p:nvSpPr>
          <p:cNvPr id="7" name="Text 5"/>
          <p:cNvSpPr/>
          <p:nvPr/>
        </p:nvSpPr>
        <p:spPr>
          <a:xfrm>
            <a:off x="812800" y="4400500"/>
            <a:ext cx="423824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Prediction.</a:t>
            </a:r>
            <a:r>
              <a:rPr lang="en-US" sz="1500" dirty="0">
                <a:solidFill>
                  <a:srgbClr val="1B2633"/>
                </a:solidFill>
                <a:latin typeface="IBM Plex Sans" pitchFamily="34" charset="0"/>
                <a:ea typeface="IBM Plex Sans" pitchFamily="34" charset="-122"/>
                <a:cs typeface="IBM Plex Sans" pitchFamily="34" charset="-120"/>
              </a:rPr>
              <a:t> Growth of 2%: about 52.4% of the vote, ±3.8.</a:t>
            </a:r>
            <a:endParaRPr lang="en-US" sz="1500" dirty="0"/>
          </a:p>
        </p:txBody>
      </p:sp>
      <p:pic>
        <p:nvPicPr>
          <p:cNvPr id="8" name="Image 0" descr="Election data with fitted regression line and a band of plus or minus one residual standard deviation">    </p:cNvPr>
          <p:cNvPicPr>
            <a:picLocks noChangeAspect="1"/>
          </p:cNvPicPr>
          <p:nvPr/>
        </p:nvPicPr>
        <p:blipFill>
          <a:blip r:embed="rId1"/>
          <a:srcRect l="0" r="0" t="0" b="0"/>
          <a:stretch/>
        </p:blipFill>
        <p:spPr>
          <a:xfrm>
            <a:off x="5283200" y="1572220"/>
            <a:ext cx="6096000" cy="4064000"/>
          </a:xfrm>
          <a:prstGeom prst="rect">
            <a:avLst/>
          </a:prstGeom>
        </p:spPr>
      </p:pic>
      <p:sp>
        <p:nvSpPr>
          <p:cNvPr id="9" name="Text 6"/>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REGRESSION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linear regression model, formally</a:t>
            </a:r>
            <a:endParaRPr lang="en-US" sz="3000" dirty="0"/>
          </a:p>
        </p:txBody>
      </p:sp>
      <p:sp>
        <p:nvSpPr>
          <p:cNvPr id="4" name="Shape 2"/>
          <p:cNvSpPr/>
          <p:nvPr/>
        </p:nvSpPr>
        <p:spPr>
          <a:xfrm>
            <a:off x="815975" y="1575395"/>
            <a:ext cx="10560050" cy="773410"/>
          </a:xfrm>
          <a:prstGeom prst="roundRect">
            <a:avLst>
              <a:gd name="adj" fmla="val 12726"/>
            </a:avLst>
          </a:prstGeom>
          <a:solidFill>
            <a:srgbClr val="FBFAF6"/>
          </a:solidFill>
          <a:ln w="6350">
            <a:solidFill>
              <a:srgbClr val="DAD8CF"/>
            </a:solidFill>
            <a:prstDash val="solid"/>
          </a:ln>
        </p:spPr>
      </p:sp>
      <p:pic>
        <p:nvPicPr>
          <p:cNvPr id="5" name="Image 0" descr="y i equals a plus b x i plus epsilon i, with epsilon i normal with mean 0 and variance sigma squared">    </p:cNvPr>
          <p:cNvPicPr>
            <a:picLocks noChangeAspect="1"/>
          </p:cNvPicPr>
          <p:nvPr/>
        </p:nvPicPr>
        <p:blipFill>
          <a:blip r:embed="rId1"/>
          <a:srcRect l="-391" r="-391" t="0" b="0"/>
          <a:stretch/>
        </p:blipFill>
        <p:spPr>
          <a:xfrm>
            <a:off x="1047750" y="1777950"/>
            <a:ext cx="3987800" cy="368300"/>
          </a:xfrm>
          <a:prstGeom prst="rect">
            <a:avLst/>
          </a:prstGeom>
        </p:spPr>
      </p:pic>
      <p:sp>
        <p:nvSpPr>
          <p:cNvPr id="6" name="Text 3"/>
          <p:cNvSpPr/>
          <p:nvPr/>
        </p:nvSpPr>
        <p:spPr>
          <a:xfrm>
            <a:off x="6381750" y="17309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Model.</a:t>
            </a:r>
            <a:r>
              <a:rPr lang="en-US" sz="1300" dirty="0">
                <a:solidFill>
                  <a:srgbClr val="4A5568"/>
                </a:solidFill>
                <a:latin typeface="IBM Plex Sans" pitchFamily="34" charset="0"/>
                <a:ea typeface="IBM Plex Sans" pitchFamily="34" charset="-122"/>
                <a:cs typeface="IBM Plex Sans" pitchFamily="34" charset="-120"/>
              </a:rPr>
              <a:t> A straight line plus independent noise. </a:t>
            </a:r>
            <a:r>
              <a:rPr lang="en-US" sz="1300" i="1" dirty="0">
                <a:solidFill>
                  <a:srgbClr val="4A5568"/>
                </a:solidFill>
                <a:latin typeface="IBM Plex Sans" pitchFamily="34" charset="0"/>
                <a:ea typeface="IBM Plex Sans" pitchFamily="34" charset="-122"/>
                <a:cs typeface="IBM Plex Sans" pitchFamily="34" charset="-120"/>
              </a:rPr>
              <a:t>a</a:t>
            </a:r>
            <a:r>
              <a:rPr lang="en-US" sz="1300" dirty="0">
                <a:solidFill>
                  <a:srgbClr val="4A5568"/>
                </a:solidFill>
                <a:latin typeface="IBM Plex Sans" pitchFamily="34" charset="0"/>
                <a:ea typeface="IBM Plex Sans" pitchFamily="34" charset="-122"/>
                <a:cs typeface="IBM Plex Sans" pitchFamily="34" charset="-120"/>
              </a:rPr>
              <a:t> is the intercept,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the slope, σ the spread of the points around the line.</a:t>
            </a:r>
            <a:endParaRPr lang="en-US" sz="1300" dirty="0"/>
          </a:p>
        </p:txBody>
      </p:sp>
      <p:sp>
        <p:nvSpPr>
          <p:cNvPr id="7" name="Shape 4"/>
          <p:cNvSpPr/>
          <p:nvPr/>
        </p:nvSpPr>
        <p:spPr>
          <a:xfrm>
            <a:off x="815975" y="2482155"/>
            <a:ext cx="10560050" cy="1079500"/>
          </a:xfrm>
          <a:prstGeom prst="roundRect">
            <a:avLst>
              <a:gd name="adj" fmla="val 9118"/>
            </a:avLst>
          </a:prstGeom>
          <a:solidFill>
            <a:srgbClr val="FBFAF6"/>
          </a:solidFill>
          <a:ln w="6350">
            <a:solidFill>
              <a:srgbClr val="DAD8CF"/>
            </a:solidFill>
            <a:prstDash val="solid"/>
          </a:ln>
        </p:spPr>
      </p:sp>
      <p:pic>
        <p:nvPicPr>
          <p:cNvPr id="8" name="Image 1" descr="b hat equals the sum of (x i minus x bar)(y i minus y bar) over the sum of (x i minus x bar) squared; a hat equals y bar minus b hat x bar">    </p:cNvPr>
          <p:cNvPicPr>
            <a:picLocks noChangeAspect="1"/>
          </p:cNvPicPr>
          <p:nvPr/>
        </p:nvPicPr>
        <p:blipFill>
          <a:blip r:embed="rId2"/>
          <a:srcRect l="-207" r="-207" t="0" b="0"/>
          <a:stretch/>
        </p:blipFill>
        <p:spPr>
          <a:xfrm>
            <a:off x="1047750" y="2637730"/>
            <a:ext cx="4311650" cy="768350"/>
          </a:xfrm>
          <a:prstGeom prst="rect">
            <a:avLst/>
          </a:prstGeom>
        </p:spPr>
      </p:pic>
      <p:sp>
        <p:nvSpPr>
          <p:cNvPr id="9" name="Text 5"/>
          <p:cNvSpPr/>
          <p:nvPr/>
        </p:nvSpPr>
        <p:spPr>
          <a:xfrm>
            <a:off x="6381750" y="2790775"/>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Least squares.</a:t>
            </a:r>
            <a:r>
              <a:rPr lang="en-US" sz="1300" dirty="0">
                <a:solidFill>
                  <a:srgbClr val="4A5568"/>
                </a:solidFill>
                <a:latin typeface="IBM Plex Sans" pitchFamily="34" charset="0"/>
                <a:ea typeface="IBM Plex Sans" pitchFamily="34" charset="-122"/>
                <a:cs typeface="IBM Plex Sans" pitchFamily="34" charset="-120"/>
              </a:rPr>
              <a:t> The values of </a:t>
            </a:r>
            <a:r>
              <a:rPr lang="en-US" sz="1300" i="1" dirty="0">
                <a:solidFill>
                  <a:srgbClr val="4A5568"/>
                </a:solidFill>
                <a:latin typeface="IBM Plex Sans" pitchFamily="34" charset="0"/>
                <a:ea typeface="IBM Plex Sans" pitchFamily="34" charset="-122"/>
                <a:cs typeface="IBM Plex Sans" pitchFamily="34" charset="-120"/>
              </a:rPr>
              <a:t>a</a:t>
            </a:r>
            <a:r>
              <a:rPr lang="en-US" sz="1300" dirty="0">
                <a:solidFill>
                  <a:srgbClr val="4A5568"/>
                </a:solidFill>
                <a:latin typeface="IBM Plex Sans" pitchFamily="34" charset="0"/>
                <a:ea typeface="IBM Plex Sans" pitchFamily="34" charset="-122"/>
                <a:cs typeface="IBM Plex Sans" pitchFamily="34" charset="-120"/>
              </a:rPr>
              <a:t> and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that minimise Σ(</a:t>
            </a:r>
            <a:r>
              <a:rPr lang="en-US" sz="1300" i="1" dirty="0">
                <a:solidFill>
                  <a:srgbClr val="4A5568"/>
                </a:solidFill>
                <a:latin typeface="IBM Plex Sans" pitchFamily="34" charset="0"/>
                <a:ea typeface="IBM Plex Sans" pitchFamily="34" charset="-122"/>
                <a:cs typeface="IBM Plex Sans" pitchFamily="34" charset="-120"/>
              </a:rPr>
              <a:t>yi</a:t>
            </a:r>
            <a:r>
              <a:rPr lang="en-US" sz="1300" dirty="0">
                <a:solidFill>
                  <a:srgbClr val="4A5568"/>
                </a:solidFill>
                <a:latin typeface="IBM Plex Sans" pitchFamily="34" charset="0"/>
                <a:ea typeface="IBM Plex Sans" pitchFamily="34" charset="-122"/>
                <a:cs typeface="IBM Plex Sans" pitchFamily="34" charset="-120"/>
              </a:rPr>
              <a:t> − </a:t>
            </a:r>
            <a:r>
              <a:rPr lang="en-US" sz="1300" i="1" dirty="0">
                <a:solidFill>
                  <a:srgbClr val="4A5568"/>
                </a:solidFill>
                <a:latin typeface="IBM Plex Sans" pitchFamily="34" charset="0"/>
                <a:ea typeface="IBM Plex Sans" pitchFamily="34" charset="-122"/>
                <a:cs typeface="IBM Plex Sans" pitchFamily="34" charset="-120"/>
              </a:rPr>
              <a:t>a</a:t>
            </a:r>
            <a:r>
              <a:rPr lang="en-US" sz="1300" dirty="0">
                <a:solidFill>
                  <a:srgbClr val="4A5568"/>
                </a:solidFill>
                <a:latin typeface="IBM Plex Sans" pitchFamily="34" charset="0"/>
                <a:ea typeface="IBM Plex Sans" pitchFamily="34" charset="-122"/>
                <a:cs typeface="IBM Plex Sans" pitchFamily="34" charset="-120"/>
              </a:rPr>
              <a:t> − </a:t>
            </a:r>
            <a:r>
              <a:rPr lang="en-US" sz="1300" i="1" dirty="0">
                <a:solidFill>
                  <a:srgbClr val="4A5568"/>
                </a:solidFill>
                <a:latin typeface="IBM Plex Sans" pitchFamily="34" charset="0"/>
                <a:ea typeface="IBM Plex Sans" pitchFamily="34" charset="-122"/>
                <a:cs typeface="IBM Plex Sans" pitchFamily="34" charset="-120"/>
              </a:rPr>
              <a:t>b xi</a:t>
            </a:r>
            <a:r>
              <a:rPr lang="en-US" sz="1300" dirty="0">
                <a:solidFill>
                  <a:srgbClr val="4A5568"/>
                </a:solidFill>
                <a:latin typeface="IBM Plex Sans" pitchFamily="34" charset="0"/>
                <a:ea typeface="IBM Plex Sans" pitchFamily="34" charset="-122"/>
                <a:cs typeface="IBM Plex Sans" pitchFamily="34" charset="-120"/>
              </a:rPr>
              <a:t>)². Elections: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 3.06, </a:t>
            </a:r>
            <a:r>
              <a:rPr lang="en-US" sz="1300" i="1" dirty="0">
                <a:solidFill>
                  <a:srgbClr val="4A5568"/>
                </a:solidFill>
                <a:latin typeface="IBM Plex Sans" pitchFamily="34" charset="0"/>
                <a:ea typeface="IBM Plex Sans" pitchFamily="34" charset="-122"/>
                <a:cs typeface="IBM Plex Sans" pitchFamily="34" charset="-120"/>
              </a:rPr>
              <a:t>â</a:t>
            </a:r>
            <a:r>
              <a:rPr lang="en-US" sz="1300" dirty="0">
                <a:solidFill>
                  <a:srgbClr val="4A5568"/>
                </a:solidFill>
                <a:latin typeface="IBM Plex Sans" pitchFamily="34" charset="0"/>
                <a:ea typeface="IBM Plex Sans" pitchFamily="34" charset="-122"/>
                <a:cs typeface="IBM Plex Sans" pitchFamily="34" charset="-120"/>
              </a:rPr>
              <a:t> = 52.06 − 3.06 × 1.90 = 46.2.</a:t>
            </a:r>
            <a:endParaRPr lang="en-US" sz="1300" dirty="0"/>
          </a:p>
        </p:txBody>
      </p:sp>
      <p:sp>
        <p:nvSpPr>
          <p:cNvPr id="10" name="Shape 6"/>
          <p:cNvSpPr/>
          <p:nvPr/>
        </p:nvSpPr>
        <p:spPr>
          <a:xfrm>
            <a:off x="815975" y="3695005"/>
            <a:ext cx="10560050" cy="1130300"/>
          </a:xfrm>
          <a:prstGeom prst="roundRect">
            <a:avLst>
              <a:gd name="adj" fmla="val 8708"/>
            </a:avLst>
          </a:prstGeom>
          <a:solidFill>
            <a:srgbClr val="FBFAF6"/>
          </a:solidFill>
          <a:ln w="6350">
            <a:solidFill>
              <a:srgbClr val="DAD8CF"/>
            </a:solidFill>
            <a:prstDash val="solid"/>
          </a:ln>
        </p:spPr>
      </p:sp>
      <p:pic>
        <p:nvPicPr>
          <p:cNvPr id="11" name="Image 2" descr="sigma hat equals the square root of the sum of squared residuals over n minus 2, with residual r i equal to y i minus a hat minus b hat x i">    </p:cNvPr>
          <p:cNvPicPr>
            <a:picLocks noChangeAspect="1"/>
          </p:cNvPicPr>
          <p:nvPr/>
        </p:nvPicPr>
        <p:blipFill>
          <a:blip r:embed="rId3"/>
          <a:srcRect l="-153" r="-153" t="0" b="0"/>
          <a:stretch/>
        </p:blipFill>
        <p:spPr>
          <a:xfrm>
            <a:off x="1047750" y="3850580"/>
            <a:ext cx="3911600" cy="819150"/>
          </a:xfrm>
          <a:prstGeom prst="rect">
            <a:avLst/>
          </a:prstGeom>
        </p:spPr>
      </p:pic>
      <p:sp>
        <p:nvSpPr>
          <p:cNvPr id="12" name="Text 7"/>
          <p:cNvSpPr/>
          <p:nvPr/>
        </p:nvSpPr>
        <p:spPr>
          <a:xfrm>
            <a:off x="6381750" y="4029025"/>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Residual sd.</a:t>
            </a:r>
            <a:r>
              <a:rPr lang="en-US" sz="1300" dirty="0">
                <a:solidFill>
                  <a:srgbClr val="4A5568"/>
                </a:solidFill>
                <a:latin typeface="IBM Plex Sans" pitchFamily="34" charset="0"/>
                <a:ea typeface="IBM Plex Sans" pitchFamily="34" charset="-122"/>
                <a:cs typeface="IBM Plex Sans" pitchFamily="34" charset="-120"/>
              </a:rPr>
              <a:t> Divide by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− 2 because two parameters were estimated from the data. Elections: σ̂ = 3.8 with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 16.</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What is regression used for?</a:t>
            </a:r>
            <a:endParaRPr lang="en-US" sz="3000" dirty="0"/>
          </a:p>
        </p:txBody>
      </p:sp>
      <p:sp>
        <p:nvSpPr>
          <p:cNvPr id="4" name="Shape 2"/>
          <p:cNvSpPr/>
          <p:nvPr/>
        </p:nvSpPr>
        <p:spPr>
          <a:xfrm>
            <a:off x="815975" y="1575395"/>
            <a:ext cx="5175250" cy="1327150"/>
          </a:xfrm>
          <a:prstGeom prst="roundRect">
            <a:avLst>
              <a:gd name="adj" fmla="val 7416"/>
            </a:avLst>
          </a:prstGeom>
          <a:solidFill>
            <a:srgbClr val="FBFAF6"/>
          </a:solidFill>
          <a:ln w="6350">
            <a:solidFill>
              <a:srgbClr val="DAD8CF"/>
            </a:solidFill>
            <a:prstDash val="solid"/>
          </a:ln>
        </p:spPr>
      </p:sp>
      <p:sp>
        <p:nvSpPr>
          <p:cNvPr id="5" name="Text 3"/>
          <p:cNvSpPr/>
          <p:nvPr/>
        </p:nvSpPr>
        <p:spPr>
          <a:xfrm>
            <a:off x="1073150" y="17817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Prediction</a:t>
            </a:r>
            <a:endParaRPr lang="en-US" sz="2000" dirty="0"/>
          </a:p>
        </p:txBody>
      </p:sp>
      <p:sp>
        <p:nvSpPr>
          <p:cNvPr id="6" name="Text 4"/>
          <p:cNvSpPr/>
          <p:nvPr/>
        </p:nvSpPr>
        <p:spPr>
          <a:xfrm>
            <a:off x="1073150" y="216277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Forecast new outcomes: a vote share, next year's sales, a disease diagnosis.</a:t>
            </a:r>
            <a:endParaRPr lang="en-US" sz="1500" dirty="0"/>
          </a:p>
        </p:txBody>
      </p:sp>
      <p:sp>
        <p:nvSpPr>
          <p:cNvPr id="7" name="Shape 5"/>
          <p:cNvSpPr/>
          <p:nvPr/>
        </p:nvSpPr>
        <p:spPr>
          <a:xfrm>
            <a:off x="6200775" y="1575395"/>
            <a:ext cx="5175250" cy="1327150"/>
          </a:xfrm>
          <a:prstGeom prst="roundRect">
            <a:avLst>
              <a:gd name="adj" fmla="val 7416"/>
            </a:avLst>
          </a:prstGeom>
          <a:solidFill>
            <a:srgbClr val="FBFAF6"/>
          </a:solidFill>
          <a:ln w="6350">
            <a:solidFill>
              <a:srgbClr val="DAD8CF"/>
            </a:solidFill>
            <a:prstDash val="solid"/>
          </a:ln>
        </p:spPr>
      </p:sp>
      <p:sp>
        <p:nvSpPr>
          <p:cNvPr id="8" name="Text 6"/>
          <p:cNvSpPr/>
          <p:nvPr/>
        </p:nvSpPr>
        <p:spPr>
          <a:xfrm>
            <a:off x="6457950" y="17817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Exploring associations</a:t>
            </a:r>
            <a:endParaRPr lang="en-US" sz="2000" dirty="0"/>
          </a:p>
        </p:txBody>
      </p:sp>
      <p:sp>
        <p:nvSpPr>
          <p:cNvPr id="9" name="Text 7"/>
          <p:cNvSpPr/>
          <p:nvPr/>
        </p:nvSpPr>
        <p:spPr>
          <a:xfrm>
            <a:off x="6457950" y="216277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Which variables predict the outcome: risk factors, attitudes, job success.</a:t>
            </a:r>
            <a:endParaRPr lang="en-US" sz="1500" dirty="0"/>
          </a:p>
        </p:txBody>
      </p:sp>
      <p:sp>
        <p:nvSpPr>
          <p:cNvPr id="10" name="Shape 8"/>
          <p:cNvSpPr/>
          <p:nvPr/>
        </p:nvSpPr>
        <p:spPr>
          <a:xfrm>
            <a:off x="815975" y="3112095"/>
            <a:ext cx="5175250" cy="1327150"/>
          </a:xfrm>
          <a:prstGeom prst="roundRect">
            <a:avLst>
              <a:gd name="adj" fmla="val 7416"/>
            </a:avLst>
          </a:prstGeom>
          <a:solidFill>
            <a:srgbClr val="FBFAF6"/>
          </a:solidFill>
          <a:ln w="6350">
            <a:solidFill>
              <a:srgbClr val="DAD8CF"/>
            </a:solidFill>
            <a:prstDash val="solid"/>
          </a:ln>
        </p:spPr>
      </p:sp>
      <p:sp>
        <p:nvSpPr>
          <p:cNvPr id="11" name="Text 9"/>
          <p:cNvSpPr/>
          <p:nvPr/>
        </p:nvSpPr>
        <p:spPr>
          <a:xfrm>
            <a:off x="1073150" y="33184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Extrapolation</a:t>
            </a:r>
            <a:endParaRPr lang="en-US" sz="2000" dirty="0"/>
          </a:p>
        </p:txBody>
      </p:sp>
      <p:sp>
        <p:nvSpPr>
          <p:cNvPr id="12" name="Text 10"/>
          <p:cNvSpPr/>
          <p:nvPr/>
        </p:nvSpPr>
        <p:spPr>
          <a:xfrm>
            <a:off x="1073150" y="369947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Adjust for differences between the sample and the population: polls, self-selected schools.</a:t>
            </a:r>
            <a:endParaRPr lang="en-US" sz="1500" dirty="0"/>
          </a:p>
        </p:txBody>
      </p:sp>
      <p:sp>
        <p:nvSpPr>
          <p:cNvPr id="13" name="Shape 11"/>
          <p:cNvSpPr/>
          <p:nvPr/>
        </p:nvSpPr>
        <p:spPr>
          <a:xfrm>
            <a:off x="6200775" y="3112095"/>
            <a:ext cx="5175250" cy="1327150"/>
          </a:xfrm>
          <a:prstGeom prst="roundRect">
            <a:avLst>
              <a:gd name="adj" fmla="val 7416"/>
            </a:avLst>
          </a:prstGeom>
          <a:solidFill>
            <a:srgbClr val="FBFAF6"/>
          </a:solidFill>
          <a:ln w="6350">
            <a:solidFill>
              <a:srgbClr val="DAD8CF"/>
            </a:solidFill>
            <a:prstDash val="solid"/>
          </a:ln>
        </p:spPr>
      </p:sp>
      <p:sp>
        <p:nvSpPr>
          <p:cNvPr id="14" name="Text 12"/>
          <p:cNvSpPr/>
          <p:nvPr/>
        </p:nvSpPr>
        <p:spPr>
          <a:xfrm>
            <a:off x="6457950" y="331847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Causal inference</a:t>
            </a:r>
            <a:endParaRPr lang="en-US" sz="2000" dirty="0"/>
          </a:p>
        </p:txBody>
      </p:sp>
      <p:sp>
        <p:nvSpPr>
          <p:cNvPr id="15" name="Text 13"/>
          <p:cNvSpPr/>
          <p:nvPr/>
        </p:nvSpPr>
        <p:spPr>
          <a:xfrm>
            <a:off x="6457950" y="3699470"/>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Estimate the effect of a treatment by comparing treated and control groups.</a:t>
            </a:r>
            <a:endParaRPr lang="en-US" sz="15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Regression estimates a relationship, even a causal one</a:t>
            </a:r>
            <a:endParaRPr lang="en-US" sz="3000" dirty="0"/>
          </a:p>
        </p:txBody>
      </p:sp>
      <p:pic>
        <p:nvPicPr>
          <p:cNvPr id="4" name="Image 0" descr="Left: outcomes for control and treated with a line joining the means. Right: curved dose response with a straight-line fit">    </p:cNvPr>
          <p:cNvPicPr>
            <a:picLocks noChangeAspect="1"/>
          </p:cNvPicPr>
          <p:nvPr/>
        </p:nvPicPr>
        <p:blipFill>
          <a:blip r:embed="rId1"/>
          <a:srcRect l="-5" r="-5" t="0" b="0"/>
          <a:stretch/>
        </p:blipFill>
        <p:spPr>
          <a:xfrm>
            <a:off x="812800" y="1572220"/>
            <a:ext cx="9525000" cy="3606800"/>
          </a:xfrm>
          <a:prstGeom prst="rect">
            <a:avLst/>
          </a:prstGeom>
        </p:spPr>
      </p:pic>
      <p:sp>
        <p:nvSpPr>
          <p:cNvPr id="5" name="Text 2"/>
          <p:cNvSpPr/>
          <p:nvPr/>
        </p:nvSpPr>
        <p:spPr>
          <a:xfrm>
            <a:off x="812800" y="53314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With a 0/1 treatment the regression line is just the difference of means (6.15 here). With a continuous treatment a straight line is always computable, but it reports an average effect over the range, even when the true effect bends.</a:t>
            </a:r>
            <a:endParaRPr lang="en-US" sz="14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Simulated data · Notebook §9.1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Adjusting for differences, and letting effects vary</a:t>
            </a:r>
            <a:endParaRPr lang="en-US" sz="3000" dirty="0"/>
          </a:p>
        </p:txBody>
      </p:sp>
      <p:pic>
        <p:nvPicPr>
          <p:cNvPr id="4" name="Image 0" descr="Left: pre-test versus post-test for treated and control with parallel fitted lines. Right: risk versus radon for smokers and non-smokers with different slopes">    </p:cNvPr>
          <p:cNvPicPr>
            <a:picLocks noChangeAspect="1"/>
          </p:cNvPicPr>
          <p:nvPr/>
        </p:nvPicPr>
        <p:blipFill>
          <a:blip r:embed="rId1"/>
          <a:srcRect l="-30" r="-30" t="0" b="0"/>
          <a:stretch/>
        </p:blipFill>
        <p:spPr>
          <a:xfrm>
            <a:off x="812800" y="1572220"/>
            <a:ext cx="9525000" cy="3536950"/>
          </a:xfrm>
          <a:prstGeom prst="rect">
            <a:avLst/>
          </a:prstGeom>
        </p:spPr>
      </p:pic>
      <p:sp>
        <p:nvSpPr>
          <p:cNvPr id="5" name="Text 2"/>
          <p:cNvSpPr/>
          <p:nvPr/>
        </p:nvSpPr>
        <p:spPr>
          <a:xfrm>
            <a:off x="812800" y="526157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 A remedial program goes mostly to weaker students. Raw difference in final scores: −5.7. Adjusted for the pre-test: +6.8, close to the true +8. (d) An interaction: radon matters much more for smokers.</a:t>
            </a:r>
            <a:endParaRPr lang="en-US" sz="14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Simulated data · Notebook §9.2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REGRESSION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More predictors, interactions and the matrix form</a:t>
            </a:r>
            <a:endParaRPr lang="en-US" sz="3000" dirty="0"/>
          </a:p>
        </p:txBody>
      </p:sp>
      <p:sp>
        <p:nvSpPr>
          <p:cNvPr id="4" name="Shape 2"/>
          <p:cNvSpPr/>
          <p:nvPr/>
        </p:nvSpPr>
        <p:spPr>
          <a:xfrm>
            <a:off x="815975" y="1575395"/>
            <a:ext cx="10560050" cy="1004540"/>
          </a:xfrm>
          <a:prstGeom prst="roundRect">
            <a:avLst>
              <a:gd name="adj" fmla="val 9798"/>
            </a:avLst>
          </a:prstGeom>
          <a:solidFill>
            <a:srgbClr val="FBFAF6"/>
          </a:solidFill>
          <a:ln w="6350">
            <a:solidFill>
              <a:srgbClr val="DAD8CF"/>
            </a:solidFill>
            <a:prstDash val="solid"/>
          </a:ln>
        </p:spPr>
      </p:sp>
      <p:pic>
        <p:nvPicPr>
          <p:cNvPr id="5" name="Image 0" descr="y i equals beta 0 plus beta 1 x i 1 plus dots plus beta k x i k plus epsilon i">    </p:cNvPr>
          <p:cNvPicPr>
            <a:picLocks noChangeAspect="1"/>
          </p:cNvPicPr>
          <p:nvPr/>
        </p:nvPicPr>
        <p:blipFill>
          <a:blip r:embed="rId1"/>
          <a:srcRect l="-431" r="-431" t="0" b="0"/>
          <a:stretch/>
        </p:blipFill>
        <p:spPr>
          <a:xfrm>
            <a:off x="1047750" y="1893491"/>
            <a:ext cx="3505200" cy="368300"/>
          </a:xfrm>
          <a:prstGeom prst="rect">
            <a:avLst/>
          </a:prstGeom>
        </p:spPr>
      </p:pic>
      <p:sp>
        <p:nvSpPr>
          <p:cNvPr id="6" name="Text 3"/>
          <p:cNvSpPr/>
          <p:nvPr/>
        </p:nvSpPr>
        <p:spPr>
          <a:xfrm>
            <a:off x="6381750" y="173097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Multiple regression.</a:t>
            </a:r>
            <a:r>
              <a:rPr lang="en-US" sz="1300" dirty="0">
                <a:solidFill>
                  <a:srgbClr val="4A5568"/>
                </a:solidFill>
                <a:latin typeface="IBM Plex Sans" pitchFamily="34" charset="0"/>
                <a:ea typeface="IBM Plex Sans" pitchFamily="34" charset="-122"/>
                <a:cs typeface="IBM Plex Sans" pitchFamily="34" charset="-120"/>
              </a:rPr>
              <a:t> </a:t>
            </a:r>
            <a:r>
              <a:rPr lang="en-US" sz="1300" i="1" dirty="0">
                <a:solidFill>
                  <a:srgbClr val="4A5568"/>
                </a:solidFill>
                <a:latin typeface="IBM Plex Sans" pitchFamily="34" charset="0"/>
                <a:ea typeface="IBM Plex Sans" pitchFamily="34" charset="-122"/>
                <a:cs typeface="IBM Plex Sans" pitchFamily="34" charset="-120"/>
              </a:rPr>
              <a:t>βj</a:t>
            </a:r>
            <a:r>
              <a:rPr lang="en-US" sz="1300" dirty="0">
                <a:solidFill>
                  <a:srgbClr val="4A5568"/>
                </a:solidFill>
                <a:latin typeface="IBM Plex Sans" pitchFamily="34" charset="0"/>
                <a:ea typeface="IBM Plex Sans" pitchFamily="34" charset="-122"/>
                <a:cs typeface="IBM Plex Sans" pitchFamily="34" charset="-120"/>
              </a:rPr>
              <a:t> is the expected difference in </a:t>
            </a:r>
            <a:r>
              <a:rPr lang="en-US" sz="1300" i="1" dirty="0">
                <a:solidFill>
                  <a:srgbClr val="4A5568"/>
                </a:solidFill>
                <a:latin typeface="IBM Plex Sans" pitchFamily="34" charset="0"/>
                <a:ea typeface="IBM Plex Sans" pitchFamily="34" charset="-122"/>
                <a:cs typeface="IBM Plex Sans" pitchFamily="34" charset="-120"/>
              </a:rPr>
              <a:t>y</a:t>
            </a:r>
            <a:r>
              <a:rPr lang="en-US" sz="1300" dirty="0">
                <a:solidFill>
                  <a:srgbClr val="4A5568"/>
                </a:solidFill>
                <a:latin typeface="IBM Plex Sans" pitchFamily="34" charset="0"/>
                <a:ea typeface="IBM Plex Sans" pitchFamily="34" charset="-122"/>
                <a:cs typeface="IBM Plex Sans" pitchFamily="34" charset="-120"/>
              </a:rPr>
              <a:t> for one more unit of </a:t>
            </a:r>
            <a:r>
              <a:rPr lang="en-US" sz="1300" i="1" dirty="0">
                <a:solidFill>
                  <a:srgbClr val="4A5568"/>
                </a:solidFill>
                <a:latin typeface="IBM Plex Sans" pitchFamily="34" charset="0"/>
                <a:ea typeface="IBM Plex Sans" pitchFamily="34" charset="-122"/>
                <a:cs typeface="IBM Plex Sans" pitchFamily="34" charset="-120"/>
              </a:rPr>
              <a:t>xj</a:t>
            </a:r>
            <a:r>
              <a:rPr lang="en-US" sz="1300" dirty="0">
                <a:solidFill>
                  <a:srgbClr val="4A5568"/>
                </a:solidFill>
                <a:latin typeface="IBM Plex Sans" pitchFamily="34" charset="0"/>
                <a:ea typeface="IBM Plex Sans" pitchFamily="34" charset="-122"/>
                <a:cs typeface="IBM Plex Sans" pitchFamily="34" charset="-120"/>
              </a:rPr>
              <a:t>, the other predictors held fixed. Panel (c): post = </a:t>
            </a:r>
            <a:r>
              <a:rPr lang="en-US" sz="1300" i="1" dirty="0">
                <a:solidFill>
                  <a:srgbClr val="4A5568"/>
                </a:solidFill>
                <a:latin typeface="IBM Plex Sans" pitchFamily="34" charset="0"/>
                <a:ea typeface="IBM Plex Sans" pitchFamily="34" charset="-122"/>
                <a:cs typeface="IBM Plex Sans" pitchFamily="34" charset="-120"/>
              </a:rPr>
              <a:t>a</a:t>
            </a:r>
            <a:r>
              <a:rPr lang="en-US" sz="1300" dirty="0">
                <a:solidFill>
                  <a:srgbClr val="4A5568"/>
                </a:solidFill>
                <a:latin typeface="IBM Plex Sans" pitchFamily="34" charset="0"/>
                <a:ea typeface="IBM Plex Sans" pitchFamily="34" charset="-122"/>
                <a:cs typeface="IBM Plex Sans" pitchFamily="34" charset="-120"/>
              </a:rPr>
              <a:t> +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·pre + θ·</a:t>
            </a:r>
            <a:r>
              <a:rPr lang="en-US" sz="1300" i="1" dirty="0">
                <a:solidFill>
                  <a:srgbClr val="4A5568"/>
                </a:solidFill>
                <a:latin typeface="IBM Plex Sans" pitchFamily="34" charset="0"/>
                <a:ea typeface="IBM Plex Sans" pitchFamily="34" charset="-122"/>
                <a:cs typeface="IBM Plex Sans" pitchFamily="34" charset="-120"/>
              </a:rPr>
              <a:t>T</a:t>
            </a:r>
            <a:r>
              <a:rPr lang="en-US" sz="1300" dirty="0">
                <a:solidFill>
                  <a:srgbClr val="4A5568"/>
                </a:solidFill>
                <a:latin typeface="IBM Plex Sans" pitchFamily="34" charset="0"/>
                <a:ea typeface="IBM Plex Sans" pitchFamily="34" charset="-122"/>
                <a:cs typeface="IBM Plex Sans" pitchFamily="34" charset="-120"/>
              </a:rPr>
              <a:t>, θ̂ = 6.8.</a:t>
            </a:r>
            <a:endParaRPr lang="en-US" sz="1300" dirty="0"/>
          </a:p>
        </p:txBody>
      </p:sp>
      <p:sp>
        <p:nvSpPr>
          <p:cNvPr id="7" name="Shape 4"/>
          <p:cNvSpPr/>
          <p:nvPr/>
        </p:nvSpPr>
        <p:spPr>
          <a:xfrm>
            <a:off x="815975" y="2713286"/>
            <a:ext cx="10560050" cy="773410"/>
          </a:xfrm>
          <a:prstGeom prst="roundRect">
            <a:avLst>
              <a:gd name="adj" fmla="val 12726"/>
            </a:avLst>
          </a:prstGeom>
          <a:solidFill>
            <a:srgbClr val="FBFAF6"/>
          </a:solidFill>
          <a:ln w="6350">
            <a:solidFill>
              <a:srgbClr val="DAD8CF"/>
            </a:solidFill>
            <a:prstDash val="solid"/>
          </a:ln>
        </p:spPr>
      </p:sp>
      <p:pic>
        <p:nvPicPr>
          <p:cNvPr id="8" name="Image 1" descr="y equals beta 0 plus beta 1 x plus beta 2 z plus beta 3 x z plus epsilon">    </p:cNvPr>
          <p:cNvPicPr>
            <a:picLocks noChangeAspect="1"/>
          </p:cNvPicPr>
          <p:nvPr/>
        </p:nvPicPr>
        <p:blipFill>
          <a:blip r:embed="rId2"/>
          <a:srcRect l="-383" r="-383" t="0" b="0"/>
          <a:stretch/>
        </p:blipFill>
        <p:spPr>
          <a:xfrm>
            <a:off x="1047750" y="2915841"/>
            <a:ext cx="3314700" cy="368300"/>
          </a:xfrm>
          <a:prstGeom prst="rect">
            <a:avLst/>
          </a:prstGeom>
        </p:spPr>
      </p:pic>
      <p:sp>
        <p:nvSpPr>
          <p:cNvPr id="9" name="Text 5"/>
          <p:cNvSpPr/>
          <p:nvPr/>
        </p:nvSpPr>
        <p:spPr>
          <a:xfrm>
            <a:off x="6381750" y="2868861"/>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Interaction.</a:t>
            </a:r>
            <a:r>
              <a:rPr lang="en-US" sz="1300" dirty="0">
                <a:solidFill>
                  <a:srgbClr val="4A5568"/>
                </a:solidFill>
                <a:latin typeface="IBM Plex Sans" pitchFamily="34" charset="0"/>
                <a:ea typeface="IBM Plex Sans" pitchFamily="34" charset="-122"/>
                <a:cs typeface="IBM Plex Sans" pitchFamily="34" charset="-120"/>
              </a:rPr>
              <a:t> The slope of </a:t>
            </a:r>
            <a:r>
              <a:rPr lang="en-US" sz="1300" i="1" dirty="0">
                <a:solidFill>
                  <a:srgbClr val="4A5568"/>
                </a:solidFill>
                <a:latin typeface="IBM Plex Sans" pitchFamily="34" charset="0"/>
                <a:ea typeface="IBM Plex Sans" pitchFamily="34" charset="-122"/>
                <a:cs typeface="IBM Plex Sans" pitchFamily="34" charset="-120"/>
              </a:rPr>
              <a:t>x</a:t>
            </a:r>
            <a:r>
              <a:rPr lang="en-US" sz="1300" dirty="0">
                <a:solidFill>
                  <a:srgbClr val="4A5568"/>
                </a:solidFill>
                <a:latin typeface="IBM Plex Sans" pitchFamily="34" charset="0"/>
                <a:ea typeface="IBM Plex Sans" pitchFamily="34" charset="-122"/>
                <a:cs typeface="IBM Plex Sans" pitchFamily="34" charset="-120"/>
              </a:rPr>
              <a:t> becomes </a:t>
            </a:r>
            <a:r>
              <a:rPr lang="en-US" sz="1300" i="1" dirty="0">
                <a:solidFill>
                  <a:srgbClr val="4A5568"/>
                </a:solidFill>
                <a:latin typeface="IBM Plex Sans" pitchFamily="34" charset="0"/>
                <a:ea typeface="IBM Plex Sans" pitchFamily="34" charset="-122"/>
                <a:cs typeface="IBM Plex Sans" pitchFamily="34" charset="-120"/>
              </a:rPr>
              <a:t>β</a:t>
            </a:r>
            <a:r>
              <a:rPr lang="en-US" sz="1300" dirty="0">
                <a:solidFill>
                  <a:srgbClr val="4A5568"/>
                </a:solidFill>
                <a:latin typeface="IBM Plex Sans" pitchFamily="34" charset="0"/>
                <a:ea typeface="IBM Plex Sans" pitchFamily="34" charset="-122"/>
                <a:cs typeface="IBM Plex Sans" pitchFamily="34" charset="-120"/>
              </a:rPr>
              <a:t>1 + </a:t>
            </a:r>
            <a:r>
              <a:rPr lang="en-US" sz="1300" i="1" dirty="0">
                <a:solidFill>
                  <a:srgbClr val="4A5568"/>
                </a:solidFill>
                <a:latin typeface="IBM Plex Sans" pitchFamily="34" charset="0"/>
                <a:ea typeface="IBM Plex Sans" pitchFamily="34" charset="-122"/>
                <a:cs typeface="IBM Plex Sans" pitchFamily="34" charset="-120"/>
              </a:rPr>
              <a:t>β</a:t>
            </a:r>
            <a:r>
              <a:rPr lang="en-US" sz="1300" dirty="0">
                <a:solidFill>
                  <a:srgbClr val="4A5568"/>
                </a:solidFill>
                <a:latin typeface="IBM Plex Sans" pitchFamily="34" charset="0"/>
                <a:ea typeface="IBM Plex Sans" pitchFamily="34" charset="-122"/>
                <a:cs typeface="IBM Plex Sans" pitchFamily="34" charset="-120"/>
              </a:rPr>
              <a:t>3</a:t>
            </a:r>
            <a:r>
              <a:rPr lang="en-US" sz="1300" i="1" dirty="0">
                <a:solidFill>
                  <a:srgbClr val="4A5568"/>
                </a:solidFill>
                <a:latin typeface="IBM Plex Sans" pitchFamily="34" charset="0"/>
                <a:ea typeface="IBM Plex Sans" pitchFamily="34" charset="-122"/>
                <a:cs typeface="IBM Plex Sans" pitchFamily="34" charset="-120"/>
              </a:rPr>
              <a:t>z</a:t>
            </a:r>
            <a:r>
              <a:rPr lang="en-US" sz="1300" dirty="0">
                <a:solidFill>
                  <a:srgbClr val="4A5568"/>
                </a:solidFill>
                <a:latin typeface="IBM Plex Sans" pitchFamily="34" charset="0"/>
                <a:ea typeface="IBM Plex Sans" pitchFamily="34" charset="-122"/>
                <a:cs typeface="IBM Plex Sans" pitchFamily="34" charset="-120"/>
              </a:rPr>
              <a:t>. Panel (d): 0.16 for non-smokers, 0.16 + 0.53 = 0.69 for smokers.</a:t>
            </a:r>
            <a:endParaRPr lang="en-US" sz="1300" dirty="0"/>
          </a:p>
        </p:txBody>
      </p:sp>
      <p:sp>
        <p:nvSpPr>
          <p:cNvPr id="10" name="Shape 6"/>
          <p:cNvSpPr/>
          <p:nvPr/>
        </p:nvSpPr>
        <p:spPr>
          <a:xfrm>
            <a:off x="815975" y="3620046"/>
            <a:ext cx="10560050" cy="1004540"/>
          </a:xfrm>
          <a:prstGeom prst="roundRect">
            <a:avLst>
              <a:gd name="adj" fmla="val 9798"/>
            </a:avLst>
          </a:prstGeom>
          <a:solidFill>
            <a:srgbClr val="FBFAF6"/>
          </a:solidFill>
          <a:ln w="6350">
            <a:solidFill>
              <a:srgbClr val="DAD8CF"/>
            </a:solidFill>
            <a:prstDash val="solid"/>
          </a:ln>
        </p:spPr>
      </p:sp>
      <p:pic>
        <p:nvPicPr>
          <p:cNvPr id="11" name="Image 2" descr="y hat equals X beta hat; beta hat equals (X transpose X) inverse X transpose y">    </p:cNvPr>
          <p:cNvPicPr>
            <a:picLocks noChangeAspect="1"/>
          </p:cNvPicPr>
          <p:nvPr/>
        </p:nvPicPr>
        <p:blipFill>
          <a:blip r:embed="rId3"/>
          <a:srcRect l="0" r="0" t="0" b="0"/>
          <a:stretch/>
        </p:blipFill>
        <p:spPr>
          <a:xfrm>
            <a:off x="1047750" y="3934966"/>
            <a:ext cx="3511550" cy="374650"/>
          </a:xfrm>
          <a:prstGeom prst="rect">
            <a:avLst/>
          </a:prstGeom>
        </p:spPr>
      </p:pic>
      <p:sp>
        <p:nvSpPr>
          <p:cNvPr id="12" name="Text 7"/>
          <p:cNvSpPr/>
          <p:nvPr/>
        </p:nvSpPr>
        <p:spPr>
          <a:xfrm>
            <a:off x="6381750" y="3775621"/>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Matrix form.</a:t>
            </a:r>
            <a:r>
              <a:rPr lang="en-US" sz="1300" dirty="0">
                <a:solidFill>
                  <a:srgbClr val="4A5568"/>
                </a:solidFill>
                <a:latin typeface="IBM Plex Sans" pitchFamily="34" charset="0"/>
                <a:ea typeface="IBM Plex Sans" pitchFamily="34" charset="-122"/>
                <a:cs typeface="IBM Plex Sans" pitchFamily="34" charset="-120"/>
              </a:rPr>
              <a:t> One row of </a:t>
            </a:r>
            <a:r>
              <a:rPr lang="en-US" sz="1300" i="1" dirty="0">
                <a:solidFill>
                  <a:srgbClr val="4A5568"/>
                </a:solidFill>
                <a:latin typeface="IBM Plex Sans" pitchFamily="34" charset="0"/>
                <a:ea typeface="IBM Plex Sans" pitchFamily="34" charset="-122"/>
                <a:cs typeface="IBM Plex Sans" pitchFamily="34" charset="-120"/>
              </a:rPr>
              <a:t>X</a:t>
            </a:r>
            <a:r>
              <a:rPr lang="en-US" sz="1300" dirty="0">
                <a:solidFill>
                  <a:srgbClr val="4A5568"/>
                </a:solidFill>
                <a:latin typeface="IBM Plex Sans" pitchFamily="34" charset="0"/>
                <a:ea typeface="IBM Plex Sans" pitchFamily="34" charset="-122"/>
                <a:cs typeface="IBM Plex Sans" pitchFamily="34" charset="-120"/>
              </a:rPr>
              <a:t> per observation, first column all 1s. With β = (46.3, 3.0) and </a:t>
            </a:r>
            <a:r>
              <a:rPr lang="en-US" sz="1300" i="1" dirty="0">
                <a:solidFill>
                  <a:srgbClr val="4A5568"/>
                </a:solidFill>
                <a:latin typeface="IBM Plex Sans" pitchFamily="34" charset="0"/>
                <a:ea typeface="IBM Plex Sans" pitchFamily="34" charset="-122"/>
                <a:cs typeface="IBM Plex Sans" pitchFamily="34" charset="-120"/>
              </a:rPr>
              <a:t>x</a:t>
            </a:r>
            <a:r>
              <a:rPr lang="en-US" sz="1300" dirty="0">
                <a:solidFill>
                  <a:srgbClr val="4A5568"/>
                </a:solidFill>
                <a:latin typeface="IBM Plex Sans" pitchFamily="34" charset="0"/>
                <a:ea typeface="IBM Plex Sans" pitchFamily="34" charset="-122"/>
                <a:cs typeface="IBM Plex Sans" pitchFamily="34" charset="-120"/>
              </a:rPr>
              <a:t> = (−1, 0, 3): </a:t>
            </a:r>
            <a:r>
              <a:rPr lang="en-US" sz="1300" i="1" dirty="0">
                <a:solidFill>
                  <a:srgbClr val="4A5568"/>
                </a:solidFill>
                <a:latin typeface="IBM Plex Sans" pitchFamily="34" charset="0"/>
                <a:ea typeface="IBM Plex Sans" pitchFamily="34" charset="-122"/>
                <a:cs typeface="IBM Plex Sans" pitchFamily="34" charset="-120"/>
              </a:rPr>
              <a:t>&amp;ycirc;</a:t>
            </a:r>
            <a:r>
              <a:rPr lang="en-US" sz="1300" dirty="0">
                <a:solidFill>
                  <a:srgbClr val="4A5568"/>
                </a:solidFill>
                <a:latin typeface="IBM Plex Sans" pitchFamily="34" charset="0"/>
                <a:ea typeface="IBM Plex Sans" pitchFamily="34" charset="-122"/>
                <a:cs typeface="IBM Plex Sans" pitchFamily="34" charset="-120"/>
              </a:rPr>
              <a:t> = (43.3, 46.3, 55.3).</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Four studies, four kinds of difficulty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2721124"/>
        </p:xfrm>
        <a:graphic>
          <a:graphicData uri="http://schemas.openxmlformats.org/drawingml/2006/table">
            <a:tbl>
              <a:tblPr/>
              <a:tblGrid>
                <a:gridCol w="1794129"/>
                <a:gridCol w="3271647"/>
                <a:gridCol w="2743962"/>
                <a:gridCol w="2743962"/>
              </a:tblGrid>
              <a:tr h="359321">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Study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Question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Design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What the analysis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Xbox poll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Opinion from 750,148 interviews of gamers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Very large, non-representative sample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Regression adjusts sample to population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Electric Company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Does an educational TV show help reading?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Randomized experiment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Compare treated and control classes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UN peacekeeping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Does it prevent a return to civil war?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Observational study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Adjust for how bad the situation was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Gun laws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Effect of 25 firearm laws on deaths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Observational, 50 states, 30 predictors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Estimates hopelessly noisy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Four studies, in numbers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2952254"/>
        </p:xfrm>
        <a:graphic>
          <a:graphicData uri="http://schemas.openxmlformats.org/drawingml/2006/table">
            <a:tbl>
              <a:tblPr/>
              <a:tblGrid>
                <a:gridCol w="1794129"/>
                <a:gridCol w="4643628"/>
                <a:gridCol w="4115943"/>
              </a:tblGrid>
              <a:tr h="359321">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Study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Facts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The issue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Xbox poll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750,148 interviews of 345,858 gamers, mostly young men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Raw result is far from the population; adjust by age, sex, education, state, past vote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82158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Electric Company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Grades 1 to 4; within each school, pairs of classes, one chosen at random to watch the show; reading test before and after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Randomization compares like with like; use the pre-test to sharpen the comparison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UN peacekeeping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96 ceasefires in 64 wars. Peace lasted in 56% of cases with peacekeepers, 34% without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Peacekeepers were sent to the easier cases, so adjust for how bad the situation was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59045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Gun laws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25 laws, 50 states, 30 predictors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More parameters than information: estimates are mostly noise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REGRESSION: A FIRST LOOK</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Why trust one regression and not the other?</a:t>
            </a:r>
            <a:endParaRPr lang="en-US" sz="3000" dirty="0"/>
          </a:p>
        </p:txBody>
      </p:sp>
      <p:sp>
        <p:nvSpPr>
          <p:cNvPr id="4" name="Shape 2"/>
          <p:cNvSpPr/>
          <p:nvPr/>
        </p:nvSpPr>
        <p:spPr>
          <a:xfrm>
            <a:off x="815975" y="1575395"/>
            <a:ext cx="5175250" cy="2111970"/>
          </a:xfrm>
          <a:prstGeom prst="roundRect">
            <a:avLst>
              <a:gd name="adj" fmla="val 4660"/>
            </a:avLst>
          </a:prstGeom>
          <a:solidFill>
            <a:srgbClr val="FBFAF6"/>
          </a:solidFill>
          <a:ln w="6350">
            <a:solidFill>
              <a:srgbClr val="DAD8CF"/>
            </a:solidFill>
            <a:prstDash val="solid"/>
          </a:ln>
        </p:spPr>
      </p:sp>
      <p:sp>
        <p:nvSpPr>
          <p:cNvPr id="5" name="Text 3"/>
          <p:cNvSpPr/>
          <p:nvPr/>
        </p:nvSpPr>
        <p:spPr>
          <a:xfrm>
            <a:off x="1073150" y="180717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6FBB"/>
                </a:solidFill>
                <a:latin typeface="IBM Plex Sans" pitchFamily="34" charset="0"/>
                <a:ea typeface="IBM Plex Sans" pitchFamily="34" charset="-122"/>
                <a:cs typeface="IBM Plex Sans" pitchFamily="34" charset="-120"/>
              </a:rPr>
              <a:t>MORE CONVINCING · PEACEKEEPING</a:t>
            </a:r>
            <a:endParaRPr lang="en-US" sz="1200" dirty="0"/>
          </a:p>
        </p:txBody>
      </p:sp>
      <p:sp>
        <p:nvSpPr>
          <p:cNvPr id="6" name="Text 4"/>
          <p:cNvSpPr/>
          <p:nvPr/>
        </p:nvSpPr>
        <p:spPr>
          <a:xfrm>
            <a:off x="1144270" y="2122091"/>
            <a:ext cx="4721987" cy="13589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B2633"/>
                </a:solidFill>
                <a:latin typeface="IBM Plex Sans" pitchFamily="34" charset="0"/>
                <a:ea typeface="IBM Plex Sans" pitchFamily="34" charset="-122"/>
                <a:cs typeface="IBM Plex Sans" pitchFamily="34" charset="-120"/>
              </a:rPr>
              <a:t>Starts from a direct comparison of the data.</a:t>
            </a:r>
            <a:endParaRPr lang="en-US" sz="1500" dirty="0"/>
          </a:p>
          <a:p>
            <a:pPr algn="l" marL="182880" indent="-182880">
              <a:lnSpc>
                <a:spcPts val="2100"/>
              </a:lnSpc>
              <a:buSzPct val="100000"/>
              <a:buChar char="•"/>
            </a:pPr>
            <a:r>
              <a:rPr lang="en-US" sz="1500" dirty="0">
                <a:solidFill>
                  <a:srgbClr val="1B2633"/>
                </a:solidFill>
                <a:latin typeface="IBM Plex Sans" pitchFamily="34" charset="0"/>
                <a:ea typeface="IBM Plex Sans" pitchFamily="34" charset="-122"/>
                <a:cs typeface="IBM Plex Sans" pitchFamily="34" charset="-120"/>
              </a:rPr>
              <a:t>Targets one concrete worry: peacekeepers may have picked easy cases.</a:t>
            </a:r>
            <a:endParaRPr lang="en-US" sz="1500" dirty="0"/>
          </a:p>
          <a:p>
            <a:pPr algn="l" marL="182880" indent="-182880">
              <a:lnSpc>
                <a:spcPts val="2100"/>
              </a:lnSpc>
              <a:buSzPct val="100000"/>
              <a:buChar char="•"/>
            </a:pPr>
            <a:r>
              <a:rPr lang="en-US" sz="1500" dirty="0">
                <a:solidFill>
                  <a:srgbClr val="1B2633"/>
                </a:solidFill>
                <a:latin typeface="IBM Plex Sans" pitchFamily="34" charset="0"/>
                <a:ea typeface="IBM Plex Sans" pitchFamily="34" charset="-122"/>
                <a:cs typeface="IBM Plex Sans" pitchFamily="34" charset="-120"/>
              </a:rPr>
              <a:t>One clear adjustment, and the data show the opposite of the worry.</a:t>
            </a:r>
            <a:endParaRPr lang="en-US" sz="1500" dirty="0"/>
          </a:p>
        </p:txBody>
      </p:sp>
      <p:sp>
        <p:nvSpPr>
          <p:cNvPr id="7" name="Shape 5"/>
          <p:cNvSpPr/>
          <p:nvPr/>
        </p:nvSpPr>
        <p:spPr>
          <a:xfrm>
            <a:off x="6200775" y="1575395"/>
            <a:ext cx="5175250" cy="2111970"/>
          </a:xfrm>
          <a:prstGeom prst="roundRect">
            <a:avLst>
              <a:gd name="adj" fmla="val 4660"/>
            </a:avLst>
          </a:prstGeom>
          <a:solidFill>
            <a:srgbClr val="FBFAF6"/>
          </a:solidFill>
          <a:ln w="6350">
            <a:solidFill>
              <a:srgbClr val="DAD8CF"/>
            </a:solidFill>
            <a:prstDash val="solid"/>
          </a:ln>
        </p:spPr>
      </p:sp>
      <p:sp>
        <p:nvSpPr>
          <p:cNvPr id="8" name="Text 6"/>
          <p:cNvSpPr/>
          <p:nvPr/>
        </p:nvSpPr>
        <p:spPr>
          <a:xfrm>
            <a:off x="6457950" y="180717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LESS CONVINCING · GUN LAWS</a:t>
            </a:r>
            <a:endParaRPr lang="en-US" sz="1200" dirty="0"/>
          </a:p>
        </p:txBody>
      </p:sp>
      <p:sp>
        <p:nvSpPr>
          <p:cNvPr id="9" name="Text 7"/>
          <p:cNvSpPr/>
          <p:nvPr/>
        </p:nvSpPr>
        <p:spPr>
          <a:xfrm>
            <a:off x="6529070" y="2122091"/>
            <a:ext cx="4721987" cy="13589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B2633"/>
                </a:solidFill>
                <a:latin typeface="IBM Plex Sans" pitchFamily="34" charset="0"/>
                <a:ea typeface="IBM Plex Sans" pitchFamily="34" charset="-122"/>
                <a:cs typeface="IBM Plex Sans" pitchFamily="34" charset="-120"/>
              </a:rPr>
              <a:t>30 predictors for 50 data points: noisy coefficients.</a:t>
            </a:r>
            <a:endParaRPr lang="en-US" sz="1500" dirty="0"/>
          </a:p>
          <a:p>
            <a:pPr algn="l" marL="182880" indent="-182880">
              <a:lnSpc>
                <a:spcPts val="2100"/>
              </a:lnSpc>
              <a:buSzPct val="100000"/>
              <a:buChar char="•"/>
            </a:pPr>
            <a:r>
              <a:rPr lang="en-US" sz="1500" dirty="0">
                <a:solidFill>
                  <a:srgbClr val="1B2633"/>
                </a:solidFill>
                <a:latin typeface="IBM Plex Sans" pitchFamily="34" charset="0"/>
                <a:ea typeface="IBM Plex Sans" pitchFamily="34" charset="-122"/>
                <a:cs typeface="IBM Plex Sans" pitchFamily="34" charset="-120"/>
              </a:rPr>
              <a:t>States differ in many ways the model does not capture.</a:t>
            </a:r>
            <a:endParaRPr lang="en-US" sz="1500" dirty="0"/>
          </a:p>
          <a:p>
            <a:pPr algn="l" marL="182880" indent="-182880">
              <a:lnSpc>
                <a:spcPts val="2100"/>
              </a:lnSpc>
              <a:buSzPct val="100000"/>
              <a:buChar char="•"/>
            </a:pPr>
            <a:r>
              <a:rPr lang="en-US" sz="1500" dirty="0">
                <a:solidFill>
                  <a:srgbClr val="1B2633"/>
                </a:solidFill>
                <a:latin typeface="IBM Plex Sans" pitchFamily="34" charset="0"/>
                <a:ea typeface="IBM Plex Sans" pitchFamily="34" charset="-122"/>
                <a:cs typeface="IBM Plex Sans" pitchFamily="34" charset="-120"/>
              </a:rPr>
              <a:t>Each law is "held fixed" while others change, which is unrealistic.</a:t>
            </a:r>
            <a:endParaRPr lang="en-US" sz="1500" dirty="0"/>
          </a:p>
        </p:txBody>
      </p:sp>
      <p:sp>
        <p:nvSpPr>
          <p:cNvPr id="10" name="Text 8"/>
          <p:cNvSpPr/>
          <p:nvPr/>
        </p:nvSpPr>
        <p:spPr>
          <a:xfrm>
            <a:off x="812800" y="3944541"/>
            <a:ext cx="10883392"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0F2A4A"/>
                </a:solidFill>
                <a:latin typeface="Source Serif 4" pitchFamily="18" charset="0"/>
                <a:ea typeface="Source Serif 4" pitchFamily="18" charset="-122"/>
                <a:cs typeface="Source Serif 4" pitchFamily="18" charset="-120"/>
              </a:rPr>
              <a:t>A regression cannot turn observational data into proof, and p-values do not screen out noise.</a:t>
            </a:r>
            <a:endParaRPr lang="en-US" sz="1700" dirty="0"/>
          </a:p>
        </p:txBody>
      </p:sp>
      <p:sp>
        <p:nvSpPr>
          <p:cNvPr id="11" name="Text 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Two questions about every measurement</a:t>
            </a:r>
            <a:endParaRPr lang="en-US" sz="3000" dirty="0"/>
          </a:p>
        </p:txBody>
      </p:sp>
      <p:sp>
        <p:nvSpPr>
          <p:cNvPr id="4" name="Shape 2"/>
          <p:cNvSpPr/>
          <p:nvPr/>
        </p:nvSpPr>
        <p:spPr>
          <a:xfrm>
            <a:off x="815975" y="1575395"/>
            <a:ext cx="5175250" cy="2216001"/>
          </a:xfrm>
          <a:prstGeom prst="roundRect">
            <a:avLst>
              <a:gd name="adj" fmla="val 4442"/>
            </a:avLst>
          </a:prstGeom>
          <a:solidFill>
            <a:srgbClr val="FBFAF6"/>
          </a:solidFill>
          <a:ln w="6350">
            <a:solidFill>
              <a:srgbClr val="DAD8CF"/>
            </a:solidFill>
            <a:prstDash val="solid"/>
          </a:ln>
        </p:spPr>
      </p:sp>
      <p:sp>
        <p:nvSpPr>
          <p:cNvPr id="5" name="Text 3"/>
          <p:cNvSpPr/>
          <p:nvPr/>
        </p:nvSpPr>
        <p:spPr>
          <a:xfrm>
            <a:off x="1073150" y="1832570"/>
            <a:ext cx="4800727"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F2A4A"/>
                </a:solidFill>
                <a:latin typeface="Source Serif 4" pitchFamily="18" charset="0"/>
                <a:ea typeface="Source Serif 4" pitchFamily="18" charset="-122"/>
                <a:cs typeface="Source Serif 4" pitchFamily="18" charset="-120"/>
              </a:rPr>
              <a:t>Reliability</a:t>
            </a:r>
            <a:endParaRPr lang="en-US" sz="2400" dirty="0"/>
          </a:p>
        </p:txBody>
      </p:sp>
      <p:sp>
        <p:nvSpPr>
          <p:cNvPr id="6" name="Text 4"/>
          <p:cNvSpPr/>
          <p:nvPr/>
        </p:nvSpPr>
        <p:spPr>
          <a:xfrm>
            <a:off x="1073150" y="2299891"/>
            <a:ext cx="48007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61A"/>
                </a:solidFill>
                <a:latin typeface="IBM Plex Sans" pitchFamily="34" charset="0"/>
                <a:ea typeface="IBM Plex Sans" pitchFamily="34" charset="-122"/>
                <a:cs typeface="IBM Plex Sans" pitchFamily="34" charset="-120"/>
              </a:rPr>
              <a:t>Noise</a:t>
            </a:r>
            <a:endParaRPr lang="en-US" sz="1400" dirty="0"/>
          </a:p>
        </p:txBody>
      </p:sp>
      <p:sp>
        <p:nvSpPr>
          <p:cNvPr id="7" name="Text 5"/>
          <p:cNvSpPr/>
          <p:nvPr/>
        </p:nvSpPr>
        <p:spPr>
          <a:xfrm>
            <a:off x="1073150" y="2650381"/>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If I measure again, do I get the same answer?</a:t>
            </a:r>
            <a:endParaRPr lang="en-US" sz="1600" dirty="0"/>
          </a:p>
        </p:txBody>
      </p:sp>
      <p:sp>
        <p:nvSpPr>
          <p:cNvPr id="8" name="Text 6"/>
          <p:cNvSpPr/>
          <p:nvPr/>
        </p:nvSpPr>
        <p:spPr>
          <a:xfrm>
            <a:off x="1073150" y="3036441"/>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scale that shows 71.2, 70.9 and 71.1 kg on three tries is reliable.</a:t>
            </a:r>
            <a:endParaRPr lang="en-US" sz="1400" dirty="0"/>
          </a:p>
        </p:txBody>
      </p:sp>
      <p:sp>
        <p:nvSpPr>
          <p:cNvPr id="9" name="Shape 7"/>
          <p:cNvSpPr/>
          <p:nvPr/>
        </p:nvSpPr>
        <p:spPr>
          <a:xfrm>
            <a:off x="6200775" y="1575395"/>
            <a:ext cx="5175250" cy="2216001"/>
          </a:xfrm>
          <a:prstGeom prst="roundRect">
            <a:avLst>
              <a:gd name="adj" fmla="val 4442"/>
            </a:avLst>
          </a:prstGeom>
          <a:solidFill>
            <a:srgbClr val="FBFAF6"/>
          </a:solidFill>
          <a:ln w="6350">
            <a:solidFill>
              <a:srgbClr val="DAD8CF"/>
            </a:solidFill>
            <a:prstDash val="solid"/>
          </a:ln>
        </p:spPr>
      </p:sp>
      <p:sp>
        <p:nvSpPr>
          <p:cNvPr id="10" name="Text 8"/>
          <p:cNvSpPr/>
          <p:nvPr/>
        </p:nvSpPr>
        <p:spPr>
          <a:xfrm>
            <a:off x="6457950" y="1832570"/>
            <a:ext cx="4800727"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0F2A4A"/>
                </a:solidFill>
                <a:latin typeface="Source Serif 4" pitchFamily="18" charset="0"/>
                <a:ea typeface="Source Serif 4" pitchFamily="18" charset="-122"/>
                <a:cs typeface="Source Serif 4" pitchFamily="18" charset="-120"/>
              </a:rPr>
              <a:t>Validity</a:t>
            </a:r>
            <a:endParaRPr lang="en-US" sz="2400" dirty="0"/>
          </a:p>
        </p:txBody>
      </p:sp>
      <p:sp>
        <p:nvSpPr>
          <p:cNvPr id="11" name="Text 9"/>
          <p:cNvSpPr/>
          <p:nvPr/>
        </p:nvSpPr>
        <p:spPr>
          <a:xfrm>
            <a:off x="6457950" y="2299891"/>
            <a:ext cx="48007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61A"/>
                </a:solidFill>
                <a:latin typeface="IBM Plex Sans" pitchFamily="34" charset="0"/>
                <a:ea typeface="IBM Plex Sans" pitchFamily="34" charset="-122"/>
                <a:cs typeface="IBM Plex Sans" pitchFamily="34" charset="-120"/>
              </a:rPr>
              <a:t>Bias</a:t>
            </a:r>
            <a:endParaRPr lang="en-US" sz="1400" dirty="0"/>
          </a:p>
        </p:txBody>
      </p:sp>
      <p:sp>
        <p:nvSpPr>
          <p:cNvPr id="12" name="Text 10"/>
          <p:cNvSpPr/>
          <p:nvPr/>
        </p:nvSpPr>
        <p:spPr>
          <a:xfrm>
            <a:off x="6457950" y="2650381"/>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Does it capture what I actually care about?</a:t>
            </a:r>
            <a:endParaRPr lang="en-US" sz="1600" dirty="0"/>
          </a:p>
        </p:txBody>
      </p:sp>
      <p:sp>
        <p:nvSpPr>
          <p:cNvPr id="13" name="Text 11"/>
          <p:cNvSpPr/>
          <p:nvPr/>
        </p:nvSpPr>
        <p:spPr>
          <a:xfrm>
            <a:off x="6457950" y="303644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same scale, 3 kg off, is reliable but not valid.</a:t>
            </a:r>
            <a:endParaRPr lang="en-US" sz="1400" dirty="0"/>
          </a:p>
        </p:txBody>
      </p:sp>
      <p:sp>
        <p:nvSpPr>
          <p:cNvPr id="14" name="Text 12"/>
          <p:cNvSpPr/>
          <p:nvPr/>
        </p:nvSpPr>
        <p:spPr>
          <a:xfrm>
            <a:off x="812800" y="4048571"/>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2A4A"/>
                </a:solidFill>
                <a:latin typeface="Source Serif 4" pitchFamily="18" charset="0"/>
                <a:ea typeface="Source Serif 4" pitchFamily="18" charset="-122"/>
                <a:cs typeface="Source Serif 4" pitchFamily="18" charset="-120"/>
              </a:rPr>
              <a:t>Can you build one that is reliable but not valid? We can, on purpose.</a:t>
            </a:r>
            <a:endParaRPr lang="en-US" sz="17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Reliability and validity, formally</a:t>
            </a:r>
            <a:endParaRPr lang="en-US" sz="3000" dirty="0"/>
          </a:p>
        </p:txBody>
      </p:sp>
      <p:sp>
        <p:nvSpPr>
          <p:cNvPr id="4" name="Shape 2"/>
          <p:cNvSpPr/>
          <p:nvPr/>
        </p:nvSpPr>
        <p:spPr>
          <a:xfrm>
            <a:off x="815975" y="1575395"/>
            <a:ext cx="10560050" cy="773410"/>
          </a:xfrm>
          <a:prstGeom prst="roundRect">
            <a:avLst>
              <a:gd name="adj" fmla="val 12726"/>
            </a:avLst>
          </a:prstGeom>
          <a:solidFill>
            <a:srgbClr val="FBFAF6"/>
          </a:solidFill>
          <a:ln w="6350">
            <a:solidFill>
              <a:srgbClr val="DAD8CF"/>
            </a:solidFill>
            <a:prstDash val="solid"/>
          </a:ln>
        </p:spPr>
      </p:sp>
      <p:pic>
        <p:nvPicPr>
          <p:cNvPr id="5" name="Image 0" descr="x i equals T i plus b plus e i, with expectation of e i equal to 0 and sd sigma e">    </p:cNvPr>
          <p:cNvPicPr>
            <a:picLocks noChangeAspect="1"/>
          </p:cNvPicPr>
          <p:nvPr/>
        </p:nvPicPr>
        <p:blipFill>
          <a:blip r:embed="rId1"/>
          <a:srcRect l="-399" r="-399" t="0" b="0"/>
          <a:stretch/>
        </p:blipFill>
        <p:spPr>
          <a:xfrm>
            <a:off x="1047750" y="1777950"/>
            <a:ext cx="4933950" cy="368300"/>
          </a:xfrm>
          <a:prstGeom prst="rect">
            <a:avLst/>
          </a:prstGeom>
        </p:spPr>
      </p:pic>
      <p:sp>
        <p:nvSpPr>
          <p:cNvPr id="6" name="Text 3"/>
          <p:cNvSpPr/>
          <p:nvPr/>
        </p:nvSpPr>
        <p:spPr>
          <a:xfrm>
            <a:off x="6381750" y="17309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Measurement model.</a:t>
            </a:r>
            <a:r>
              <a:rPr lang="en-US" sz="1300" dirty="0">
                <a:solidFill>
                  <a:srgbClr val="4A5568"/>
                </a:solidFill>
                <a:latin typeface="IBM Plex Sans" pitchFamily="34" charset="0"/>
                <a:ea typeface="IBM Plex Sans" pitchFamily="34" charset="-122"/>
                <a:cs typeface="IBM Plex Sans" pitchFamily="34" charset="-120"/>
              </a:rPr>
              <a:t> What we record = true value </a:t>
            </a:r>
            <a:r>
              <a:rPr lang="en-US" sz="1300" i="1" dirty="0">
                <a:solidFill>
                  <a:srgbClr val="4A5568"/>
                </a:solidFill>
                <a:latin typeface="IBM Plex Sans" pitchFamily="34" charset="0"/>
                <a:ea typeface="IBM Plex Sans" pitchFamily="34" charset="-122"/>
                <a:cs typeface="IBM Plex Sans" pitchFamily="34" charset="-120"/>
              </a:rPr>
              <a:t>T</a:t>
            </a:r>
            <a:r>
              <a:rPr lang="en-US" sz="1300" dirty="0">
                <a:solidFill>
                  <a:srgbClr val="4A5568"/>
                </a:solidFill>
                <a:latin typeface="IBM Plex Sans" pitchFamily="34" charset="0"/>
                <a:ea typeface="IBM Plex Sans" pitchFamily="34" charset="-122"/>
                <a:cs typeface="IBM Plex Sans" pitchFamily="34" charset="-120"/>
              </a:rPr>
              <a:t> + a systematic bias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 random noise </a:t>
            </a:r>
            <a:r>
              <a:rPr lang="en-US" sz="1300" i="1" dirty="0">
                <a:solidFill>
                  <a:srgbClr val="4A5568"/>
                </a:solidFill>
                <a:latin typeface="IBM Plex Sans" pitchFamily="34" charset="0"/>
                <a:ea typeface="IBM Plex Sans" pitchFamily="34" charset="-122"/>
                <a:cs typeface="IBM Plex Sans" pitchFamily="34" charset="-120"/>
              </a:rPr>
              <a:t>e</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7" name="Shape 4"/>
          <p:cNvSpPr/>
          <p:nvPr/>
        </p:nvSpPr>
        <p:spPr>
          <a:xfrm>
            <a:off x="815975" y="2482155"/>
            <a:ext cx="10560050" cy="1073150"/>
          </a:xfrm>
          <a:prstGeom prst="roundRect">
            <a:avLst>
              <a:gd name="adj" fmla="val 9172"/>
            </a:avLst>
          </a:prstGeom>
          <a:solidFill>
            <a:srgbClr val="FBFAF6"/>
          </a:solidFill>
          <a:ln w="6350">
            <a:solidFill>
              <a:srgbClr val="DAD8CF"/>
            </a:solidFill>
            <a:prstDash val="solid"/>
          </a:ln>
        </p:spPr>
      </p:sp>
      <p:pic>
        <p:nvPicPr>
          <p:cNvPr id="8" name="Image 1" descr="reliability equals var T over var T plus sigma e squared, approximately the correlation between two repeated measurements">    </p:cNvPr>
          <p:cNvPicPr>
            <a:picLocks noChangeAspect="1"/>
          </p:cNvPicPr>
          <p:nvPr/>
        </p:nvPicPr>
        <p:blipFill>
          <a:blip r:embed="rId2"/>
          <a:srcRect l="-208" r="-208" t="0" b="0"/>
          <a:stretch/>
        </p:blipFill>
        <p:spPr>
          <a:xfrm>
            <a:off x="1047750" y="2637730"/>
            <a:ext cx="4603750" cy="762000"/>
          </a:xfrm>
          <a:prstGeom prst="rect">
            <a:avLst/>
          </a:prstGeom>
        </p:spPr>
      </p:pic>
      <p:sp>
        <p:nvSpPr>
          <p:cNvPr id="9" name="Text 5"/>
          <p:cNvSpPr/>
          <p:nvPr/>
        </p:nvSpPr>
        <p:spPr>
          <a:xfrm>
            <a:off x="6381750" y="2672011"/>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Reliability.</a:t>
            </a:r>
            <a:r>
              <a:rPr lang="en-US" sz="1300" dirty="0">
                <a:solidFill>
                  <a:srgbClr val="4A5568"/>
                </a:solidFill>
                <a:latin typeface="IBM Plex Sans" pitchFamily="34" charset="0"/>
                <a:ea typeface="IBM Plex Sans" pitchFamily="34" charset="-122"/>
                <a:cs typeface="IBM Plex Sans" pitchFamily="34" charset="-120"/>
              </a:rPr>
              <a:t> The share of the variance that is signal, between 0 and 1. Estimated by the test–retest correlation, or by agreement between two raters.</a:t>
            </a:r>
            <a:endParaRPr lang="en-US" sz="1300" dirty="0"/>
          </a:p>
        </p:txBody>
      </p:sp>
      <p:sp>
        <p:nvSpPr>
          <p:cNvPr id="10" name="Shape 6"/>
          <p:cNvSpPr/>
          <p:nvPr/>
        </p:nvSpPr>
        <p:spPr>
          <a:xfrm>
            <a:off x="815975" y="3688655"/>
            <a:ext cx="10560050" cy="773410"/>
          </a:xfrm>
          <a:prstGeom prst="roundRect">
            <a:avLst>
              <a:gd name="adj" fmla="val 12726"/>
            </a:avLst>
          </a:prstGeom>
          <a:solidFill>
            <a:srgbClr val="FBFAF6"/>
          </a:solidFill>
          <a:ln w="6350">
            <a:solidFill>
              <a:srgbClr val="DAD8CF"/>
            </a:solidFill>
            <a:prstDash val="solid"/>
          </a:ln>
        </p:spPr>
      </p:sp>
      <p:pic>
        <p:nvPicPr>
          <p:cNvPr id="11" name="Image 2" descr="bias equals expectation of x i minus T i, equal to b">    </p:cNvPr>
          <p:cNvPicPr>
            <a:picLocks noChangeAspect="1"/>
          </p:cNvPicPr>
          <p:nvPr/>
        </p:nvPicPr>
        <p:blipFill>
          <a:blip r:embed="rId3"/>
          <a:srcRect l="-431" r="-431" t="0" b="0"/>
          <a:stretch/>
        </p:blipFill>
        <p:spPr>
          <a:xfrm>
            <a:off x="1047750" y="3891211"/>
            <a:ext cx="2305050" cy="368300"/>
          </a:xfrm>
          <a:prstGeom prst="rect">
            <a:avLst/>
          </a:prstGeom>
        </p:spPr>
      </p:pic>
      <p:sp>
        <p:nvSpPr>
          <p:cNvPr id="12" name="Text 7"/>
          <p:cNvSpPr/>
          <p:nvPr/>
        </p:nvSpPr>
        <p:spPr>
          <a:xfrm>
            <a:off x="6381750" y="384423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Validity (bias).</a:t>
            </a:r>
            <a:r>
              <a:rPr lang="en-US" sz="1300" dirty="0">
                <a:solidFill>
                  <a:srgbClr val="4A5568"/>
                </a:solidFill>
                <a:latin typeface="IBM Plex Sans" pitchFamily="34" charset="0"/>
                <a:ea typeface="IBM Plex Sans" pitchFamily="34" charset="-122"/>
                <a:cs typeface="IBM Plex Sans" pitchFamily="34" charset="-120"/>
              </a:rPr>
              <a:t> A valid measure is right on average: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 0. The scale that is 3 kg off has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 3, however reliable it is.</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Reliable is not the same as valid</a:t>
            </a:r>
            <a:endParaRPr lang="en-US" sz="3000" dirty="0"/>
          </a:p>
        </p:txBody>
      </p:sp>
      <p:pic>
        <p:nvPicPr>
          <p:cNvPr id="4" name="Image 0" descr="Left: two sittings of the same noisy test, correlated 0.8. Right: a very repeatable test that scores group 1 lower although true ability is the same">    </p:cNvPr>
          <p:cNvPicPr>
            <a:picLocks noChangeAspect="1"/>
          </p:cNvPicPr>
          <p:nvPr/>
        </p:nvPicPr>
        <p:blipFill>
          <a:blip r:embed="rId1"/>
          <a:srcRect l="0" r="0" t="-13" b="-13"/>
          <a:stretch/>
        </p:blipFill>
        <p:spPr>
          <a:xfrm>
            <a:off x="812800" y="1572220"/>
            <a:ext cx="9398000" cy="3638550"/>
          </a:xfrm>
          <a:prstGeom prst="rect">
            <a:avLst/>
          </a:prstGeom>
        </p:spPr>
      </p:pic>
      <p:sp>
        <p:nvSpPr>
          <p:cNvPr id="5" name="Text 2"/>
          <p:cNvSpPr/>
          <p:nvPr/>
        </p:nvSpPr>
        <p:spPr>
          <a:xfrm>
            <a:off x="812800" y="54647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Test 1 is noisy but fair. Test 3 is almost perfectly repeatable and still says group 1 is less able. More data will not fix that.</a:t>
            </a:r>
            <a:endParaRPr lang="en-US" sz="15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Simulated data · Notebook §2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How precise must a measurement be?</a:t>
            </a:r>
            <a:endParaRPr lang="en-US" sz="3000" dirty="0"/>
          </a:p>
        </p:txBody>
      </p:sp>
      <p:sp>
        <p:nvSpPr>
          <p:cNvPr id="4" name="Shape 2"/>
          <p:cNvSpPr/>
          <p:nvPr/>
        </p:nvSpPr>
        <p:spPr>
          <a:xfrm>
            <a:off x="815975" y="1575395"/>
            <a:ext cx="3380284" cy="1629370"/>
          </a:xfrm>
          <a:prstGeom prst="roundRect">
            <a:avLst>
              <a:gd name="adj" fmla="val 6041"/>
            </a:avLst>
          </a:prstGeom>
          <a:solidFill>
            <a:srgbClr val="FBFAF6"/>
          </a:solidFill>
          <a:ln w="6350">
            <a:solidFill>
              <a:srgbClr val="DAD8CF"/>
            </a:solidFill>
            <a:prstDash val="solid"/>
          </a:ln>
        </p:spPr>
      </p:sp>
      <p:sp>
        <p:nvSpPr>
          <p:cNvPr id="5" name="Text 3"/>
          <p:cNvSpPr/>
          <p:nvPr/>
        </p:nvSpPr>
        <p:spPr>
          <a:xfrm>
            <a:off x="1022350" y="175637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It depends on the use</a:t>
            </a:r>
            <a:endParaRPr lang="en-US" sz="1500" dirty="0"/>
          </a:p>
        </p:txBody>
      </p:sp>
      <p:sp>
        <p:nvSpPr>
          <p:cNvPr id="6" name="Text 4"/>
          <p:cNvSpPr/>
          <p:nvPr/>
        </p:nvSpPr>
        <p:spPr>
          <a:xfrm>
            <a:off x="1022350" y="2099270"/>
            <a:ext cx="305656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1 kg scale is fine for weighing elephants and useless in a pharmacy.</a:t>
            </a:r>
            <a:endParaRPr lang="en-US" sz="1300" dirty="0"/>
          </a:p>
        </p:txBody>
      </p:sp>
      <p:sp>
        <p:nvSpPr>
          <p:cNvPr id="7" name="Shape 5"/>
          <p:cNvSpPr/>
          <p:nvPr/>
        </p:nvSpPr>
        <p:spPr>
          <a:xfrm>
            <a:off x="4405809" y="1575395"/>
            <a:ext cx="3380333" cy="1629370"/>
          </a:xfrm>
          <a:prstGeom prst="roundRect">
            <a:avLst>
              <a:gd name="adj" fmla="val 6041"/>
            </a:avLst>
          </a:prstGeom>
          <a:solidFill>
            <a:srgbClr val="FBFAF6"/>
          </a:solidFill>
          <a:ln w="6350">
            <a:solidFill>
              <a:srgbClr val="DAD8CF"/>
            </a:solidFill>
            <a:prstDash val="solid"/>
          </a:ln>
        </p:spPr>
      </p:sp>
      <p:sp>
        <p:nvSpPr>
          <p:cNvPr id="8" name="Text 6"/>
          <p:cNvSpPr/>
          <p:nvPr/>
        </p:nvSpPr>
        <p:spPr>
          <a:xfrm>
            <a:off x="4612184"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Scores are constructed</a:t>
            </a:r>
            <a:endParaRPr lang="en-US" sz="1500" dirty="0"/>
          </a:p>
        </p:txBody>
      </p:sp>
      <p:sp>
        <p:nvSpPr>
          <p:cNvPr id="9" name="Text 7"/>
          <p:cNvSpPr/>
          <p:nvPr/>
        </p:nvSpPr>
        <p:spPr>
          <a:xfrm>
            <a:off x="4612184" y="2099270"/>
            <a:ext cx="305661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depression inventory has 21 items scored 0 to 3, so totals run from 0 to 63. A number, but a built one.</a:t>
            </a:r>
            <a:endParaRPr lang="en-US" sz="1300" dirty="0"/>
          </a:p>
        </p:txBody>
      </p:sp>
      <p:sp>
        <p:nvSpPr>
          <p:cNvPr id="10" name="Shape 8"/>
          <p:cNvSpPr/>
          <p:nvPr/>
        </p:nvSpPr>
        <p:spPr>
          <a:xfrm>
            <a:off x="7995692" y="1575395"/>
            <a:ext cx="3380333" cy="1629370"/>
          </a:xfrm>
          <a:prstGeom prst="roundRect">
            <a:avLst>
              <a:gd name="adj" fmla="val 6041"/>
            </a:avLst>
          </a:prstGeom>
          <a:solidFill>
            <a:srgbClr val="FBFAF6"/>
          </a:solidFill>
          <a:ln w="6350">
            <a:solidFill>
              <a:srgbClr val="DAD8CF"/>
            </a:solidFill>
            <a:prstDash val="solid"/>
          </a:ln>
        </p:spPr>
      </p:sp>
      <p:sp>
        <p:nvSpPr>
          <p:cNvPr id="11" name="Text 9"/>
          <p:cNvSpPr/>
          <p:nvPr/>
        </p:nvSpPr>
        <p:spPr>
          <a:xfrm>
            <a:off x="8202067"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Definitions fail</a:t>
            </a:r>
            <a:endParaRPr lang="en-US" sz="1500" dirty="0"/>
          </a:p>
        </p:txBody>
      </p:sp>
      <p:sp>
        <p:nvSpPr>
          <p:cNvPr id="12" name="Text 10"/>
          <p:cNvSpPr/>
          <p:nvPr/>
        </p:nvSpPr>
        <p:spPr>
          <a:xfrm>
            <a:off x="8202067" y="2099270"/>
            <a:ext cx="3056611"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“Never smoker” means fewer than 100 cigarettes in a lifetime. For an adolescent who smoked 50, that is a poor definition.</a:t>
            </a:r>
            <a:endParaRPr lang="en-US" sz="13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Composite measures and similar-looking questions</a:t>
            </a:r>
            <a:endParaRPr lang="en-US" sz="3000" dirty="0"/>
          </a:p>
        </p:txBody>
      </p:sp>
      <p:sp>
        <p:nvSpPr>
          <p:cNvPr id="4" name="Shape 2"/>
          <p:cNvSpPr/>
          <p:nvPr/>
        </p:nvSpPr>
        <p:spPr>
          <a:xfrm>
            <a:off x="815975" y="1575395"/>
            <a:ext cx="5175250" cy="1398240"/>
          </a:xfrm>
          <a:prstGeom prst="roundRect">
            <a:avLst>
              <a:gd name="adj" fmla="val 7039"/>
            </a:avLst>
          </a:prstGeom>
          <a:solidFill>
            <a:srgbClr val="FBFAF6"/>
          </a:solidFill>
          <a:ln w="6350">
            <a:solidFill>
              <a:srgbClr val="DAD8CF"/>
            </a:solidFill>
            <a:prstDash val="solid"/>
          </a:ln>
        </p:spPr>
      </p:sp>
      <p:sp>
        <p:nvSpPr>
          <p:cNvPr id="5" name="Text 3"/>
          <p:cNvSpPr/>
          <p:nvPr/>
        </p:nvSpPr>
        <p:spPr>
          <a:xfrm>
            <a:off x="1022350" y="1756370"/>
            <a:ext cx="490537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A composite index</a:t>
            </a:r>
            <a:endParaRPr lang="en-US" sz="1500" dirty="0"/>
          </a:p>
        </p:txBody>
      </p:sp>
      <p:sp>
        <p:nvSpPr>
          <p:cNvPr id="6" name="Text 4"/>
          <p:cNvSpPr/>
          <p:nvPr/>
        </p:nvSpPr>
        <p:spPr>
          <a:xfrm>
            <a:off x="1022350" y="2099270"/>
            <a:ext cx="490537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Human Development Index combines life expectancy, education and log of income per person. Plot it against its parts before trusting it: across US states it mostly tracks income.</a:t>
            </a:r>
            <a:endParaRPr lang="en-US" sz="1300" dirty="0"/>
          </a:p>
        </p:txBody>
      </p:sp>
      <p:sp>
        <p:nvSpPr>
          <p:cNvPr id="7" name="Shape 5"/>
          <p:cNvSpPr/>
          <p:nvPr/>
        </p:nvSpPr>
        <p:spPr>
          <a:xfrm>
            <a:off x="6200775" y="1575395"/>
            <a:ext cx="5175250" cy="1398240"/>
          </a:xfrm>
          <a:prstGeom prst="roundRect">
            <a:avLst>
              <a:gd name="adj" fmla="val 7039"/>
            </a:avLst>
          </a:prstGeom>
          <a:solidFill>
            <a:srgbClr val="FBFAF6"/>
          </a:solidFill>
          <a:ln w="6350">
            <a:solidFill>
              <a:srgbClr val="DAD8CF"/>
            </a:solidFill>
            <a:prstDash val="solid"/>
          </a:ln>
        </p:spPr>
      </p:sp>
      <p:sp>
        <p:nvSpPr>
          <p:cNvPr id="8" name="Text 6"/>
          <p:cNvSpPr/>
          <p:nvPr/>
        </p:nvSpPr>
        <p:spPr>
          <a:xfrm>
            <a:off x="6407150" y="1756370"/>
            <a:ext cx="490537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Close measures, different questions</a:t>
            </a:r>
            <a:endParaRPr lang="en-US" sz="1500" dirty="0"/>
          </a:p>
        </p:txBody>
      </p:sp>
      <p:sp>
        <p:nvSpPr>
          <p:cNvPr id="9" name="Text 7"/>
          <p:cNvSpPr/>
          <p:nvPr/>
        </p:nvSpPr>
        <p:spPr>
          <a:xfrm>
            <a:off x="6407150" y="2099270"/>
            <a:ext cx="490537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Political ideology and party identification both split by income, but not the same way: the relationship differs across the two. Pick the measure that matches your question.</a:t>
            </a:r>
            <a:endParaRPr lang="en-US" sz="1300" dirty="0"/>
          </a:p>
        </p:txBody>
      </p:sp>
      <p:sp>
        <p:nvSpPr>
          <p:cNvPr id="10"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Who is in the data? Selection and external validity</a:t>
            </a:r>
            <a:endParaRPr lang="en-US" sz="3000" dirty="0"/>
          </a:p>
        </p:txBody>
      </p:sp>
      <p:sp>
        <p:nvSpPr>
          <p:cNvPr id="4" name="Shape 2"/>
          <p:cNvSpPr/>
          <p:nvPr/>
        </p:nvSpPr>
        <p:spPr>
          <a:xfrm>
            <a:off x="815975" y="1575395"/>
            <a:ext cx="3380284" cy="1860500"/>
          </a:xfrm>
          <a:prstGeom prst="roundRect">
            <a:avLst>
              <a:gd name="adj" fmla="val 5290"/>
            </a:avLst>
          </a:prstGeom>
          <a:solidFill>
            <a:srgbClr val="FBFAF6"/>
          </a:solidFill>
          <a:ln w="6350">
            <a:solidFill>
              <a:srgbClr val="DAD8CF"/>
            </a:solidFill>
            <a:prstDash val="solid"/>
          </a:ln>
        </p:spPr>
      </p:sp>
      <p:sp>
        <p:nvSpPr>
          <p:cNvPr id="5" name="Text 3"/>
          <p:cNvSpPr/>
          <p:nvPr/>
        </p:nvSpPr>
        <p:spPr>
          <a:xfrm>
            <a:off x="1022350" y="175637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Selection</a:t>
            </a:r>
            <a:endParaRPr lang="en-US" sz="1500" dirty="0"/>
          </a:p>
        </p:txBody>
      </p:sp>
      <p:sp>
        <p:nvSpPr>
          <p:cNvPr id="6" name="Text 4"/>
          <p:cNvSpPr/>
          <p:nvPr/>
        </p:nvSpPr>
        <p:spPr>
          <a:xfrm>
            <a:off x="1022350" y="2099270"/>
            <a:ext cx="305656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Surveying people on a train tells you about train riders. People who respond, or who take a treatment, are rarely a random slice of the population.</a:t>
            </a:r>
            <a:endParaRPr lang="en-US" sz="1300" dirty="0"/>
          </a:p>
        </p:txBody>
      </p:sp>
      <p:sp>
        <p:nvSpPr>
          <p:cNvPr id="7" name="Shape 5"/>
          <p:cNvSpPr/>
          <p:nvPr/>
        </p:nvSpPr>
        <p:spPr>
          <a:xfrm>
            <a:off x="4405809" y="1575395"/>
            <a:ext cx="3380333" cy="1860500"/>
          </a:xfrm>
          <a:prstGeom prst="roundRect">
            <a:avLst>
              <a:gd name="adj" fmla="val 5290"/>
            </a:avLst>
          </a:prstGeom>
          <a:solidFill>
            <a:srgbClr val="FBFAF6"/>
          </a:solidFill>
          <a:ln w="6350">
            <a:solidFill>
              <a:srgbClr val="DAD8CF"/>
            </a:solidFill>
            <a:prstDash val="solid"/>
          </a:ln>
        </p:spPr>
      </p:sp>
      <p:sp>
        <p:nvSpPr>
          <p:cNvPr id="8" name="Text 6"/>
          <p:cNvSpPr/>
          <p:nvPr/>
        </p:nvSpPr>
        <p:spPr>
          <a:xfrm>
            <a:off x="4612184"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External validity</a:t>
            </a:r>
            <a:endParaRPr lang="en-US" sz="1500" dirty="0"/>
          </a:p>
        </p:txBody>
      </p:sp>
      <p:sp>
        <p:nvSpPr>
          <p:cNvPr id="9" name="Text 7"/>
          <p:cNvSpPr/>
          <p:nvPr/>
        </p:nvSpPr>
        <p:spPr>
          <a:xfrm>
            <a:off x="4612184" y="2099270"/>
            <a:ext cx="3056611"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An effect found in mice, or in a lab, or last year, may not hold for people, in the field, or tomorrow. Statistics checks the data in hand; the jump to another setting is an assumption.</a:t>
            </a:r>
            <a:endParaRPr lang="en-US" sz="1300" dirty="0"/>
          </a:p>
        </p:txBody>
      </p:sp>
      <p:sp>
        <p:nvSpPr>
          <p:cNvPr id="10" name="Shape 8"/>
          <p:cNvSpPr/>
          <p:nvPr/>
        </p:nvSpPr>
        <p:spPr>
          <a:xfrm>
            <a:off x="7995692" y="1575395"/>
            <a:ext cx="3380333" cy="1860500"/>
          </a:xfrm>
          <a:prstGeom prst="roundRect">
            <a:avLst>
              <a:gd name="adj" fmla="val 5290"/>
            </a:avLst>
          </a:prstGeom>
          <a:solidFill>
            <a:srgbClr val="FBFAF6"/>
          </a:solidFill>
          <a:ln w="6350">
            <a:solidFill>
              <a:srgbClr val="DAD8CF"/>
            </a:solidFill>
            <a:prstDash val="solid"/>
          </a:ln>
        </p:spPr>
      </p:sp>
      <p:sp>
        <p:nvSpPr>
          <p:cNvPr id="11" name="Text 9"/>
          <p:cNvSpPr/>
          <p:nvPr/>
        </p:nvSpPr>
        <p:spPr>
          <a:xfrm>
            <a:off x="8202067"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What to do</a:t>
            </a:r>
            <a:endParaRPr lang="en-US" sz="1500" dirty="0"/>
          </a:p>
        </p:txBody>
      </p:sp>
      <p:sp>
        <p:nvSpPr>
          <p:cNvPr id="12" name="Text 10"/>
          <p:cNvSpPr/>
          <p:nvPr/>
        </p:nvSpPr>
        <p:spPr>
          <a:xfrm>
            <a:off x="8202067" y="2099270"/>
            <a:ext cx="3056611"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Say who is in the sample, compare the sample with the target population, and adjust when you can (see the poll example later).</a:t>
            </a:r>
            <a:endParaRPr lang="en-US" sz="13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Before modeling: three habits</a:t>
            </a:r>
            <a:endParaRPr lang="en-US" sz="3000" dirty="0"/>
          </a:p>
        </p:txBody>
      </p:sp>
      <p:sp>
        <p:nvSpPr>
          <p:cNvPr id="4" name="Shape 2"/>
          <p:cNvSpPr/>
          <p:nvPr/>
        </p:nvSpPr>
        <p:spPr>
          <a:xfrm>
            <a:off x="815975" y="1575395"/>
            <a:ext cx="3380284" cy="2025650"/>
          </a:xfrm>
          <a:prstGeom prst="roundRect">
            <a:avLst>
              <a:gd name="adj" fmla="val 4859"/>
            </a:avLst>
          </a:prstGeom>
          <a:solidFill>
            <a:srgbClr val="FBFAF6"/>
          </a:solidFill>
          <a:ln w="6350">
            <a:solidFill>
              <a:srgbClr val="DAD8CF"/>
            </a:solidFill>
            <a:prstDash val="solid"/>
          </a:ln>
        </p:spPr>
      </p:sp>
      <p:sp>
        <p:nvSpPr>
          <p:cNvPr id="5" name="Text 3"/>
          <p:cNvSpPr/>
          <p:nvPr/>
        </p:nvSpPr>
        <p:spPr>
          <a:xfrm>
            <a:off x="1073150" y="1832570"/>
            <a:ext cx="295191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Ask where the data come from</a:t>
            </a:r>
            <a:endParaRPr lang="en-US" sz="2000" dirty="0"/>
          </a:p>
        </p:txBody>
      </p:sp>
      <p:sp>
        <p:nvSpPr>
          <p:cNvPr id="6" name="Text 4"/>
          <p:cNvSpPr/>
          <p:nvPr/>
        </p:nvSpPr>
        <p:spPr>
          <a:xfrm>
            <a:off x="1073150" y="2543770"/>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Who is in the data, who is missing, how was each number recorded?</a:t>
            </a:r>
            <a:endParaRPr lang="en-US" sz="1500" dirty="0"/>
          </a:p>
        </p:txBody>
      </p:sp>
      <p:sp>
        <p:nvSpPr>
          <p:cNvPr id="7" name="Shape 5"/>
          <p:cNvSpPr/>
          <p:nvPr/>
        </p:nvSpPr>
        <p:spPr>
          <a:xfrm>
            <a:off x="4405809" y="1575395"/>
            <a:ext cx="3380333" cy="2025650"/>
          </a:xfrm>
          <a:prstGeom prst="roundRect">
            <a:avLst>
              <a:gd name="adj" fmla="val 4859"/>
            </a:avLst>
          </a:prstGeom>
          <a:solidFill>
            <a:srgbClr val="FBFAF6"/>
          </a:solidFill>
          <a:ln w="6350">
            <a:solidFill>
              <a:srgbClr val="DAD8CF"/>
            </a:solidFill>
            <a:prstDash val="solid"/>
          </a:ln>
        </p:spPr>
      </p:sp>
      <p:sp>
        <p:nvSpPr>
          <p:cNvPr id="8" name="Text 6"/>
          <p:cNvSpPr/>
          <p:nvPr/>
        </p:nvSpPr>
        <p:spPr>
          <a:xfrm>
            <a:off x="4662984" y="1832570"/>
            <a:ext cx="295196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All graphs are comparisons</a:t>
            </a:r>
            <a:endParaRPr lang="en-US" sz="2000" dirty="0"/>
          </a:p>
        </p:txBody>
      </p:sp>
      <p:sp>
        <p:nvSpPr>
          <p:cNvPr id="9" name="Text 7"/>
          <p:cNvSpPr/>
          <p:nvPr/>
        </p:nvSpPr>
        <p:spPr>
          <a:xfrm>
            <a:off x="4662984" y="254377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Decide what is being compared, and make that comparison easy to see.</a:t>
            </a:r>
            <a:endParaRPr lang="en-US" sz="1500" dirty="0"/>
          </a:p>
        </p:txBody>
      </p:sp>
      <p:sp>
        <p:nvSpPr>
          <p:cNvPr id="10" name="Shape 8"/>
          <p:cNvSpPr/>
          <p:nvPr/>
        </p:nvSpPr>
        <p:spPr>
          <a:xfrm>
            <a:off x="7995692" y="1575395"/>
            <a:ext cx="3380333" cy="2025650"/>
          </a:xfrm>
          <a:prstGeom prst="roundRect">
            <a:avLst>
              <a:gd name="adj" fmla="val 4859"/>
            </a:avLst>
          </a:prstGeom>
          <a:solidFill>
            <a:srgbClr val="FBFAF6"/>
          </a:solidFill>
          <a:ln w="6350">
            <a:solidFill>
              <a:srgbClr val="DAD8CF"/>
            </a:solidFill>
            <a:prstDash val="solid"/>
          </a:ln>
        </p:spPr>
      </p:sp>
      <p:sp>
        <p:nvSpPr>
          <p:cNvPr id="11" name="Text 9"/>
          <p:cNvSpPr/>
          <p:nvPr/>
        </p:nvSpPr>
        <p:spPr>
          <a:xfrm>
            <a:off x="8252867" y="1832570"/>
            <a:ext cx="29519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Adjust, then compare</a:t>
            </a:r>
            <a:endParaRPr lang="en-US" sz="2000" dirty="0"/>
          </a:p>
        </p:txBody>
      </p:sp>
      <p:sp>
        <p:nvSpPr>
          <p:cNvPr id="12" name="Text 10"/>
          <p:cNvSpPr/>
          <p:nvPr/>
        </p:nvSpPr>
        <p:spPr>
          <a:xfrm>
            <a:off x="8252867" y="2238970"/>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 raw trend can hide a changing mix. Mortality rates are age-adjusted before comparing years.</a:t>
            </a:r>
            <a:endParaRPr lang="en-US" sz="15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Rules for graphs</a:t>
            </a:r>
            <a:endParaRPr lang="en-US" sz="3000" dirty="0"/>
          </a:p>
        </p:txBody>
      </p:sp>
      <p:sp>
        <p:nvSpPr>
          <p:cNvPr id="4" name="Shape 2"/>
          <p:cNvSpPr/>
          <p:nvPr/>
        </p:nvSpPr>
        <p:spPr>
          <a:xfrm>
            <a:off x="815975" y="1575395"/>
            <a:ext cx="2482850" cy="2091630"/>
          </a:xfrm>
          <a:prstGeom prst="roundRect">
            <a:avLst>
              <a:gd name="adj" fmla="val 4706"/>
            </a:avLst>
          </a:prstGeom>
          <a:solidFill>
            <a:srgbClr val="FBFAF6"/>
          </a:solidFill>
          <a:ln w="6350">
            <a:solidFill>
              <a:srgbClr val="DAD8CF"/>
            </a:solidFill>
            <a:prstDash val="solid"/>
          </a:ln>
        </p:spPr>
      </p:sp>
      <p:sp>
        <p:nvSpPr>
          <p:cNvPr id="5" name="Text 3"/>
          <p:cNvSpPr/>
          <p:nvPr/>
        </p:nvSpPr>
        <p:spPr>
          <a:xfrm>
            <a:off x="10223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Compare</a:t>
            </a:r>
            <a:endParaRPr lang="en-US" sz="1500" dirty="0"/>
          </a:p>
        </p:txBody>
      </p:sp>
      <p:sp>
        <p:nvSpPr>
          <p:cNvPr id="6" name="Text 4"/>
          <p:cNvSpPr/>
          <p:nvPr/>
        </p:nvSpPr>
        <p:spPr>
          <a:xfrm>
            <a:off x="1022350" y="2099270"/>
            <a:ext cx="2132203" cy="14121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Almost every graph is a comparison: spending and life expectancy by country, names ending in each letter in 1906, 1956, 2006. Name the comparison.</a:t>
            </a:r>
            <a:endParaRPr lang="en-US" sz="1300" dirty="0"/>
          </a:p>
        </p:txBody>
      </p:sp>
      <p:sp>
        <p:nvSpPr>
          <p:cNvPr id="7" name="Shape 5"/>
          <p:cNvSpPr/>
          <p:nvPr/>
        </p:nvSpPr>
        <p:spPr>
          <a:xfrm>
            <a:off x="3508375" y="1575395"/>
            <a:ext cx="2482850" cy="2091630"/>
          </a:xfrm>
          <a:prstGeom prst="roundRect">
            <a:avLst>
              <a:gd name="adj" fmla="val 4706"/>
            </a:avLst>
          </a:prstGeom>
          <a:solidFill>
            <a:srgbClr val="FBFAF6"/>
          </a:solidFill>
          <a:ln w="6350">
            <a:solidFill>
              <a:srgbClr val="DAD8CF"/>
            </a:solidFill>
            <a:prstDash val="solid"/>
          </a:ln>
        </p:spPr>
      </p:sp>
      <p:sp>
        <p:nvSpPr>
          <p:cNvPr id="8" name="Text 6"/>
          <p:cNvSpPr/>
          <p:nvPr/>
        </p:nvSpPr>
        <p:spPr>
          <a:xfrm>
            <a:off x="37147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Small multiples</a:t>
            </a:r>
            <a:endParaRPr lang="en-US" sz="1500" dirty="0"/>
          </a:p>
        </p:txBody>
      </p:sp>
      <p:sp>
        <p:nvSpPr>
          <p:cNvPr id="9" name="Text 7"/>
          <p:cNvSpPr/>
          <p:nvPr/>
        </p:nvSpPr>
        <p:spPr>
          <a:xfrm>
            <a:off x="3714750" y="2099270"/>
            <a:ext cx="213220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Repeat the same small plot for each group instead of one crowded plot.</a:t>
            </a:r>
            <a:endParaRPr lang="en-US" sz="1300" dirty="0"/>
          </a:p>
        </p:txBody>
      </p:sp>
      <p:sp>
        <p:nvSpPr>
          <p:cNvPr id="10" name="Shape 8"/>
          <p:cNvSpPr/>
          <p:nvPr/>
        </p:nvSpPr>
        <p:spPr>
          <a:xfrm>
            <a:off x="6200775" y="1575395"/>
            <a:ext cx="2482850" cy="2091630"/>
          </a:xfrm>
          <a:prstGeom prst="roundRect">
            <a:avLst>
              <a:gd name="adj" fmla="val 4706"/>
            </a:avLst>
          </a:prstGeom>
          <a:solidFill>
            <a:srgbClr val="FBFAF6"/>
          </a:solidFill>
          <a:ln w="6350">
            <a:solidFill>
              <a:srgbClr val="DAD8CF"/>
            </a:solidFill>
            <a:prstDash val="solid"/>
          </a:ln>
        </p:spPr>
      </p:sp>
      <p:sp>
        <p:nvSpPr>
          <p:cNvPr id="11" name="Text 9"/>
          <p:cNvSpPr/>
          <p:nvPr/>
        </p:nvSpPr>
        <p:spPr>
          <a:xfrm>
            <a:off x="64071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Round</a:t>
            </a:r>
            <a:endParaRPr lang="en-US" sz="1500" dirty="0"/>
          </a:p>
        </p:txBody>
      </p:sp>
      <p:sp>
        <p:nvSpPr>
          <p:cNvPr id="12" name="Text 10"/>
          <p:cNvSpPr/>
          <p:nvPr/>
        </p:nvSpPr>
        <p:spPr>
          <a:xfrm>
            <a:off x="6407150" y="2099270"/>
            <a:ext cx="2132203"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Report 3.3 and 6.4, not 3.276 and 6.410. Never show a graph you cannot talk about.</a:t>
            </a:r>
            <a:endParaRPr lang="en-US" sz="1300" dirty="0"/>
          </a:p>
        </p:txBody>
      </p:sp>
      <p:sp>
        <p:nvSpPr>
          <p:cNvPr id="13" name="Shape 11"/>
          <p:cNvSpPr/>
          <p:nvPr/>
        </p:nvSpPr>
        <p:spPr>
          <a:xfrm>
            <a:off x="8893175" y="1575395"/>
            <a:ext cx="2482850" cy="2091630"/>
          </a:xfrm>
          <a:prstGeom prst="roundRect">
            <a:avLst>
              <a:gd name="adj" fmla="val 4706"/>
            </a:avLst>
          </a:prstGeom>
          <a:solidFill>
            <a:srgbClr val="FBFAF6"/>
          </a:solidFill>
          <a:ln w="6350">
            <a:solidFill>
              <a:srgbClr val="DAD8CF"/>
            </a:solidFill>
            <a:prstDash val="solid"/>
          </a:ln>
        </p:spPr>
      </p:sp>
      <p:sp>
        <p:nvSpPr>
          <p:cNvPr id="14" name="Text 12"/>
          <p:cNvSpPr/>
          <p:nvPr/>
        </p:nvSpPr>
        <p:spPr>
          <a:xfrm>
            <a:off x="90995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Three uses</a:t>
            </a:r>
            <a:endParaRPr lang="en-US" sz="1500" dirty="0"/>
          </a:p>
        </p:txBody>
      </p:sp>
      <p:sp>
        <p:nvSpPr>
          <p:cNvPr id="15" name="Text 13"/>
          <p:cNvSpPr/>
          <p:nvPr/>
        </p:nvSpPr>
        <p:spPr>
          <a:xfrm>
            <a:off x="9099550" y="2099270"/>
            <a:ext cx="213220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Raw data, fitted models, final results. Make all three.</a:t>
            </a:r>
            <a:endParaRPr lang="en-US" sz="13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Averages need weights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1544042"/>
        </p:xfrm>
        <a:graphic>
          <a:graphicData uri="http://schemas.openxmlformats.org/drawingml/2006/table">
            <a:tbl>
              <a:tblPr/>
              <a:tblGrid>
                <a:gridCol w="3588258"/>
                <a:gridCol w="2321814"/>
                <a:gridCol w="2321814"/>
                <a:gridCol w="2321814"/>
              </a:tblGrid>
              <a:tr h="386011">
                <a:tc>
                  <a:txBody>
                    <a:bodyPr/>
                    <a:lstStyle/>
                    <a:p>
                      <a:pPr indent="0" marL="0">
                        <a:lnSpc>
                          <a:spcPts val="1960"/>
                        </a:lnSpc>
                        <a:buNone/>
                      </a:pPr>
                      <a:r>
                        <a:rPr lang="en-US" sz="1400" b="1" dirty="0">
                          <a:solidFill>
                            <a:srgbClr val="1B2633"/>
                          </a:solidFill>
                          <a:latin typeface="IBM Plex Sans" pitchFamily="34" charset="0"/>
                          <a:ea typeface="IBM Plex Sans" pitchFamily="34" charset="-122"/>
                          <a:cs typeface="IBM Plex Sans" pitchFamily="34" charset="-120"/>
                        </a:rPr>
                        <a:t>Country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B2633"/>
                          </a:solidFill>
                          <a:latin typeface="IBM Plex Sans" pitchFamily="34" charset="0"/>
                          <a:ea typeface="IBM Plex Sans" pitchFamily="34" charset="-122"/>
                          <a:cs typeface="IBM Plex Sans" pitchFamily="34" charset="-120"/>
                        </a:rPr>
                        <a:t>Population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B2633"/>
                          </a:solidFill>
                          <a:latin typeface="IBM Plex Sans" pitchFamily="34" charset="0"/>
                          <a:ea typeface="IBM Plex Sans" pitchFamily="34" charset="-122"/>
                          <a:cs typeface="IBM Plex Sans" pitchFamily="34" charset="-120"/>
                        </a:rPr>
                        <a:t>Mean 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B2633"/>
                          </a:solidFill>
                          <a:latin typeface="IBM Plex Sans" pitchFamily="34" charset="0"/>
                          <a:ea typeface="IBM Plex Sans" pitchFamily="34" charset="-122"/>
                          <a:cs typeface="IBM Plex Sans" pitchFamily="34" charset="-120"/>
                        </a:rPr>
                        <a:t>Weight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United States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310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36.8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0.680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Mexico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112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26.7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0.246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Canada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34 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40.7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0.075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3281363"/>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Weighted mean age 34.6 (naive 34.7). Teachers: 79% women paid $45,865, 21% men paid $49,207. Weighted average $46,567, not $47,536.</a:t>
            </a:r>
            <a:endParaRPr lang="en-US" sz="14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§10.1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Aggregation can mislead: age adjustment</a:t>
            </a:r>
            <a:endParaRPr lang="en-US" sz="3000" dirty="0"/>
          </a:p>
        </p:txBody>
      </p:sp>
      <p:pic>
        <p:nvPicPr>
          <p:cNvPr id="4" name="Image 0" descr="Raw group rate rising while age-adjusted rate is flat">    </p:cNvPr>
          <p:cNvPicPr>
            <a:picLocks noChangeAspect="1"/>
          </p:cNvPicPr>
          <p:nvPr/>
        </p:nvPicPr>
        <p:blipFill>
          <a:blip r:embed="rId1"/>
          <a:srcRect l="-37" r="-37" t="0" b="0"/>
          <a:stretch/>
        </p:blipFill>
        <p:spPr>
          <a:xfrm>
            <a:off x="812800" y="1572220"/>
            <a:ext cx="5080000" cy="3771900"/>
          </a:xfrm>
          <a:prstGeom prst="rect">
            <a:avLst/>
          </a:prstGeom>
        </p:spPr>
      </p:pic>
      <p:sp>
        <p:nvSpPr>
          <p:cNvPr id="5" name="Text 2"/>
          <p:cNvSpPr/>
          <p:nvPr/>
        </p:nvSpPr>
        <p:spPr>
          <a:xfrm>
            <a:off x="6096000" y="2701280"/>
            <a:ext cx="544169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Synthetic example. At every age the death rate stays the same for 15 years, but the group “45 to 54” shifts towards its older end.</a:t>
            </a:r>
            <a:endParaRPr lang="en-US" sz="1400" dirty="0"/>
          </a:p>
        </p:txBody>
      </p:sp>
      <p:sp>
        <p:nvSpPr>
          <p:cNvPr id="6" name="Text 3"/>
          <p:cNvSpPr/>
          <p:nvPr/>
        </p:nvSpPr>
        <p:spPr>
          <a:xfrm>
            <a:off x="6096000" y="3351461"/>
            <a:ext cx="54416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61A"/>
                </a:solidFill>
                <a:latin typeface="IBM Plex Sans" pitchFamily="34" charset="0"/>
                <a:ea typeface="IBM Plex Sans" pitchFamily="34" charset="-122"/>
                <a:cs typeface="IBM Plex Sans" pitchFamily="34" charset="-120"/>
              </a:rPr>
              <a:t>Raw rate: up 16%. Age-adjusted rate: 0%.</a:t>
            </a:r>
            <a:endParaRPr lang="en-US" sz="1400" dirty="0"/>
          </a:p>
        </p:txBody>
      </p:sp>
      <p:sp>
        <p:nvSpPr>
          <p:cNvPr id="7" name="Text 4"/>
          <p:cNvSpPr/>
          <p:nvPr/>
        </p:nvSpPr>
        <p:spPr>
          <a:xfrm>
            <a:off x="6096000" y="3752751"/>
            <a:ext cx="544169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Real data on middle-aged mortality needed this correction before the trend could be read.</a:t>
            </a:r>
            <a:endParaRPr lang="en-US" sz="1300" dirty="0"/>
          </a:p>
        </p:txBody>
      </p:sp>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Synthetic data · Notebook §10.2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DATA AND MEASUREMENT</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Weighted averages and standardization</a:t>
            </a:r>
            <a:endParaRPr lang="en-US" sz="3000" dirty="0"/>
          </a:p>
        </p:txBody>
      </p:sp>
      <p:sp>
        <p:nvSpPr>
          <p:cNvPr id="4" name="Shape 2"/>
          <p:cNvSpPr/>
          <p:nvPr/>
        </p:nvSpPr>
        <p:spPr>
          <a:xfrm>
            <a:off x="815975" y="1575395"/>
            <a:ext cx="10560050" cy="1212850"/>
          </a:xfrm>
          <a:prstGeom prst="roundRect">
            <a:avLst>
              <a:gd name="adj" fmla="val 8115"/>
            </a:avLst>
          </a:prstGeom>
          <a:solidFill>
            <a:srgbClr val="FBFAF6"/>
          </a:solidFill>
          <a:ln w="6350">
            <a:solidFill>
              <a:srgbClr val="DAD8CF"/>
            </a:solidFill>
            <a:prstDash val="solid"/>
          </a:ln>
        </p:spPr>
      </p:sp>
      <p:pic>
        <p:nvPicPr>
          <p:cNvPr id="5" name="Image 0" descr="y bar equals the sum over j of w j times y bar j, with w j equal to N j over the sum of N k">    </p:cNvPr>
          <p:cNvPicPr>
            <a:picLocks noChangeAspect="1"/>
          </p:cNvPicPr>
          <p:nvPr/>
        </p:nvPicPr>
        <p:blipFill>
          <a:blip r:embed="rId1"/>
          <a:srcRect l="-122" r="-122" t="0" b="0"/>
          <a:stretch/>
        </p:blipFill>
        <p:spPr>
          <a:xfrm>
            <a:off x="1047750" y="1730970"/>
            <a:ext cx="2965450" cy="901700"/>
          </a:xfrm>
          <a:prstGeom prst="rect">
            <a:avLst/>
          </a:prstGeom>
        </p:spPr>
      </p:pic>
      <p:sp>
        <p:nvSpPr>
          <p:cNvPr id="6" name="Text 3"/>
          <p:cNvSpPr/>
          <p:nvPr/>
        </p:nvSpPr>
        <p:spPr>
          <a:xfrm>
            <a:off x="6381750" y="183510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Weighted mean.</a:t>
            </a:r>
            <a:r>
              <a:rPr lang="en-US" sz="1300" dirty="0">
                <a:solidFill>
                  <a:srgbClr val="4A5568"/>
                </a:solidFill>
                <a:latin typeface="IBM Plex Sans" pitchFamily="34" charset="0"/>
                <a:ea typeface="IBM Plex Sans" pitchFamily="34" charset="-122"/>
                <a:cs typeface="IBM Plex Sans" pitchFamily="34" charset="-120"/>
              </a:rPr>
              <a:t> Weights are shares of the population, so they add up to 1. North America: 0.680 × 36.8 + 0.246 × 26.7 + 0.075 × 40.7 = 34.6.</a:t>
            </a:r>
            <a:endParaRPr lang="en-US" sz="1300" dirty="0"/>
          </a:p>
        </p:txBody>
      </p:sp>
      <p:sp>
        <p:nvSpPr>
          <p:cNvPr id="7" name="Shape 4"/>
          <p:cNvSpPr/>
          <p:nvPr/>
        </p:nvSpPr>
        <p:spPr>
          <a:xfrm>
            <a:off x="815975" y="2921595"/>
            <a:ext cx="10560050" cy="1004540"/>
          </a:xfrm>
          <a:prstGeom prst="roundRect">
            <a:avLst>
              <a:gd name="adj" fmla="val 9798"/>
            </a:avLst>
          </a:prstGeom>
          <a:solidFill>
            <a:srgbClr val="FBFAF6"/>
          </a:solidFill>
          <a:ln w="6350">
            <a:solidFill>
              <a:srgbClr val="DAD8CF"/>
            </a:solidFill>
            <a:prstDash val="solid"/>
          </a:ln>
        </p:spPr>
      </p:sp>
      <p:pic>
        <p:nvPicPr>
          <p:cNvPr id="8" name="Image 1" descr="raw rate at time t equals the sum over ages of s a t times r a t; adjusted rate equals the sum over ages of the standard share s a times r a t">    </p:cNvPr>
          <p:cNvPicPr>
            <a:picLocks noChangeAspect="1"/>
          </p:cNvPicPr>
          <p:nvPr/>
        </p:nvPicPr>
        <p:blipFill>
          <a:blip r:embed="rId2"/>
          <a:srcRect l="-301" r="-301" t="0" b="0"/>
          <a:stretch/>
        </p:blipFill>
        <p:spPr>
          <a:xfrm>
            <a:off x="1047750" y="3160316"/>
            <a:ext cx="4127500" cy="527050"/>
          </a:xfrm>
          <a:prstGeom prst="rect">
            <a:avLst/>
          </a:prstGeom>
        </p:spPr>
      </p:pic>
      <p:sp>
        <p:nvSpPr>
          <p:cNvPr id="9" name="Text 5"/>
          <p:cNvSpPr/>
          <p:nvPr/>
        </p:nvSpPr>
        <p:spPr>
          <a:xfrm>
            <a:off x="6381750" y="307717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Age standardization.</a:t>
            </a:r>
            <a:r>
              <a:rPr lang="en-US" sz="1300" dirty="0">
                <a:solidFill>
                  <a:srgbClr val="4A5568"/>
                </a:solidFill>
                <a:latin typeface="IBM Plex Sans" pitchFamily="34" charset="0"/>
                <a:ea typeface="IBM Plex Sans" pitchFamily="34" charset="-122"/>
                <a:cs typeface="IBM Plex Sans" pitchFamily="34" charset="-120"/>
              </a:rPr>
              <a:t> The raw rate uses this year's age mix </a:t>
            </a:r>
            <a:r>
              <a:rPr lang="en-US" sz="1300" i="1" dirty="0">
                <a:solidFill>
                  <a:srgbClr val="4A5568"/>
                </a:solidFill>
                <a:latin typeface="IBM Plex Sans" pitchFamily="34" charset="0"/>
                <a:ea typeface="IBM Plex Sans" pitchFamily="34" charset="-122"/>
                <a:cs typeface="IBM Plex Sans" pitchFamily="34" charset="-120"/>
              </a:rPr>
              <a:t>sa,t</a:t>
            </a:r>
            <a:r>
              <a:rPr lang="en-US" sz="1300" dirty="0">
                <a:solidFill>
                  <a:srgbClr val="4A5568"/>
                </a:solidFill>
                <a:latin typeface="IBM Plex Sans" pitchFamily="34" charset="0"/>
                <a:ea typeface="IBM Plex Sans" pitchFamily="34" charset="-122"/>
                <a:cs typeface="IBM Plex Sans" pitchFamily="34" charset="-120"/>
              </a:rPr>
              <a:t>; the adjusted rate fixes one standard mix, so only the age-specific rates </a:t>
            </a:r>
            <a:r>
              <a:rPr lang="en-US" sz="1300" i="1" dirty="0">
                <a:solidFill>
                  <a:srgbClr val="4A5568"/>
                </a:solidFill>
                <a:latin typeface="IBM Plex Sans" pitchFamily="34" charset="0"/>
                <a:ea typeface="IBM Plex Sans" pitchFamily="34" charset="-122"/>
                <a:cs typeface="IBM Plex Sans" pitchFamily="34" charset="-120"/>
              </a:rPr>
              <a:t>ra,t</a:t>
            </a:r>
            <a:r>
              <a:rPr lang="en-US" sz="1300" dirty="0">
                <a:solidFill>
                  <a:srgbClr val="4A5568"/>
                </a:solidFill>
                <a:latin typeface="IBM Plex Sans" pitchFamily="34" charset="0"/>
                <a:ea typeface="IBM Plex Sans" pitchFamily="34" charset="-122"/>
                <a:cs typeface="IBM Plex Sans" pitchFamily="34" charset="-120"/>
              </a:rPr>
              <a:t> can move it.</a:t>
            </a:r>
            <a:endParaRPr lang="en-US" sz="1300" dirty="0"/>
          </a:p>
        </p:txBody>
      </p:sp>
      <p:sp>
        <p:nvSpPr>
          <p:cNvPr id="10"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Probability and statistics go in opposite directions</a:t>
            </a:r>
            <a:endParaRPr lang="en-US" sz="3000" dirty="0"/>
          </a:p>
        </p:txBody>
      </p:sp>
      <p:sp>
        <p:nvSpPr>
          <p:cNvPr id="4" name="Shape 2"/>
          <p:cNvSpPr/>
          <p:nvPr/>
        </p:nvSpPr>
        <p:spPr>
          <a:xfrm>
            <a:off x="815975" y="1575395"/>
            <a:ext cx="5175250" cy="2048470"/>
          </a:xfrm>
          <a:prstGeom prst="roundRect">
            <a:avLst>
              <a:gd name="adj" fmla="val 4805"/>
            </a:avLst>
          </a:prstGeom>
          <a:solidFill>
            <a:srgbClr val="FBFAF6"/>
          </a:solidFill>
          <a:ln w="6350">
            <a:solidFill>
              <a:srgbClr val="DAD8CF"/>
            </a:solidFill>
            <a:prstDash val="solid"/>
          </a:ln>
        </p:spPr>
      </p:sp>
      <p:sp>
        <p:nvSpPr>
          <p:cNvPr id="5" name="Text 3"/>
          <p:cNvSpPr/>
          <p:nvPr/>
        </p:nvSpPr>
        <p:spPr>
          <a:xfrm>
            <a:off x="1073150" y="183257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6FBB"/>
                </a:solidFill>
                <a:latin typeface="IBM Plex Sans" pitchFamily="34" charset="0"/>
                <a:ea typeface="IBM Plex Sans" pitchFamily="34" charset="-122"/>
                <a:cs typeface="IBM Plex Sans" pitchFamily="34" charset="-120"/>
              </a:rPr>
              <a:t>PROBABILITY · MODEL TO DATA</a:t>
            </a:r>
            <a:endParaRPr lang="en-US" sz="1200" dirty="0"/>
          </a:p>
        </p:txBody>
      </p:sp>
      <p:sp>
        <p:nvSpPr>
          <p:cNvPr id="6" name="Text 4"/>
          <p:cNvSpPr/>
          <p:nvPr/>
        </p:nvSpPr>
        <p:spPr>
          <a:xfrm>
            <a:off x="1073150" y="2172891"/>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Earlier studies say the drug is 80% effective. For 100 patients we expect about 80 cured.</a:t>
            </a:r>
            <a:endParaRPr lang="en-US" sz="1500" dirty="0"/>
          </a:p>
        </p:txBody>
      </p:sp>
      <p:sp>
        <p:nvSpPr>
          <p:cNvPr id="7" name="Text 5"/>
          <p:cNvSpPr/>
          <p:nvPr/>
        </p:nvSpPr>
        <p:spPr>
          <a:xfrm>
            <a:off x="1073150" y="2833291"/>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At least 65 are cured with probability </a:t>
            </a:r>
            <a:r>
              <a:rPr lang="en-US" sz="1500" b="1" dirty="0">
                <a:solidFill>
                  <a:srgbClr val="1B2633"/>
                </a:solidFill>
                <a:latin typeface="IBM Plex Sans" pitchFamily="34" charset="0"/>
                <a:ea typeface="IBM Plex Sans" pitchFamily="34" charset="-122"/>
                <a:cs typeface="IBM Plex Sans" pitchFamily="34" charset="-120"/>
              </a:rPr>
              <a:t>99.99%</a:t>
            </a:r>
            <a:r>
              <a:rPr lang="en-US" sz="1500" dirty="0">
                <a:solidFill>
                  <a:srgbClr val="1B2633"/>
                </a:solidFill>
                <a:latin typeface="IBM Plex Sans" pitchFamily="34" charset="0"/>
                <a:ea typeface="IBM Plex Sans" pitchFamily="34" charset="-122"/>
                <a:cs typeface="IBM Plex Sans" pitchFamily="34" charset="-120"/>
              </a:rPr>
              <a:t>.</a:t>
            </a:r>
            <a:endParaRPr lang="en-US" sz="1500" dirty="0"/>
          </a:p>
        </p:txBody>
      </p:sp>
      <p:sp>
        <p:nvSpPr>
          <p:cNvPr id="8" name="Shape 6"/>
          <p:cNvSpPr/>
          <p:nvPr/>
        </p:nvSpPr>
        <p:spPr>
          <a:xfrm>
            <a:off x="6200775" y="1575395"/>
            <a:ext cx="5175250" cy="2048470"/>
          </a:xfrm>
          <a:prstGeom prst="roundRect">
            <a:avLst>
              <a:gd name="adj" fmla="val 4805"/>
            </a:avLst>
          </a:prstGeom>
          <a:solidFill>
            <a:srgbClr val="FBFAF6"/>
          </a:solidFill>
          <a:ln w="6350">
            <a:solidFill>
              <a:srgbClr val="DAD8CF"/>
            </a:solidFill>
            <a:prstDash val="solid"/>
          </a:ln>
        </p:spPr>
      </p:sp>
      <p:sp>
        <p:nvSpPr>
          <p:cNvPr id="9" name="Text 7"/>
          <p:cNvSpPr/>
          <p:nvPr/>
        </p:nvSpPr>
        <p:spPr>
          <a:xfrm>
            <a:off x="6457950" y="183257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STATISTICS · DATA TO MODEL</a:t>
            </a:r>
            <a:endParaRPr lang="en-US" sz="1200" dirty="0"/>
          </a:p>
        </p:txBody>
      </p:sp>
      <p:sp>
        <p:nvSpPr>
          <p:cNvPr id="10" name="Text 8"/>
          <p:cNvSpPr/>
          <p:nvPr/>
        </p:nvSpPr>
        <p:spPr>
          <a:xfrm>
            <a:off x="6457950" y="2172891"/>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We observe 78 patients cured out of 100. What is the cure rate?</a:t>
            </a:r>
            <a:endParaRPr lang="en-US" sz="1500" dirty="0"/>
          </a:p>
        </p:txBody>
      </p:sp>
      <p:sp>
        <p:nvSpPr>
          <p:cNvPr id="11" name="Text 9"/>
          <p:cNvSpPr/>
          <p:nvPr/>
        </p:nvSpPr>
        <p:spPr>
          <a:xfrm>
            <a:off x="6457950" y="2833291"/>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We are 95% confident it lies between </a:t>
            </a:r>
            <a:r>
              <a:rPr lang="en-US" sz="1500" b="1" dirty="0">
                <a:solidFill>
                  <a:srgbClr val="1B2633"/>
                </a:solidFill>
                <a:latin typeface="IBM Plex Sans" pitchFamily="34" charset="0"/>
                <a:ea typeface="IBM Plex Sans" pitchFamily="34" charset="-122"/>
                <a:cs typeface="IBM Plex Sans" pitchFamily="34" charset="-120"/>
              </a:rPr>
              <a:t>69.9%</a:t>
            </a:r>
            <a:r>
              <a:rPr lang="en-US" sz="1500" dirty="0">
                <a:solidFill>
                  <a:srgbClr val="1B2633"/>
                </a:solidFill>
                <a:latin typeface="IBM Plex Sans" pitchFamily="34" charset="0"/>
                <a:ea typeface="IBM Plex Sans" pitchFamily="34" charset="-122"/>
                <a:cs typeface="IBM Plex Sans" pitchFamily="34" charset="-120"/>
              </a:rPr>
              <a:t> and </a:t>
            </a:r>
            <a:r>
              <a:rPr lang="en-US" sz="1500" b="1" dirty="0">
                <a:solidFill>
                  <a:srgbClr val="1B2633"/>
                </a:solidFill>
                <a:latin typeface="IBM Plex Sans" pitchFamily="34" charset="0"/>
                <a:ea typeface="IBM Plex Sans" pitchFamily="34" charset="-122"/>
                <a:cs typeface="IBM Plex Sans" pitchFamily="34" charset="-120"/>
              </a:rPr>
              <a:t>86.1%</a:t>
            </a:r>
            <a:r>
              <a:rPr lang="en-US" sz="1500" dirty="0">
                <a:solidFill>
                  <a:srgbClr val="1B2633"/>
                </a:solidFill>
                <a:latin typeface="IBM Plex Sans" pitchFamily="34" charset="0"/>
                <a:ea typeface="IBM Plex Sans" pitchFamily="34" charset="-122"/>
                <a:cs typeface="IBM Plex Sans" pitchFamily="34" charset="-120"/>
              </a:rPr>
              <a:t>.</a:t>
            </a:r>
            <a:endParaRPr lang="en-US" sz="1500" dirty="0"/>
          </a:p>
        </p:txBody>
      </p:sp>
      <p:sp>
        <p:nvSpPr>
          <p:cNvPr id="12" name="Text 10"/>
          <p:cNvSpPr/>
          <p:nvPr/>
        </p:nvSpPr>
        <p:spPr>
          <a:xfrm>
            <a:off x="812800" y="3881041"/>
            <a:ext cx="10883392"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0F2A4A"/>
                </a:solidFill>
                <a:latin typeface="Source Serif 4" pitchFamily="18" charset="0"/>
                <a:ea typeface="Source Serif 4" pitchFamily="18" charset="-122"/>
                <a:cs typeface="Source Serif 4" pitchFamily="18" charset="-120"/>
              </a:rPr>
              <a:t>Simulation connects the two: generate data from a model, then ask what we could learn back.</a:t>
            </a:r>
            <a:endParaRPr lang="en-US" sz="17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§5.5</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Who do you want to be, Alice or Bob?</a:t>
            </a:r>
            <a:endParaRPr lang="en-US" sz="3000" dirty="0"/>
          </a:p>
        </p:txBody>
      </p:sp>
      <p:sp>
        <p:nvSpPr>
          <p:cNvPr id="4" name="Text 2"/>
          <p:cNvSpPr/>
          <p:nvPr/>
        </p:nvSpPr>
        <p:spPr>
          <a:xfrm>
            <a:off x="812800" y="15722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One die is rolled. Alice gets 1 € if the result is 3 or more. Bob gets 2 € if it is 2 or less.</a:t>
            </a:r>
            <a:endParaRPr lang="en-US" sz="1600" dirty="0"/>
          </a:p>
        </p:txBody>
      </p:sp>
      <p:sp>
        <p:nvSpPr>
          <p:cNvPr id="5" name="Shape 3"/>
          <p:cNvSpPr/>
          <p:nvPr/>
        </p:nvSpPr>
        <p:spPr>
          <a:xfrm>
            <a:off x="815975" y="2113855"/>
            <a:ext cx="5175250" cy="2152600"/>
          </a:xfrm>
          <a:prstGeom prst="roundRect">
            <a:avLst>
              <a:gd name="adj" fmla="val 4572"/>
            </a:avLst>
          </a:prstGeom>
          <a:solidFill>
            <a:srgbClr val="FBFAF6"/>
          </a:solidFill>
          <a:ln w="6350">
            <a:solidFill>
              <a:srgbClr val="DAD8CF"/>
            </a:solidFill>
            <a:prstDash val="solid"/>
          </a:ln>
        </p:spPr>
      </p:sp>
      <p:sp>
        <p:nvSpPr>
          <p:cNvPr id="6" name="Text 4"/>
          <p:cNvSpPr/>
          <p:nvPr/>
        </p:nvSpPr>
        <p:spPr>
          <a:xfrm>
            <a:off x="1073150" y="234563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Alice</a:t>
            </a:r>
            <a:endParaRPr lang="en-US" sz="2000" dirty="0"/>
          </a:p>
        </p:txBody>
      </p:sp>
      <p:sp>
        <p:nvSpPr>
          <p:cNvPr id="7" name="Text 5"/>
          <p:cNvSpPr/>
          <p:nvPr/>
        </p:nvSpPr>
        <p:spPr>
          <a:xfrm>
            <a:off x="1073150" y="2726630"/>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4/6 × 1 €</a:t>
            </a:r>
            <a:endParaRPr lang="en-US" sz="1500" dirty="0"/>
          </a:p>
        </p:txBody>
      </p:sp>
      <p:sp>
        <p:nvSpPr>
          <p:cNvPr id="8" name="Text 6"/>
          <p:cNvSpPr/>
          <p:nvPr/>
        </p:nvSpPr>
        <p:spPr>
          <a:xfrm>
            <a:off x="1073150" y="3069530"/>
            <a:ext cx="4800727"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8461A"/>
                </a:solidFill>
                <a:latin typeface="Source Serif 4" pitchFamily="18" charset="0"/>
                <a:ea typeface="Source Serif 4" pitchFamily="18" charset="-122"/>
                <a:cs typeface="Source Serif 4" pitchFamily="18" charset="-120"/>
              </a:rPr>
              <a:t>0.67 €</a:t>
            </a:r>
            <a:endParaRPr lang="en-US" sz="3600" dirty="0"/>
          </a:p>
        </p:txBody>
      </p:sp>
      <p:sp>
        <p:nvSpPr>
          <p:cNvPr id="9" name="Text 7"/>
          <p:cNvSpPr/>
          <p:nvPr/>
        </p:nvSpPr>
        <p:spPr>
          <a:xfrm>
            <a:off x="1073150" y="378579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Simulated: 0.665 €</a:t>
            </a:r>
            <a:endParaRPr lang="en-US" sz="1400" dirty="0"/>
          </a:p>
        </p:txBody>
      </p:sp>
      <p:sp>
        <p:nvSpPr>
          <p:cNvPr id="10" name="Shape 8"/>
          <p:cNvSpPr/>
          <p:nvPr/>
        </p:nvSpPr>
        <p:spPr>
          <a:xfrm>
            <a:off x="6200775" y="2113855"/>
            <a:ext cx="5175250" cy="2152600"/>
          </a:xfrm>
          <a:prstGeom prst="roundRect">
            <a:avLst>
              <a:gd name="adj" fmla="val 4572"/>
            </a:avLst>
          </a:prstGeom>
          <a:solidFill>
            <a:srgbClr val="FBFAF6"/>
          </a:solidFill>
          <a:ln w="6350">
            <a:solidFill>
              <a:srgbClr val="DAD8CF"/>
            </a:solidFill>
            <a:prstDash val="solid"/>
          </a:ln>
        </p:spPr>
      </p:sp>
      <p:sp>
        <p:nvSpPr>
          <p:cNvPr id="11" name="Text 9"/>
          <p:cNvSpPr/>
          <p:nvPr/>
        </p:nvSpPr>
        <p:spPr>
          <a:xfrm>
            <a:off x="6457950" y="2345630"/>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Bob</a:t>
            </a:r>
            <a:endParaRPr lang="en-US" sz="2000" dirty="0"/>
          </a:p>
        </p:txBody>
      </p:sp>
      <p:sp>
        <p:nvSpPr>
          <p:cNvPr id="12" name="Text 10"/>
          <p:cNvSpPr/>
          <p:nvPr/>
        </p:nvSpPr>
        <p:spPr>
          <a:xfrm>
            <a:off x="6457950" y="2726630"/>
            <a:ext cx="48007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2/6 × 2 €</a:t>
            </a:r>
            <a:endParaRPr lang="en-US" sz="1500" dirty="0"/>
          </a:p>
        </p:txBody>
      </p:sp>
      <p:sp>
        <p:nvSpPr>
          <p:cNvPr id="13" name="Text 11"/>
          <p:cNvSpPr/>
          <p:nvPr/>
        </p:nvSpPr>
        <p:spPr>
          <a:xfrm>
            <a:off x="6457950" y="3069530"/>
            <a:ext cx="4800727"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8461A"/>
                </a:solidFill>
                <a:latin typeface="Source Serif 4" pitchFamily="18" charset="0"/>
                <a:ea typeface="Source Serif 4" pitchFamily="18" charset="-122"/>
                <a:cs typeface="Source Serif 4" pitchFamily="18" charset="-120"/>
              </a:rPr>
              <a:t>0.67 €</a:t>
            </a:r>
            <a:endParaRPr lang="en-US" sz="3600" dirty="0"/>
          </a:p>
        </p:txBody>
      </p:sp>
      <p:sp>
        <p:nvSpPr>
          <p:cNvPr id="14" name="Text 12"/>
          <p:cNvSpPr/>
          <p:nvPr/>
        </p:nvSpPr>
        <p:spPr>
          <a:xfrm>
            <a:off x="6457950" y="378579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Simulated: 0.669 €</a:t>
            </a:r>
            <a:endParaRPr lang="en-US" sz="14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Average gain per game · 100,000 simulated games · Notebook §3</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Two dice: which number do you choose?</a:t>
            </a:r>
            <a:endParaRPr lang="en-US" sz="3000" dirty="0"/>
          </a:p>
        </p:txBody>
      </p:sp>
      <p:sp>
        <p:nvSpPr>
          <p:cNvPr id="4" name="Text 2"/>
          <p:cNvSpPr/>
          <p:nvPr/>
        </p:nvSpPr>
        <p:spPr>
          <a:xfrm>
            <a:off x="812800" y="2651720"/>
            <a:ext cx="39700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Pick a number from 2 to 12. You win 100 € if it is the sum of two dice.</a:t>
            </a:r>
            <a:endParaRPr lang="en-US" sz="1500" dirty="0"/>
          </a:p>
        </p:txBody>
      </p:sp>
      <p:sp>
        <p:nvSpPr>
          <p:cNvPr id="5" name="Text 3"/>
          <p:cNvSpPr/>
          <p:nvPr/>
        </p:nvSpPr>
        <p:spPr>
          <a:xfrm>
            <a:off x="812800" y="3337520"/>
            <a:ext cx="397008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Seven</a:t>
            </a:r>
            <a:r>
              <a:rPr lang="en-US" sz="1500" dirty="0">
                <a:solidFill>
                  <a:srgbClr val="4A5568"/>
                </a:solidFill>
                <a:latin typeface="IBM Plex Sans" pitchFamily="34" charset="0"/>
                <a:ea typeface="IBM Plex Sans" pitchFamily="34" charset="-122"/>
                <a:cs typeface="IBM Plex Sans" pitchFamily="34" charset="-120"/>
              </a:rPr>
              <a:t> is the best choice: 6 of the 36 combinations, a probability of 1/6.</a:t>
            </a:r>
            <a:endParaRPr lang="en-US" sz="1500" dirty="0"/>
          </a:p>
        </p:txBody>
      </p:sp>
      <p:sp>
        <p:nvSpPr>
          <p:cNvPr id="6" name="Text 4"/>
          <p:cNvSpPr/>
          <p:nvPr/>
        </p:nvSpPr>
        <p:spPr>
          <a:xfrm>
            <a:off x="812800" y="4023320"/>
            <a:ext cx="39700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100,000 simulated rolls reproduce the exact probabilities.</a:t>
            </a:r>
            <a:endParaRPr lang="en-US" sz="1500" dirty="0"/>
          </a:p>
        </p:txBody>
      </p:sp>
      <p:pic>
        <p:nvPicPr>
          <p:cNvPr id="7" name="Image 0" descr="Bar chart of simulated sums of two dice with exact probabilities as dots, peaking at seven">    </p:cNvPr>
          <p:cNvPicPr>
            <a:picLocks noChangeAspect="1"/>
          </p:cNvPicPr>
          <p:nvPr/>
        </p:nvPicPr>
        <p:blipFill>
          <a:blip r:embed="rId1"/>
          <a:srcRect l="-7" r="-7" t="0" b="0"/>
          <a:stretch/>
        </p:blipFill>
        <p:spPr>
          <a:xfrm>
            <a:off x="5022850" y="1572220"/>
            <a:ext cx="6356350" cy="4064000"/>
          </a:xfrm>
          <a:prstGeom prst="rect">
            <a:avLst/>
          </a:prstGeom>
        </p:spPr>
      </p:pic>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§3</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PROBABILITY</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Random variables: mean, variance, standard deviation</a:t>
            </a:r>
            <a:endParaRPr lang="en-US" sz="3000" dirty="0"/>
          </a:p>
        </p:txBody>
      </p:sp>
      <p:sp>
        <p:nvSpPr>
          <p:cNvPr id="4" name="Shape 2"/>
          <p:cNvSpPr/>
          <p:nvPr/>
        </p:nvSpPr>
        <p:spPr>
          <a:xfrm>
            <a:off x="815975" y="1575395"/>
            <a:ext cx="10560050" cy="773410"/>
          </a:xfrm>
          <a:prstGeom prst="roundRect">
            <a:avLst>
              <a:gd name="adj" fmla="val 12726"/>
            </a:avLst>
          </a:prstGeom>
          <a:solidFill>
            <a:srgbClr val="FBFAF6"/>
          </a:solidFill>
          <a:ln w="6350">
            <a:solidFill>
              <a:srgbClr val="DAD8CF"/>
            </a:solidFill>
            <a:prstDash val="solid"/>
          </a:ln>
        </p:spPr>
      </p:sp>
      <p:pic>
        <p:nvPicPr>
          <p:cNvPr id="5" name="Image 0" descr="mu equals E of X equals the sum of x p of x; sigma squared equals var X equals E of (X minus mu) squared">    </p:cNvPr>
          <p:cNvPicPr>
            <a:picLocks noChangeAspect="1"/>
          </p:cNvPicPr>
          <p:nvPr/>
        </p:nvPicPr>
        <p:blipFill>
          <a:blip r:embed="rId1"/>
          <a:srcRect l="-254" r="-254" t="0" b="0"/>
          <a:stretch/>
        </p:blipFill>
        <p:spPr>
          <a:xfrm>
            <a:off x="1047750" y="1733500"/>
            <a:ext cx="5080000" cy="457200"/>
          </a:xfrm>
          <a:prstGeom prst="rect">
            <a:avLst/>
          </a:prstGeom>
        </p:spPr>
      </p:pic>
      <p:sp>
        <p:nvSpPr>
          <p:cNvPr id="6" name="Text 3"/>
          <p:cNvSpPr/>
          <p:nvPr/>
        </p:nvSpPr>
        <p:spPr>
          <a:xfrm>
            <a:off x="6381750" y="17309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Definitions.</a:t>
            </a:r>
            <a:r>
              <a:rPr lang="en-US" sz="1300" dirty="0">
                <a:solidFill>
                  <a:srgbClr val="4A5568"/>
                </a:solidFill>
                <a:latin typeface="IBM Plex Sans" pitchFamily="34" charset="0"/>
                <a:ea typeface="IBM Plex Sans" pitchFamily="34" charset="-122"/>
                <a:cs typeface="IBM Plex Sans" pitchFamily="34" charset="-120"/>
              </a:rPr>
              <a:t> σ = &amp;radic;var is in the units of </a:t>
            </a:r>
            <a:r>
              <a:rPr lang="en-US" sz="1300" i="1" dirty="0">
                <a:solidFill>
                  <a:srgbClr val="4A5568"/>
                </a:solidFill>
                <a:latin typeface="IBM Plex Sans" pitchFamily="34" charset="0"/>
                <a:ea typeface="IBM Plex Sans" pitchFamily="34" charset="-122"/>
                <a:cs typeface="IBM Plex Sans" pitchFamily="34" charset="-120"/>
              </a:rPr>
              <a:t>X</a:t>
            </a:r>
            <a:r>
              <a:rPr lang="en-US" sz="1300" dirty="0">
                <a:solidFill>
                  <a:srgbClr val="4A5568"/>
                </a:solidFill>
                <a:latin typeface="IBM Plex Sans" pitchFamily="34" charset="0"/>
                <a:ea typeface="IBM Plex Sans" pitchFamily="34" charset="-122"/>
                <a:cs typeface="IBM Plex Sans" pitchFamily="34" charset="-120"/>
              </a:rPr>
              <a:t>. One fair die: μ = 3.5, σ = &amp;radic;(35/12) = 1.71.</a:t>
            </a:r>
            <a:endParaRPr lang="en-US" sz="1300" dirty="0"/>
          </a:p>
        </p:txBody>
      </p:sp>
      <p:sp>
        <p:nvSpPr>
          <p:cNvPr id="7" name="Shape 4"/>
          <p:cNvSpPr/>
          <p:nvPr/>
        </p:nvSpPr>
        <p:spPr>
          <a:xfrm>
            <a:off x="815975" y="2482155"/>
            <a:ext cx="10560050" cy="773410"/>
          </a:xfrm>
          <a:prstGeom prst="roundRect">
            <a:avLst>
              <a:gd name="adj" fmla="val 12726"/>
            </a:avLst>
          </a:prstGeom>
          <a:solidFill>
            <a:srgbClr val="FBFAF6"/>
          </a:solidFill>
          <a:ln w="6350">
            <a:solidFill>
              <a:srgbClr val="DAD8CF"/>
            </a:solidFill>
            <a:prstDash val="solid"/>
          </a:ln>
        </p:spPr>
      </p:sp>
      <p:pic>
        <p:nvPicPr>
          <p:cNvPr id="8" name="Image 1" descr="E of a X plus b equals a mu plus b; sd of a X plus b equals absolute a times sigma">    </p:cNvPr>
          <p:cNvPicPr>
            <a:picLocks noChangeAspect="1"/>
          </p:cNvPicPr>
          <p:nvPr/>
        </p:nvPicPr>
        <p:blipFill>
          <a:blip r:embed="rId2"/>
          <a:srcRect l="-431" r="-431" t="0" b="0"/>
          <a:stretch/>
        </p:blipFill>
        <p:spPr>
          <a:xfrm>
            <a:off x="1047750" y="2684711"/>
            <a:ext cx="4838700" cy="368300"/>
          </a:xfrm>
          <a:prstGeom prst="rect">
            <a:avLst/>
          </a:prstGeom>
        </p:spPr>
      </p:pic>
      <p:sp>
        <p:nvSpPr>
          <p:cNvPr id="9" name="Text 5"/>
          <p:cNvSpPr/>
          <p:nvPr/>
        </p:nvSpPr>
        <p:spPr>
          <a:xfrm>
            <a:off x="6381750" y="263773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Linear change.</a:t>
            </a:r>
            <a:r>
              <a:rPr lang="en-US" sz="1300" dirty="0">
                <a:solidFill>
                  <a:srgbClr val="4A5568"/>
                </a:solidFill>
                <a:latin typeface="IBM Plex Sans" pitchFamily="34" charset="0"/>
                <a:ea typeface="IBM Plex Sans" pitchFamily="34" charset="-122"/>
                <a:cs typeface="IBM Plex Sans" pitchFamily="34" charset="-120"/>
              </a:rPr>
              <a:t> Inches to centimetres: multiply mean and sd by 2.54. Adding a constant moves the mean, not the sd.</a:t>
            </a:r>
            <a:endParaRPr lang="en-US" sz="1300" dirty="0"/>
          </a:p>
        </p:txBody>
      </p:sp>
      <p:sp>
        <p:nvSpPr>
          <p:cNvPr id="10" name="Shape 6"/>
          <p:cNvSpPr/>
          <p:nvPr/>
        </p:nvSpPr>
        <p:spPr>
          <a:xfrm>
            <a:off x="815975" y="3388916"/>
            <a:ext cx="10560050" cy="773410"/>
          </a:xfrm>
          <a:prstGeom prst="roundRect">
            <a:avLst>
              <a:gd name="adj" fmla="val 12726"/>
            </a:avLst>
          </a:prstGeom>
          <a:solidFill>
            <a:srgbClr val="FBFAF6"/>
          </a:solidFill>
          <a:ln w="6350">
            <a:solidFill>
              <a:srgbClr val="DAD8CF"/>
            </a:solidFill>
            <a:prstDash val="solid"/>
          </a:ln>
        </p:spPr>
      </p:sp>
      <p:pic>
        <p:nvPicPr>
          <p:cNvPr id="11" name="Image 2" descr="var of X plus Y equals sigma X squared plus sigma Y squared plus 2 rho sigma X sigma Y">    </p:cNvPr>
          <p:cNvPicPr>
            <a:picLocks noChangeAspect="1"/>
          </p:cNvPicPr>
          <p:nvPr/>
        </p:nvPicPr>
        <p:blipFill>
          <a:blip r:embed="rId3"/>
          <a:srcRect l="0" r="0" t="-45" b="-45"/>
          <a:stretch/>
        </p:blipFill>
        <p:spPr>
          <a:xfrm>
            <a:off x="1047750" y="3578771"/>
            <a:ext cx="3556000" cy="393700"/>
          </a:xfrm>
          <a:prstGeom prst="rect">
            <a:avLst/>
          </a:prstGeom>
        </p:spPr>
      </p:pic>
      <p:sp>
        <p:nvSpPr>
          <p:cNvPr id="12" name="Text 7"/>
          <p:cNvSpPr/>
          <p:nvPr/>
        </p:nvSpPr>
        <p:spPr>
          <a:xfrm>
            <a:off x="6381750" y="3544491"/>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Sums.</a:t>
            </a:r>
            <a:r>
              <a:rPr lang="en-US" sz="1300" dirty="0">
                <a:solidFill>
                  <a:srgbClr val="4A5568"/>
                </a:solidFill>
                <a:latin typeface="IBM Plex Sans" pitchFamily="34" charset="0"/>
                <a:ea typeface="IBM Plex Sans" pitchFamily="34" charset="-122"/>
                <a:cs typeface="IBM Plex Sans" pitchFamily="34" charset="-120"/>
              </a:rPr>
              <a:t> &amp;rho; is the correlation. Independent: &amp;rho; = 0 and variances add. Two dice: mean 7, sd &amp;radic;(2 × 35/12) = 2.42.</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§3</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Four distributions cover most of what we need</a:t>
            </a:r>
            <a:endParaRPr lang="en-US" sz="3000" dirty="0"/>
          </a:p>
        </p:txBody>
      </p:sp>
      <p:sp>
        <p:nvSpPr>
          <p:cNvPr id="4" name="Text 2"/>
          <p:cNvSpPr/>
          <p:nvPr/>
        </p:nvSpPr>
        <p:spPr>
          <a:xfrm>
            <a:off x="812800" y="2674640"/>
            <a:ext cx="4225163"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2A4A"/>
                </a:solidFill>
                <a:latin typeface="IBM Plex Sans" pitchFamily="34" charset="0"/>
                <a:ea typeface="IBM Plex Sans" pitchFamily="34" charset="-122"/>
                <a:cs typeface="IBM Plex Sans" pitchFamily="34" charset="-120"/>
              </a:rPr>
              <a:t>Normal.</a:t>
            </a:r>
            <a:r>
              <a:rPr lang="en-US" sz="1400" dirty="0">
                <a:solidFill>
                  <a:srgbClr val="4A5568"/>
                </a:solidFill>
                <a:latin typeface="IBM Plex Sans" pitchFamily="34" charset="0"/>
                <a:ea typeface="IBM Plex Sans" pitchFamily="34" charset="-122"/>
                <a:cs typeface="IBM Plex Sans" pitchFamily="34" charset="-120"/>
              </a:rPr>
              <a:t> Sums and averages of many small things, such as heights.</a:t>
            </a:r>
            <a:endParaRPr lang="en-US" sz="1400" dirty="0"/>
          </a:p>
        </p:txBody>
      </p:sp>
      <p:sp>
        <p:nvSpPr>
          <p:cNvPr id="5" name="Text 3"/>
          <p:cNvSpPr/>
          <p:nvPr/>
        </p:nvSpPr>
        <p:spPr>
          <a:xfrm>
            <a:off x="812800" y="3294360"/>
            <a:ext cx="4225163"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2A4A"/>
                </a:solidFill>
                <a:latin typeface="IBM Plex Sans" pitchFamily="34" charset="0"/>
                <a:ea typeface="IBM Plex Sans" pitchFamily="34" charset="-122"/>
                <a:cs typeface="IBM Plex Sans" pitchFamily="34" charset="-120"/>
              </a:rPr>
              <a:t>Lognormal.</a:t>
            </a:r>
            <a:r>
              <a:rPr lang="en-US" sz="1400" dirty="0">
                <a:solidFill>
                  <a:srgbClr val="4A5568"/>
                </a:solidFill>
                <a:latin typeface="IBM Plex Sans" pitchFamily="34" charset="0"/>
                <a:ea typeface="IBM Plex Sans" pitchFamily="34" charset="-122"/>
                <a:cs typeface="IBM Plex Sans" pitchFamily="34" charset="-120"/>
              </a:rPr>
              <a:t> Things that multiply, such as incomes. Positive and skewed.</a:t>
            </a:r>
            <a:endParaRPr lang="en-US" sz="1400" dirty="0"/>
          </a:p>
        </p:txBody>
      </p:sp>
      <p:sp>
        <p:nvSpPr>
          <p:cNvPr id="6" name="Text 4"/>
          <p:cNvSpPr/>
          <p:nvPr/>
        </p:nvSpPr>
        <p:spPr>
          <a:xfrm>
            <a:off x="812800" y="3914080"/>
            <a:ext cx="4225163"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2A4A"/>
                </a:solidFill>
                <a:latin typeface="IBM Plex Sans" pitchFamily="34" charset="0"/>
                <a:ea typeface="IBM Plex Sans" pitchFamily="34" charset="-122"/>
                <a:cs typeface="IBM Plex Sans" pitchFamily="34" charset="-120"/>
              </a:rPr>
              <a:t>Binomial.</a:t>
            </a:r>
            <a:r>
              <a:rPr lang="en-US" sz="1400" dirty="0">
                <a:solidFill>
                  <a:srgbClr val="4A5568"/>
                </a:solidFill>
                <a:latin typeface="IBM Plex Sans" pitchFamily="34" charset="0"/>
                <a:ea typeface="IBM Plex Sans" pitchFamily="34" charset="-122"/>
                <a:cs typeface="IBM Plex Sans" pitchFamily="34" charset="-120"/>
              </a:rPr>
              <a:t> Number of successes in n yes/no trials.</a:t>
            </a:r>
            <a:endParaRPr lang="en-US" sz="1400" dirty="0"/>
          </a:p>
        </p:txBody>
      </p:sp>
      <p:sp>
        <p:nvSpPr>
          <p:cNvPr id="7" name="Text 5"/>
          <p:cNvSpPr/>
          <p:nvPr/>
        </p:nvSpPr>
        <p:spPr>
          <a:xfrm>
            <a:off x="812800" y="4293791"/>
            <a:ext cx="4225163"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2A4A"/>
                </a:solidFill>
                <a:latin typeface="IBM Plex Sans" pitchFamily="34" charset="0"/>
                <a:ea typeface="IBM Plex Sans" pitchFamily="34" charset="-122"/>
                <a:cs typeface="IBM Plex Sans" pitchFamily="34" charset="-120"/>
              </a:rPr>
              <a:t>Poisson.</a:t>
            </a:r>
            <a:r>
              <a:rPr lang="en-US" sz="1400" dirty="0">
                <a:solidFill>
                  <a:srgbClr val="4A5568"/>
                </a:solidFill>
                <a:latin typeface="IBM Plex Sans" pitchFamily="34" charset="0"/>
                <a:ea typeface="IBM Plex Sans" pitchFamily="34" charset="-122"/>
                <a:cs typeface="IBM Plex Sans" pitchFamily="34" charset="-120"/>
              </a:rPr>
              <a:t> Counts of rare events: accidents, goals.</a:t>
            </a:r>
            <a:endParaRPr lang="en-US" sz="1400" dirty="0"/>
          </a:p>
        </p:txBody>
      </p:sp>
      <p:pic>
        <p:nvPicPr>
          <p:cNvPr id="8" name="Image 0" descr="Four histograms of 1000 draws: normal, lognormal, binomial and Poisson">    </p:cNvPr>
          <p:cNvPicPr>
            <a:picLocks noChangeAspect="1"/>
          </p:cNvPicPr>
          <p:nvPr/>
        </p:nvPicPr>
        <p:blipFill>
          <a:blip r:embed="rId1"/>
          <a:srcRect l="-33" r="-33" t="0" b="0"/>
          <a:stretch/>
        </p:blipFill>
        <p:spPr>
          <a:xfrm>
            <a:off x="5219700" y="1572220"/>
            <a:ext cx="6159500" cy="4064000"/>
          </a:xfrm>
          <a:prstGeom prst="rect">
            <a:avLst/>
          </a:prstGeom>
        </p:spPr>
      </p:pic>
      <p:sp>
        <p:nvSpPr>
          <p:cNvPr id="9"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1000 simulated draws from each · Notebook §3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mathematical toolkit: lines, growth, logs</a:t>
            </a:r>
            <a:endParaRPr lang="en-US" sz="3000" dirty="0"/>
          </a:p>
        </p:txBody>
      </p:sp>
      <p:sp>
        <p:nvSpPr>
          <p:cNvPr id="4" name="Shape 2"/>
          <p:cNvSpPr/>
          <p:nvPr/>
        </p:nvSpPr>
        <p:spPr>
          <a:xfrm>
            <a:off x="815975" y="1575395"/>
            <a:ext cx="3380284" cy="1860500"/>
          </a:xfrm>
          <a:prstGeom prst="roundRect">
            <a:avLst>
              <a:gd name="adj" fmla="val 5290"/>
            </a:avLst>
          </a:prstGeom>
          <a:solidFill>
            <a:srgbClr val="FBFAF6"/>
          </a:solidFill>
          <a:ln w="6350">
            <a:solidFill>
              <a:srgbClr val="DAD8CF"/>
            </a:solidFill>
            <a:prstDash val="solid"/>
          </a:ln>
        </p:spPr>
      </p:sp>
      <p:sp>
        <p:nvSpPr>
          <p:cNvPr id="5" name="Text 3"/>
          <p:cNvSpPr/>
          <p:nvPr/>
        </p:nvSpPr>
        <p:spPr>
          <a:xfrm>
            <a:off x="1022350" y="175637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A line, y = a + bx</a:t>
            </a:r>
            <a:endParaRPr lang="en-US" sz="1500" dirty="0"/>
          </a:p>
        </p:txBody>
      </p:sp>
      <p:sp>
        <p:nvSpPr>
          <p:cNvPr id="6" name="Text 4"/>
          <p:cNvSpPr/>
          <p:nvPr/>
        </p:nvSpPr>
        <p:spPr>
          <a:xfrm>
            <a:off x="1022350" y="2099270"/>
            <a:ext cx="3056560"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mile-run record of 1007 − 0.393 x seconds has an intercept at year 0 that means nothing. Recentre: 260 − 0.393 (x − 1900). The slope is a description of the trend, not a cause.</a:t>
            </a:r>
            <a:endParaRPr lang="en-US" sz="1300" dirty="0"/>
          </a:p>
        </p:txBody>
      </p:sp>
      <p:sp>
        <p:nvSpPr>
          <p:cNvPr id="7" name="Shape 5"/>
          <p:cNvSpPr/>
          <p:nvPr/>
        </p:nvSpPr>
        <p:spPr>
          <a:xfrm>
            <a:off x="4405809" y="1575395"/>
            <a:ext cx="3380333" cy="1860500"/>
          </a:xfrm>
          <a:prstGeom prst="roundRect">
            <a:avLst>
              <a:gd name="adj" fmla="val 5290"/>
            </a:avLst>
          </a:prstGeom>
          <a:solidFill>
            <a:srgbClr val="FBFAF6"/>
          </a:solidFill>
          <a:ln w="6350">
            <a:solidFill>
              <a:srgbClr val="DAD8CF"/>
            </a:solidFill>
            <a:prstDash val="solid"/>
          </a:ln>
        </p:spPr>
      </p:sp>
      <p:sp>
        <p:nvSpPr>
          <p:cNvPr id="8" name="Text 6"/>
          <p:cNvSpPr/>
          <p:nvPr/>
        </p:nvSpPr>
        <p:spPr>
          <a:xfrm>
            <a:off x="4612184"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Exponential change</a:t>
            </a:r>
            <a:endParaRPr lang="en-US" sz="1500" dirty="0"/>
          </a:p>
        </p:txBody>
      </p:sp>
      <p:sp>
        <p:nvSpPr>
          <p:cNvPr id="9" name="Text 7"/>
          <p:cNvSpPr/>
          <p:nvPr/>
        </p:nvSpPr>
        <p:spPr>
          <a:xfrm>
            <a:off x="4612184" y="2099270"/>
            <a:ext cx="3056611"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Doubling every 50 years means a factor e0.014 per year. A 20% yearly decline means e−0.22 x.</a:t>
            </a:r>
            <a:endParaRPr lang="en-US" sz="1300" dirty="0"/>
          </a:p>
        </p:txBody>
      </p:sp>
      <p:sp>
        <p:nvSpPr>
          <p:cNvPr id="10" name="Shape 8"/>
          <p:cNvSpPr/>
          <p:nvPr/>
        </p:nvSpPr>
        <p:spPr>
          <a:xfrm>
            <a:off x="7995692" y="1575395"/>
            <a:ext cx="3380333" cy="1860500"/>
          </a:xfrm>
          <a:prstGeom prst="roundRect">
            <a:avLst>
              <a:gd name="adj" fmla="val 5290"/>
            </a:avLst>
          </a:prstGeom>
          <a:solidFill>
            <a:srgbClr val="FBFAF6"/>
          </a:solidFill>
          <a:ln w="6350">
            <a:solidFill>
              <a:srgbClr val="DAD8CF"/>
            </a:solidFill>
            <a:prstDash val="solid"/>
          </a:ln>
        </p:spPr>
      </p:sp>
      <p:sp>
        <p:nvSpPr>
          <p:cNvPr id="11" name="Text 9"/>
          <p:cNvSpPr/>
          <p:nvPr/>
        </p:nvSpPr>
        <p:spPr>
          <a:xfrm>
            <a:off x="8202067"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Power law</a:t>
            </a:r>
            <a:endParaRPr lang="en-US" sz="1500" dirty="0"/>
          </a:p>
        </p:txBody>
      </p:sp>
      <p:sp>
        <p:nvSpPr>
          <p:cNvPr id="12" name="Text 10"/>
          <p:cNvSpPr/>
          <p:nvPr/>
        </p:nvSpPr>
        <p:spPr>
          <a:xfrm>
            <a:off x="8202067" y="2099270"/>
            <a:ext cx="3056611"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log y = a + b log x. Metabolic rate 4.1 x0.74: doubling the mass multiplies the rate by 1.67, multiplying it by 10 gives 5.5.</a:t>
            </a:r>
            <a:endParaRPr lang="en-US" sz="13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§11.1</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 power law is a straight line on log-log axes</a:t>
            </a:r>
            <a:endParaRPr lang="en-US" sz="3000" dirty="0"/>
          </a:p>
        </p:txBody>
      </p:sp>
      <p:pic>
        <p:nvPicPr>
          <p:cNvPr id="4" name="Image 0" descr="Metabolic rate against mass: curve on the original scale, straight line on log-log scale">    </p:cNvPr>
          <p:cNvPicPr>
            <a:picLocks noChangeAspect="1"/>
          </p:cNvPicPr>
          <p:nvPr/>
        </p:nvPicPr>
        <p:blipFill>
          <a:blip r:embed="rId1"/>
          <a:srcRect l="-42" r="-42" t="0" b="0"/>
          <a:stretch/>
        </p:blipFill>
        <p:spPr>
          <a:xfrm>
            <a:off x="812800" y="1572220"/>
            <a:ext cx="9525000" cy="3549650"/>
          </a:xfrm>
          <a:prstGeom prst="rect">
            <a:avLst/>
          </a:prstGeom>
        </p:spPr>
      </p:pic>
      <p:sp>
        <p:nvSpPr>
          <p:cNvPr id="5" name="Text 2"/>
          <p:cNvSpPr/>
          <p:nvPr/>
        </p:nvSpPr>
        <p:spPr>
          <a:xfrm>
            <a:off x="812800" y="52742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slope 0.74 on the log-log plot is the exponent: a 1% rise in mass goes with about a 0.74% rise in rate.</a:t>
            </a:r>
            <a:endParaRPr lang="en-US" sz="14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§11.1</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12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8525"/>
            <a:ext cx="10883392" cy="443309"/>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normal distribution: handy, and not universal</a:t>
            </a:r>
            <a:endParaRPr lang="en-US" sz="3000" dirty="0"/>
          </a:p>
        </p:txBody>
      </p:sp>
      <p:pic>
        <p:nvPicPr>
          <p:cNvPr id="4" name="Image 0" descr="Normal with 68, 95 and 99.7 percent bands, and histogram of a mixture of men's and women's heights">    </p:cNvPr>
          <p:cNvPicPr>
            <a:picLocks noChangeAspect="1"/>
          </p:cNvPicPr>
          <p:nvPr/>
        </p:nvPicPr>
        <p:blipFill>
          <a:blip r:embed="rId1"/>
          <a:srcRect l="-98" r="-98" t="0" b="0"/>
          <a:stretch/>
        </p:blipFill>
        <p:spPr>
          <a:xfrm>
            <a:off x="812800" y="1570434"/>
            <a:ext cx="9525000" cy="3622675"/>
          </a:xfrm>
          <a:prstGeom prst="rect">
            <a:avLst/>
          </a:prstGeom>
        </p:spPr>
      </p:pic>
      <p:sp>
        <p:nvSpPr>
          <p:cNvPr id="5" name="Text 2"/>
          <p:cNvSpPr/>
          <p:nvPr/>
        </p:nvSpPr>
        <p:spPr>
          <a:xfrm>
            <a:off x="812800" y="5345509"/>
            <a:ext cx="10883392" cy="5218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About 68%, 95%, 99.7% within 1, 2, 3 standard deviations; 50% within 0.67. Heights of women are close to normal. Heights of all adults mix two groups, so a single normal fits worse.</a:t>
            </a:r>
            <a:endParaRPr lang="en-US" sz="14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§11.2</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Means, variances and the standard families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1796604"/>
        </p:xfrm>
        <a:graphic>
          <a:graphicData uri="http://schemas.openxmlformats.org/drawingml/2006/table">
            <a:tbl>
              <a:tblPr/>
              <a:tblGrid>
                <a:gridCol w="2321814"/>
                <a:gridCol w="4010406"/>
                <a:gridCol w="2110740"/>
                <a:gridCol w="2110740"/>
              </a:tblGrid>
              <a:tr h="359321">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Mean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B2633"/>
                          </a:solidFill>
                          <a:latin typeface="IBM Plex Sans" pitchFamily="34" charset="0"/>
                          <a:ea typeface="IBM Plex Sans" pitchFamily="34" charset="-122"/>
                          <a:cs typeface="IBM Plex Sans" pitchFamily="34" charset="-120"/>
                        </a:rPr>
                        <a:t>Standard deviation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932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Normal(m,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Sums and averages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Lognormal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Weights, incomes. Men: log mean 5.13, log sd 0.17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geometric mean 169 lb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geometric sd 1.19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Binomial(n, 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Successes in n trials. 20 shots at 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n p = 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&amp;radic;(n p (1−p)) = 2.05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Poisson(λ)</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Rare events. 750 people, 1% named Michael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λ = 7.5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B2633"/>
                          </a:solidFill>
                          <a:latin typeface="IBM Plex Sans" pitchFamily="34" charset="0"/>
                          <a:ea typeface="IBM Plex Sans" pitchFamily="34" charset="-122"/>
                          <a:cs typeface="IBM Plex Sans" pitchFamily="34" charset="-120"/>
                        </a:rPr>
                        <a:t>&amp;radic;λ</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§11.3</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PROBABILITY</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standard families, as formulas</a:t>
            </a:r>
            <a:endParaRPr lang="en-US" sz="3000" dirty="0"/>
          </a:p>
        </p:txBody>
      </p:sp>
      <p:sp>
        <p:nvSpPr>
          <p:cNvPr id="4" name="Shape 2"/>
          <p:cNvSpPr/>
          <p:nvPr/>
        </p:nvSpPr>
        <p:spPr>
          <a:xfrm>
            <a:off x="815975" y="1575395"/>
            <a:ext cx="10560050" cy="1098550"/>
          </a:xfrm>
          <a:prstGeom prst="roundRect">
            <a:avLst>
              <a:gd name="adj" fmla="val 8960"/>
            </a:avLst>
          </a:prstGeom>
          <a:solidFill>
            <a:srgbClr val="FBFAF6"/>
          </a:solidFill>
          <a:ln w="6350">
            <a:solidFill>
              <a:srgbClr val="DAD8CF"/>
            </a:solidFill>
            <a:prstDash val="solid"/>
          </a:ln>
        </p:spPr>
      </p:sp>
      <p:pic>
        <p:nvPicPr>
          <p:cNvPr id="5" name="Image 0" descr="f of x equals 1 over sigma root 2 pi times e to the minus (x minus mu) squared over 2 sigma squared; z equals x minus mu over sigma">    </p:cNvPr>
          <p:cNvPicPr>
            <a:picLocks noChangeAspect="1"/>
          </p:cNvPicPr>
          <p:nvPr/>
        </p:nvPicPr>
        <p:blipFill>
          <a:blip r:embed="rId1"/>
          <a:srcRect l="0" r="0" t="-34" b="-34"/>
          <a:stretch/>
        </p:blipFill>
        <p:spPr>
          <a:xfrm>
            <a:off x="1047750" y="1730970"/>
            <a:ext cx="4660900" cy="787400"/>
          </a:xfrm>
          <a:prstGeom prst="rect">
            <a:avLst/>
          </a:prstGeom>
        </p:spPr>
      </p:pic>
      <p:sp>
        <p:nvSpPr>
          <p:cNvPr id="6" name="Text 3"/>
          <p:cNvSpPr/>
          <p:nvPr/>
        </p:nvSpPr>
        <p:spPr>
          <a:xfrm>
            <a:off x="6381750" y="189354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Normal N(μ, σ²).</a:t>
            </a:r>
            <a:r>
              <a:rPr lang="en-US" sz="1300" dirty="0">
                <a:solidFill>
                  <a:srgbClr val="4A5568"/>
                </a:solidFill>
                <a:latin typeface="IBM Plex Sans" pitchFamily="34" charset="0"/>
                <a:ea typeface="IBM Plex Sans" pitchFamily="34" charset="-122"/>
                <a:cs typeface="IBM Plex Sans" pitchFamily="34" charset="-120"/>
              </a:rPr>
              <a:t> </a:t>
            </a:r>
            <a:r>
              <a:rPr lang="en-US" sz="1300" i="1" dirty="0">
                <a:solidFill>
                  <a:srgbClr val="4A5568"/>
                </a:solidFill>
                <a:latin typeface="IBM Plex Sans" pitchFamily="34" charset="0"/>
                <a:ea typeface="IBM Plex Sans" pitchFamily="34" charset="-122"/>
                <a:cs typeface="IBM Plex Sans" pitchFamily="34" charset="-120"/>
              </a:rPr>
              <a:t>P</a:t>
            </a:r>
            <a:r>
              <a:rPr lang="en-US" sz="1300" dirty="0">
                <a:solidFill>
                  <a:srgbClr val="4A5568"/>
                </a:solidFill>
                <a:latin typeface="IBM Plex Sans" pitchFamily="34" charset="0"/>
                <a:ea typeface="IBM Plex Sans" pitchFamily="34" charset="-122"/>
                <a:cs typeface="IBM Plex Sans" pitchFamily="34" charset="-120"/>
              </a:rPr>
              <a:t>(|</a:t>
            </a:r>
            <a:r>
              <a:rPr lang="en-US" sz="1300" i="1" dirty="0">
                <a:solidFill>
                  <a:srgbClr val="4A5568"/>
                </a:solidFill>
                <a:latin typeface="IBM Plex Sans" pitchFamily="34" charset="0"/>
                <a:ea typeface="IBM Plex Sans" pitchFamily="34" charset="-122"/>
                <a:cs typeface="IBM Plex Sans" pitchFamily="34" charset="-120"/>
              </a:rPr>
              <a:t>X</a:t>
            </a:r>
            <a:r>
              <a:rPr lang="en-US" sz="1300" dirty="0">
                <a:solidFill>
                  <a:srgbClr val="4A5568"/>
                </a:solidFill>
                <a:latin typeface="IBM Plex Sans" pitchFamily="34" charset="0"/>
                <a:ea typeface="IBM Plex Sans" pitchFamily="34" charset="-122"/>
                <a:cs typeface="IBM Plex Sans" pitchFamily="34" charset="-120"/>
              </a:rPr>
              <a:t> − μ| ≤ </a:t>
            </a:r>
            <a:r>
              <a:rPr lang="en-US" sz="1300" i="1" dirty="0">
                <a:solidFill>
                  <a:srgbClr val="4A5568"/>
                </a:solidFill>
                <a:latin typeface="IBM Plex Sans" pitchFamily="34" charset="0"/>
                <a:ea typeface="IBM Plex Sans" pitchFamily="34" charset="-122"/>
                <a:cs typeface="IBM Plex Sans" pitchFamily="34" charset="-120"/>
              </a:rPr>
              <a:t>k</a:t>
            </a:r>
            <a:r>
              <a:rPr lang="en-US" sz="1300" dirty="0">
                <a:solidFill>
                  <a:srgbClr val="4A5568"/>
                </a:solidFill>
                <a:latin typeface="IBM Plex Sans" pitchFamily="34" charset="0"/>
                <a:ea typeface="IBM Plex Sans" pitchFamily="34" charset="-122"/>
                <a:cs typeface="IBM Plex Sans" pitchFamily="34" charset="-120"/>
              </a:rPr>
              <a:t>σ) = 2&amp;Phi;(</a:t>
            </a:r>
            <a:r>
              <a:rPr lang="en-US" sz="1300" i="1" dirty="0">
                <a:solidFill>
                  <a:srgbClr val="4A5568"/>
                </a:solidFill>
                <a:latin typeface="IBM Plex Sans" pitchFamily="34" charset="0"/>
                <a:ea typeface="IBM Plex Sans" pitchFamily="34" charset="-122"/>
                <a:cs typeface="IBM Plex Sans" pitchFamily="34" charset="-120"/>
              </a:rPr>
              <a:t>k</a:t>
            </a:r>
            <a:r>
              <a:rPr lang="en-US" sz="1300" dirty="0">
                <a:solidFill>
                  <a:srgbClr val="4A5568"/>
                </a:solidFill>
                <a:latin typeface="IBM Plex Sans" pitchFamily="34" charset="0"/>
                <a:ea typeface="IBM Plex Sans" pitchFamily="34" charset="-122"/>
                <a:cs typeface="IBM Plex Sans" pitchFamily="34" charset="-120"/>
              </a:rPr>
              <a:t>) − 1: 0.683, 0.954, 0.997 for </a:t>
            </a:r>
            <a:r>
              <a:rPr lang="en-US" sz="1300" i="1" dirty="0">
                <a:solidFill>
                  <a:srgbClr val="4A5568"/>
                </a:solidFill>
                <a:latin typeface="IBM Plex Sans" pitchFamily="34" charset="0"/>
                <a:ea typeface="IBM Plex Sans" pitchFamily="34" charset="-122"/>
                <a:cs typeface="IBM Plex Sans" pitchFamily="34" charset="-120"/>
              </a:rPr>
              <a:t>k</a:t>
            </a:r>
            <a:r>
              <a:rPr lang="en-US" sz="1300" dirty="0">
                <a:solidFill>
                  <a:srgbClr val="4A5568"/>
                </a:solidFill>
                <a:latin typeface="IBM Plex Sans" pitchFamily="34" charset="0"/>
                <a:ea typeface="IBM Plex Sans" pitchFamily="34" charset="-122"/>
                <a:cs typeface="IBM Plex Sans" pitchFamily="34" charset="-120"/>
              </a:rPr>
              <a:t> = 1, 2, 3. Lognormal: log </a:t>
            </a:r>
            <a:r>
              <a:rPr lang="en-US" sz="1300" i="1" dirty="0">
                <a:solidFill>
                  <a:srgbClr val="4A5568"/>
                </a:solidFill>
                <a:latin typeface="IBM Plex Sans" pitchFamily="34" charset="0"/>
                <a:ea typeface="IBM Plex Sans" pitchFamily="34" charset="-122"/>
                <a:cs typeface="IBM Plex Sans" pitchFamily="34" charset="-120"/>
              </a:rPr>
              <a:t>Y</a:t>
            </a:r>
            <a:r>
              <a:rPr lang="en-US" sz="1300" dirty="0">
                <a:solidFill>
                  <a:srgbClr val="4A5568"/>
                </a:solidFill>
                <a:latin typeface="IBM Plex Sans" pitchFamily="34" charset="0"/>
                <a:ea typeface="IBM Plex Sans" pitchFamily="34" charset="-122"/>
                <a:cs typeface="IBM Plex Sans" pitchFamily="34" charset="-120"/>
              </a:rPr>
              <a:t> is normal.</a:t>
            </a:r>
            <a:endParaRPr lang="en-US" sz="1300" dirty="0"/>
          </a:p>
        </p:txBody>
      </p:sp>
      <p:sp>
        <p:nvSpPr>
          <p:cNvPr id="7" name="Shape 4"/>
          <p:cNvSpPr/>
          <p:nvPr/>
        </p:nvSpPr>
        <p:spPr>
          <a:xfrm>
            <a:off x="815975" y="2807295"/>
            <a:ext cx="10560050" cy="773410"/>
          </a:xfrm>
          <a:prstGeom prst="roundRect">
            <a:avLst>
              <a:gd name="adj" fmla="val 12726"/>
            </a:avLst>
          </a:prstGeom>
          <a:solidFill>
            <a:srgbClr val="FBFAF6"/>
          </a:solidFill>
          <a:ln w="6350">
            <a:solidFill>
              <a:srgbClr val="DAD8CF"/>
            </a:solidFill>
            <a:prstDash val="solid"/>
          </a:ln>
        </p:spPr>
      </p:sp>
      <p:pic>
        <p:nvPicPr>
          <p:cNvPr id="8" name="Image 1" descr="P of Y equals k equals n choose k times p to the k times 1 minus p to the n minus k">    </p:cNvPr>
          <p:cNvPicPr>
            <a:picLocks noChangeAspect="1"/>
          </p:cNvPicPr>
          <p:nvPr/>
        </p:nvPicPr>
        <p:blipFill>
          <a:blip r:embed="rId2"/>
          <a:srcRect l="0" r="0" t="0" b="0"/>
          <a:stretch/>
        </p:blipFill>
        <p:spPr>
          <a:xfrm>
            <a:off x="1047750" y="2997150"/>
            <a:ext cx="3155950" cy="393700"/>
          </a:xfrm>
          <a:prstGeom prst="rect">
            <a:avLst/>
          </a:prstGeom>
        </p:spPr>
      </p:pic>
      <p:sp>
        <p:nvSpPr>
          <p:cNvPr id="9" name="Text 5"/>
          <p:cNvSpPr/>
          <p:nvPr/>
        </p:nvSpPr>
        <p:spPr>
          <a:xfrm>
            <a:off x="6381750" y="29628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Binomial(</a:t>
            </a:r>
            <a:r>
              <a:rPr lang="en-US" sz="1300" b="1" i="1" dirty="0">
                <a:solidFill>
                  <a:srgbClr val="0F2A4A"/>
                </a:solidFill>
                <a:latin typeface="IBM Plex Sans" pitchFamily="34" charset="0"/>
                <a:ea typeface="IBM Plex Sans" pitchFamily="34" charset="-122"/>
                <a:cs typeface="IBM Plex Sans" pitchFamily="34" charset="-120"/>
              </a:rPr>
              <a:t>n</a:t>
            </a:r>
            <a:r>
              <a:rPr lang="en-US" sz="1300" b="1" dirty="0">
                <a:solidFill>
                  <a:srgbClr val="0F2A4A"/>
                </a:solidFill>
                <a:latin typeface="IBM Plex Sans" pitchFamily="34" charset="0"/>
                <a:ea typeface="IBM Plex Sans" pitchFamily="34" charset="-122"/>
                <a:cs typeface="IBM Plex Sans" pitchFamily="34" charset="-120"/>
              </a:rPr>
              <a:t>, </a:t>
            </a:r>
            <a:r>
              <a:rPr lang="en-US" sz="1300" b="1" i="1" dirty="0">
                <a:solidFill>
                  <a:srgbClr val="0F2A4A"/>
                </a:solidFill>
                <a:latin typeface="IBM Plex Sans" pitchFamily="34" charset="0"/>
                <a:ea typeface="IBM Plex Sans" pitchFamily="34" charset="-122"/>
                <a:cs typeface="IBM Plex Sans" pitchFamily="34" charset="-120"/>
              </a:rPr>
              <a:t>p</a:t>
            </a:r>
            <a:r>
              <a:rPr lang="en-US" sz="1300" b="1" dirty="0">
                <a:solidFill>
                  <a:srgbClr val="0F2A4A"/>
                </a:solidFill>
                <a:latin typeface="IBM Plex Sans" pitchFamily="34" charset="0"/>
                <a:ea typeface="IBM Plex Sans" pitchFamily="34" charset="-122"/>
                <a:cs typeface="IBM Plex Sans" pitchFamily="34" charset="-120"/>
              </a:rPr>
              <a:t>).</a:t>
            </a:r>
            <a:r>
              <a:rPr lang="en-US" sz="1300" dirty="0">
                <a:solidFill>
                  <a:srgbClr val="4A5568"/>
                </a:solidFill>
                <a:latin typeface="IBM Plex Sans" pitchFamily="34" charset="0"/>
                <a:ea typeface="IBM Plex Sans" pitchFamily="34" charset="-122"/>
                <a:cs typeface="IBM Plex Sans" pitchFamily="34" charset="-120"/>
              </a:rPr>
              <a:t> Successes in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independent trials. Mean </a:t>
            </a:r>
            <a:r>
              <a:rPr lang="en-US" sz="1300" i="1" dirty="0">
                <a:solidFill>
                  <a:srgbClr val="4A5568"/>
                </a:solidFill>
                <a:latin typeface="IBM Plex Sans" pitchFamily="34" charset="0"/>
                <a:ea typeface="IBM Plex Sans" pitchFamily="34" charset="-122"/>
                <a:cs typeface="IBM Plex Sans" pitchFamily="34" charset="-120"/>
              </a:rPr>
              <a:t>np</a:t>
            </a:r>
            <a:r>
              <a:rPr lang="en-US" sz="1300" dirty="0">
                <a:solidFill>
                  <a:srgbClr val="4A5568"/>
                </a:solidFill>
                <a:latin typeface="IBM Plex Sans" pitchFamily="34" charset="0"/>
                <a:ea typeface="IBM Plex Sans" pitchFamily="34" charset="-122"/>
                <a:cs typeface="IBM Plex Sans" pitchFamily="34" charset="-120"/>
              </a:rPr>
              <a:t>, sd &amp;radic;(</a:t>
            </a:r>
            <a:r>
              <a:rPr lang="en-US" sz="1300" i="1" dirty="0">
                <a:solidFill>
                  <a:srgbClr val="4A5568"/>
                </a:solidFill>
                <a:latin typeface="IBM Plex Sans" pitchFamily="34" charset="0"/>
                <a:ea typeface="IBM Plex Sans" pitchFamily="34" charset="-122"/>
                <a:cs typeface="IBM Plex Sans" pitchFamily="34" charset="-120"/>
              </a:rPr>
              <a:t>np</a:t>
            </a:r>
            <a:r>
              <a:rPr lang="en-US" sz="1300" dirty="0">
                <a:solidFill>
                  <a:srgbClr val="4A5568"/>
                </a:solidFill>
                <a:latin typeface="IBM Plex Sans" pitchFamily="34" charset="0"/>
                <a:ea typeface="IBM Plex Sans" pitchFamily="34" charset="-122"/>
                <a:cs typeface="IBM Plex Sans" pitchFamily="34" charset="-120"/>
              </a:rPr>
              <a:t>(1 − </a:t>
            </a:r>
            <a:r>
              <a:rPr lang="en-US" sz="1300" i="1" dirty="0">
                <a:solidFill>
                  <a:srgbClr val="4A5568"/>
                </a:solidFill>
                <a:latin typeface="IBM Plex Sans" pitchFamily="34" charset="0"/>
                <a:ea typeface="IBM Plex Sans" pitchFamily="34" charset="-122"/>
                <a:cs typeface="IBM Plex Sans" pitchFamily="34" charset="-120"/>
              </a:rPr>
              <a:t>p</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0" name="Shape 6"/>
          <p:cNvSpPr/>
          <p:nvPr/>
        </p:nvSpPr>
        <p:spPr>
          <a:xfrm>
            <a:off x="815975" y="3714055"/>
            <a:ext cx="10560050" cy="1022350"/>
          </a:xfrm>
          <a:prstGeom prst="roundRect">
            <a:avLst>
              <a:gd name="adj" fmla="val 9627"/>
            </a:avLst>
          </a:prstGeom>
          <a:solidFill>
            <a:srgbClr val="FBFAF6"/>
          </a:solidFill>
          <a:ln w="6350">
            <a:solidFill>
              <a:srgbClr val="DAD8CF"/>
            </a:solidFill>
            <a:prstDash val="solid"/>
          </a:ln>
        </p:spPr>
      </p:sp>
      <p:pic>
        <p:nvPicPr>
          <p:cNvPr id="11" name="Image 2" descr="P of Y equals k equals lambda to the k times e to the minus lambda over k factorial">    </p:cNvPr>
          <p:cNvPicPr>
            <a:picLocks noChangeAspect="1"/>
          </p:cNvPicPr>
          <p:nvPr/>
        </p:nvPicPr>
        <p:blipFill>
          <a:blip r:embed="rId3"/>
          <a:srcRect l="0" r="0" t="-80" b="-80"/>
          <a:stretch/>
        </p:blipFill>
        <p:spPr>
          <a:xfrm>
            <a:off x="1047750" y="3869630"/>
            <a:ext cx="1993900" cy="711200"/>
          </a:xfrm>
          <a:prstGeom prst="rect">
            <a:avLst/>
          </a:prstGeom>
        </p:spPr>
      </p:pic>
      <p:sp>
        <p:nvSpPr>
          <p:cNvPr id="12" name="Text 7"/>
          <p:cNvSpPr/>
          <p:nvPr/>
        </p:nvSpPr>
        <p:spPr>
          <a:xfrm>
            <a:off x="6381750" y="399410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Poisson(λ).</a:t>
            </a:r>
            <a:r>
              <a:rPr lang="en-US" sz="1300" dirty="0">
                <a:solidFill>
                  <a:srgbClr val="4A5568"/>
                </a:solidFill>
                <a:latin typeface="IBM Plex Sans" pitchFamily="34" charset="0"/>
                <a:ea typeface="IBM Plex Sans" pitchFamily="34" charset="-122"/>
                <a:cs typeface="IBM Plex Sans" pitchFamily="34" charset="-120"/>
              </a:rPr>
              <a:t> Counts of rare events. Mean = variance = λ, so the sd is &amp;radic;λ.</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Effects against the spread of the data</a:t>
            </a:r>
            <a:endParaRPr lang="en-US" sz="3000" dirty="0"/>
          </a:p>
        </p:txBody>
      </p:sp>
      <p:sp>
        <p:nvSpPr>
          <p:cNvPr id="4" name="Text 2"/>
          <p:cNvSpPr/>
          <p:nvPr/>
        </p:nvSpPr>
        <p:spPr>
          <a:xfrm>
            <a:off x="812800" y="157222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633"/>
                </a:solidFill>
                <a:latin typeface="IBM Plex Sans" pitchFamily="34" charset="0"/>
                <a:ea typeface="IBM Plex Sans" pitchFamily="34" charset="-122"/>
                <a:cs typeface="IBM Plex Sans" pitchFamily="34" charset="-120"/>
              </a:rPr>
              <a:t>A stent trial reports that treated patients exercise 20 seconds longer on a treadmill. Patients vary a lot: mean 510 s, sd 190 s.</a:t>
            </a:r>
            <a:endParaRPr lang="en-US" sz="1600" dirty="0"/>
          </a:p>
        </p:txBody>
      </p:sp>
      <p:sp>
        <p:nvSpPr>
          <p:cNvPr id="5" name="Shape 3"/>
          <p:cNvSpPr/>
          <p:nvPr/>
        </p:nvSpPr>
        <p:spPr>
          <a:xfrm>
            <a:off x="815975" y="2296716"/>
            <a:ext cx="10560050" cy="1167110"/>
          </a:xfrm>
          <a:prstGeom prst="roundRect">
            <a:avLst>
              <a:gd name="adj" fmla="val 8433"/>
            </a:avLst>
          </a:prstGeom>
          <a:solidFill>
            <a:srgbClr val="FBFAF6"/>
          </a:solidFill>
          <a:ln w="6350">
            <a:solidFill>
              <a:srgbClr val="DAD8CF"/>
            </a:solidFill>
            <a:prstDash val="solid"/>
          </a:ln>
        </p:spPr>
      </p:sp>
      <p:sp>
        <p:nvSpPr>
          <p:cNvPr id="6" name="Text 4"/>
          <p:cNvSpPr/>
          <p:nvPr/>
        </p:nvSpPr>
        <p:spPr>
          <a:xfrm>
            <a:off x="1022350" y="2477691"/>
            <a:ext cx="1045171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What 20 seconds means</a:t>
            </a:r>
            <a:endParaRPr lang="en-US" sz="1500" dirty="0"/>
          </a:p>
        </p:txBody>
      </p:sp>
      <p:sp>
        <p:nvSpPr>
          <p:cNvPr id="7" name="Text 5"/>
          <p:cNvSpPr/>
          <p:nvPr/>
        </p:nvSpPr>
        <p:spPr>
          <a:xfrm>
            <a:off x="1022350" y="2820591"/>
            <a:ext cx="104517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patient at the median (50th percentile) would move to the 54th percentile. Real, but small compared with the variation between patients.</a:t>
            </a:r>
            <a:endParaRPr lang="en-US" sz="1300" dirty="0"/>
          </a:p>
        </p:txBody>
      </p:sp>
      <p:sp>
        <p:nvSpPr>
          <p:cNvPr id="8" name="Text 6"/>
          <p:cNvSpPr/>
          <p:nvPr/>
        </p:nvSpPr>
        <p:spPr>
          <a:xfrm>
            <a:off x="812800" y="36194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461A"/>
                </a:solidFill>
                <a:latin typeface="IBM Plex Sans" pitchFamily="34" charset="0"/>
                <a:ea typeface="IBM Plex Sans" pitchFamily="34" charset="-122"/>
                <a:cs typeface="IBM Plex Sans" pitchFamily="34" charset="-120"/>
              </a:rPr>
              <a:t>Always compare an effect with the variability it lives in.</a:t>
            </a:r>
            <a:endParaRPr lang="en-US" sz="1500" dirty="0"/>
          </a:p>
        </p:txBody>
      </p:sp>
      <p:sp>
        <p:nvSpPr>
          <p:cNvPr id="9" name="Text 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§11.4</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When a probability model breaks: the decisive vote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2063750"/>
        </p:xfrm>
        <a:graphic>
          <a:graphicData uri="http://schemas.openxmlformats.org/drawingml/2006/table">
            <a:tbl>
              <a:tblPr/>
              <a:tblGrid>
                <a:gridCol w="5276850"/>
                <a:gridCol w="5276850"/>
              </a:tblGrid>
              <a:tr h="412750">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Model for the vote share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Chance one vote decides (200,000 voters)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Forecast N(0.49, 0.04)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4.8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Forecast N(0.50, 0.20)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1.0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Binomial, p = 0.50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1.8 × 10−3 (1 in 560)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Binomial, p = 0.49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7.5 × 10−21, absurd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§11.4</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PROBABILITY AS A GENERATIVE MODEL</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Why the bell curve is everywhere</a:t>
            </a:r>
            <a:endParaRPr lang="en-US" sz="3000" dirty="0"/>
          </a:p>
        </p:txBody>
      </p:sp>
      <p:sp>
        <p:nvSpPr>
          <p:cNvPr id="4" name="Text 2"/>
          <p:cNvSpPr/>
          <p:nvPr/>
        </p:nvSpPr>
        <p:spPr>
          <a:xfrm>
            <a:off x="812800" y="2715220"/>
            <a:ext cx="47091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Add up 20 independent uniform numbers between 0 and 1. Each one is flat. The </a:t>
            </a:r>
            <a:r>
              <a:rPr lang="en-US" sz="1500" b="1" dirty="0">
                <a:solidFill>
                  <a:srgbClr val="1B2633"/>
                </a:solidFill>
                <a:latin typeface="IBM Plex Sans" pitchFamily="34" charset="0"/>
                <a:ea typeface="IBM Plex Sans" pitchFamily="34" charset="-122"/>
                <a:cs typeface="IBM Plex Sans" pitchFamily="34" charset="-120"/>
              </a:rPr>
              <a:t>sum</a:t>
            </a:r>
            <a:r>
              <a:rPr lang="en-US" sz="1500" dirty="0">
                <a:solidFill>
                  <a:srgbClr val="1B2633"/>
                </a:solidFill>
                <a:latin typeface="IBM Plex Sans" pitchFamily="34" charset="0"/>
                <a:ea typeface="IBM Plex Sans" pitchFamily="34" charset="-122"/>
                <a:cs typeface="IBM Plex Sans" pitchFamily="34" charset="-120"/>
              </a:rPr>
              <a:t> is bell-shaped.</a:t>
            </a:r>
            <a:endParaRPr lang="en-US" sz="1500" dirty="0"/>
          </a:p>
        </p:txBody>
      </p:sp>
      <p:sp>
        <p:nvSpPr>
          <p:cNvPr id="5" name="Text 3"/>
          <p:cNvSpPr/>
          <p:nvPr/>
        </p:nvSpPr>
        <p:spPr>
          <a:xfrm>
            <a:off x="812800" y="3401020"/>
            <a:ext cx="47091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Averages and proportions from large samples behave the same way. This is the Central Limit Theorem, and the reason confidence intervals work.</a:t>
            </a:r>
            <a:endParaRPr lang="en-US" sz="1500" dirty="0"/>
          </a:p>
        </p:txBody>
      </p:sp>
      <p:sp>
        <p:nvSpPr>
          <p:cNvPr id="6" name="Text 4"/>
          <p:cNvSpPr/>
          <p:nvPr/>
        </p:nvSpPr>
        <p:spPr>
          <a:xfrm>
            <a:off x="812800" y="4353520"/>
            <a:ext cx="47091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We did not prove it. We watched it.</a:t>
            </a:r>
            <a:endParaRPr lang="en-US" sz="1500" dirty="0"/>
          </a:p>
        </p:txBody>
      </p:sp>
      <p:pic>
        <p:nvPicPr>
          <p:cNvPr id="7" name="Image 0" descr="Histogram of 10,000 sums of 20 uniform variables with a normal curve on top">    </p:cNvPr>
          <p:cNvPicPr>
            <a:picLocks noChangeAspect="1"/>
          </p:cNvPicPr>
          <p:nvPr/>
        </p:nvPicPr>
        <p:blipFill>
          <a:blip r:embed="rId1"/>
          <a:srcRect l="-28" r="-28" t="0" b="0"/>
          <a:stretch/>
        </p:blipFill>
        <p:spPr>
          <a:xfrm>
            <a:off x="5740400" y="1572220"/>
            <a:ext cx="5638800" cy="4191000"/>
          </a:xfrm>
          <a:prstGeom prst="rect">
            <a:avLst/>
          </a:prstGeom>
        </p:spPr>
      </p:pic>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10,000 simulated sums · Notebook §3</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PROBABILITY</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law of large numbers and the central limit theorem</a:t>
            </a:r>
            <a:endParaRPr lang="en-US" sz="3000" dirty="0"/>
          </a:p>
        </p:txBody>
      </p:sp>
      <p:sp>
        <p:nvSpPr>
          <p:cNvPr id="4" name="Shape 2"/>
          <p:cNvSpPr/>
          <p:nvPr/>
        </p:nvSpPr>
        <p:spPr>
          <a:xfrm>
            <a:off x="815975" y="1575395"/>
            <a:ext cx="10560050" cy="1085850"/>
          </a:xfrm>
          <a:prstGeom prst="roundRect">
            <a:avLst>
              <a:gd name="adj" fmla="val 9064"/>
            </a:avLst>
          </a:prstGeom>
          <a:solidFill>
            <a:srgbClr val="FBFAF6"/>
          </a:solidFill>
          <a:ln w="6350">
            <a:solidFill>
              <a:srgbClr val="DAD8CF"/>
            </a:solidFill>
            <a:prstDash val="solid"/>
          </a:ln>
        </p:spPr>
      </p:sp>
      <p:pic>
        <p:nvPicPr>
          <p:cNvPr id="5" name="Image 0" descr="X bar n equals one over n times the sum of X i; its expectation is mu and its sd is sigma over root n">    </p:cNvPr>
          <p:cNvPicPr>
            <a:picLocks noChangeAspect="1"/>
          </p:cNvPicPr>
          <p:nvPr/>
        </p:nvPicPr>
        <p:blipFill>
          <a:blip r:embed="rId1"/>
          <a:srcRect l="0" r="0" t="-85" b="-85"/>
          <a:stretch/>
        </p:blipFill>
        <p:spPr>
          <a:xfrm>
            <a:off x="1047750" y="1730970"/>
            <a:ext cx="5080000" cy="774700"/>
          </a:xfrm>
          <a:prstGeom prst="rect">
            <a:avLst/>
          </a:prstGeom>
        </p:spPr>
      </p:pic>
      <p:sp>
        <p:nvSpPr>
          <p:cNvPr id="6" name="Text 3"/>
          <p:cNvSpPr/>
          <p:nvPr/>
        </p:nvSpPr>
        <p:spPr>
          <a:xfrm>
            <a:off x="6381750" y="188719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The average.</a:t>
            </a:r>
            <a:r>
              <a:rPr lang="en-US" sz="1300" dirty="0">
                <a:solidFill>
                  <a:srgbClr val="4A5568"/>
                </a:solidFill>
                <a:latin typeface="IBM Plex Sans" pitchFamily="34" charset="0"/>
                <a:ea typeface="IBM Plex Sans" pitchFamily="34" charset="-122"/>
                <a:cs typeface="IBM Plex Sans" pitchFamily="34" charset="-120"/>
              </a:rPr>
              <a:t> Of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independent draws with mean μ and sd σ. The 1/&amp;radic;</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is why four times the data halves the error.</a:t>
            </a:r>
            <a:endParaRPr lang="en-US" sz="1300" dirty="0"/>
          </a:p>
        </p:txBody>
      </p:sp>
      <p:sp>
        <p:nvSpPr>
          <p:cNvPr id="7" name="Shape 4"/>
          <p:cNvSpPr/>
          <p:nvPr/>
        </p:nvSpPr>
        <p:spPr>
          <a:xfrm>
            <a:off x="815975" y="2794595"/>
            <a:ext cx="10560050" cy="679450"/>
          </a:xfrm>
          <a:prstGeom prst="roundRect">
            <a:avLst>
              <a:gd name="adj" fmla="val 14486"/>
            </a:avLst>
          </a:prstGeom>
          <a:solidFill>
            <a:srgbClr val="FBFAF6"/>
          </a:solidFill>
          <a:ln w="6350">
            <a:solidFill>
              <a:srgbClr val="DAD8CF"/>
            </a:solidFill>
            <a:prstDash val="solid"/>
          </a:ln>
        </p:spPr>
      </p:sp>
      <p:pic>
        <p:nvPicPr>
          <p:cNvPr id="8" name="Image 1" descr="X bar n tends to mu as n goes to infinity">    </p:cNvPr>
          <p:cNvPicPr>
            <a:picLocks noChangeAspect="1"/>
          </p:cNvPicPr>
          <p:nvPr/>
        </p:nvPicPr>
        <p:blipFill>
          <a:blip r:embed="rId2"/>
          <a:srcRect l="-431" r="-431" t="0" b="0"/>
          <a:stretch/>
        </p:blipFill>
        <p:spPr>
          <a:xfrm>
            <a:off x="1047750" y="2950170"/>
            <a:ext cx="2571750" cy="368300"/>
          </a:xfrm>
          <a:prstGeom prst="rect">
            <a:avLst/>
          </a:prstGeom>
        </p:spPr>
      </p:pic>
      <p:sp>
        <p:nvSpPr>
          <p:cNvPr id="9" name="Text 5"/>
          <p:cNvSpPr/>
          <p:nvPr/>
        </p:nvSpPr>
        <p:spPr>
          <a:xfrm>
            <a:off x="6381750" y="301873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Law of large numbers.</a:t>
            </a:r>
            <a:r>
              <a:rPr lang="en-US" sz="1300" dirty="0">
                <a:solidFill>
                  <a:srgbClr val="4A5568"/>
                </a:solidFill>
                <a:latin typeface="IBM Plex Sans" pitchFamily="34" charset="0"/>
                <a:ea typeface="IBM Plex Sans" pitchFamily="34" charset="-122"/>
                <a:cs typeface="IBM Plex Sans" pitchFamily="34" charset="-120"/>
              </a:rPr>
              <a:t> The average settles down at the mean.</a:t>
            </a:r>
            <a:endParaRPr lang="en-US" sz="1300" dirty="0"/>
          </a:p>
        </p:txBody>
      </p:sp>
      <p:sp>
        <p:nvSpPr>
          <p:cNvPr id="10" name="Shape 6"/>
          <p:cNvSpPr/>
          <p:nvPr/>
        </p:nvSpPr>
        <p:spPr>
          <a:xfrm>
            <a:off x="815975" y="3607395"/>
            <a:ext cx="10560050" cy="1136650"/>
          </a:xfrm>
          <a:prstGeom prst="roundRect">
            <a:avLst>
              <a:gd name="adj" fmla="val 8659"/>
            </a:avLst>
          </a:prstGeom>
          <a:solidFill>
            <a:srgbClr val="FBFAF6"/>
          </a:solidFill>
          <a:ln w="6350">
            <a:solidFill>
              <a:srgbClr val="DAD8CF"/>
            </a:solidFill>
            <a:prstDash val="solid"/>
          </a:ln>
        </p:spPr>
      </p:sp>
      <p:pic>
        <p:nvPicPr>
          <p:cNvPr id="11" name="Image 2" descr="X bar n minus mu over sigma over root n is approximately standard normal">    </p:cNvPr>
          <p:cNvPicPr>
            <a:picLocks noChangeAspect="1"/>
          </p:cNvPicPr>
          <p:nvPr/>
        </p:nvPicPr>
        <p:blipFill>
          <a:blip r:embed="rId3"/>
          <a:srcRect l="-117" r="-117" t="0" b="0"/>
          <a:stretch/>
        </p:blipFill>
        <p:spPr>
          <a:xfrm>
            <a:off x="1047750" y="3762970"/>
            <a:ext cx="2120900" cy="825500"/>
          </a:xfrm>
          <a:prstGeom prst="rect">
            <a:avLst/>
          </a:prstGeom>
        </p:spPr>
      </p:pic>
      <p:sp>
        <p:nvSpPr>
          <p:cNvPr id="12" name="Text 7"/>
          <p:cNvSpPr/>
          <p:nvPr/>
        </p:nvSpPr>
        <p:spPr>
          <a:xfrm>
            <a:off x="6381750" y="382900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Central limit theorem.</a:t>
            </a:r>
            <a:r>
              <a:rPr lang="en-US" sz="1300" dirty="0">
                <a:solidFill>
                  <a:srgbClr val="4A5568"/>
                </a:solidFill>
                <a:latin typeface="IBM Plex Sans" pitchFamily="34" charset="0"/>
                <a:ea typeface="IBM Plex Sans" pitchFamily="34" charset="-122"/>
                <a:cs typeface="IBM Plex Sans" pitchFamily="34" charset="-120"/>
              </a:rPr>
              <a:t> For large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the standardized average is close to N(0, 1), whatever the shape of </a:t>
            </a:r>
            <a:r>
              <a:rPr lang="en-US" sz="1300" i="1" dirty="0">
                <a:solidFill>
                  <a:srgbClr val="4A5568"/>
                </a:solidFill>
                <a:latin typeface="IBM Plex Sans" pitchFamily="34" charset="0"/>
                <a:ea typeface="IBM Plex Sans" pitchFamily="34" charset="-122"/>
                <a:cs typeface="IBM Plex Sans" pitchFamily="34" charset="-120"/>
              </a:rPr>
              <a:t>X</a:t>
            </a:r>
            <a:r>
              <a:rPr lang="en-US" sz="1300" dirty="0">
                <a:solidFill>
                  <a:srgbClr val="4A5568"/>
                </a:solidFill>
                <a:latin typeface="IBM Plex Sans" pitchFamily="34" charset="0"/>
                <a:ea typeface="IBM Plex Sans" pitchFamily="34" charset="-122"/>
                <a:cs typeface="IBM Plex Sans" pitchFamily="34" charset="-120"/>
              </a:rPr>
              <a:t>. Twenty uniforms: sum has mean 10 and sd &amp;radic;(20/12) = 1.29.</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§3</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2A4A"/>
        </a:solidFill>
      </p:bgPr>
    </p:bg>
    <p:spTree>
      <p:nvGrpSpPr>
        <p:cNvPr id="1" name=""/>
        <p:cNvGrpSpPr/>
        <p:nvPr/>
      </p:nvGrpSpPr>
      <p:grpSpPr>
        <a:xfrm>
          <a:off x="0" y="0"/>
          <a:ext cx="0" cy="0"/>
          <a:chOff x="0" y="0"/>
          <a:chExt cx="0" cy="0"/>
        </a:xfrm>
      </p:grpSpPr>
      <p:sp>
        <p:nvSpPr>
          <p:cNvPr id="2" name="Text 0"/>
          <p:cNvSpPr/>
          <p:nvPr/>
        </p:nvSpPr>
        <p:spPr>
          <a:xfrm>
            <a:off x="812800" y="185678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9A6B"/>
                </a:solidFill>
                <a:latin typeface="IBM Plex Sans" pitchFamily="34" charset="0"/>
                <a:ea typeface="IBM Plex Sans" pitchFamily="34" charset="-122"/>
                <a:cs typeface="IBM Plex Sans" pitchFamily="34" charset="-120"/>
              </a:rPr>
              <a:t>KEY PRINCIPLE</a:t>
            </a:r>
            <a:endParaRPr lang="en-US" sz="1400" dirty="0"/>
          </a:p>
        </p:txBody>
      </p:sp>
      <p:sp>
        <p:nvSpPr>
          <p:cNvPr id="3" name="Text 1"/>
          <p:cNvSpPr/>
          <p:nvPr>
            <p:ph type="title"/>
          </p:nvPr>
        </p:nvSpPr>
        <p:spPr>
          <a:xfrm>
            <a:off x="812800" y="246127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4F1E8"/>
                </a:solidFill>
                <a:latin typeface="Source Serif 4" pitchFamily="18" charset="0"/>
                <a:ea typeface="Source Serif 4" pitchFamily="18" charset="-122"/>
                <a:cs typeface="Source Serif 4" pitchFamily="18" charset="-120"/>
              </a:rPr>
              <a:t>Complicated process = simple process + random noise</a:t>
            </a:r>
            <a:endParaRPr lang="en-US" sz="4800" dirty="0"/>
          </a:p>
        </p:txBody>
      </p:sp>
      <p:sp>
        <p:nvSpPr>
          <p:cNvPr id="4" name="Text 2"/>
          <p:cNvSpPr/>
          <p:nvPr/>
        </p:nvSpPr>
        <p:spPr>
          <a:xfrm>
            <a:off x="812800" y="4157911"/>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E2"/>
                </a:solidFill>
                <a:latin typeface="IBM Plex Sans" pitchFamily="34" charset="0"/>
                <a:ea typeface="IBM Plex Sans" pitchFamily="34" charset="-122"/>
                <a:cs typeface="IBM Plex Sans" pitchFamily="34" charset="-120"/>
              </a:rPr>
              <a:t>Good modeling means choosing a plausible simple process and a noise distribution. Then we can simulate it.</a:t>
            </a:r>
            <a:endParaRPr lang="en-US" sz="18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IBM Plex Sans" pitchFamily="34" charset="0"/>
                <a:ea typeface="IBM Plex Sans" pitchFamily="34" charset="-122"/>
                <a:cs typeface="IBM Plex Sans" pitchFamily="34" charset="-120"/>
              </a:rPr>
              <a:t>Statistics · Lesson 1 · Probability as a generative model</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SIMULATING PROBABILITY MODELS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400 births: how many girls?</a:t>
            </a:r>
            <a:endParaRPr lang="en-US" sz="3000" dirty="0"/>
          </a:p>
        </p:txBody>
      </p:sp>
      <p:sp>
        <p:nvSpPr>
          <p:cNvPr id="4" name="Text 2"/>
          <p:cNvSpPr/>
          <p:nvPr/>
        </p:nvSpPr>
        <p:spPr>
          <a:xfrm>
            <a:off x="812800" y="2518370"/>
            <a:ext cx="44410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About 48.8% of babies are girls. One simulated year gave </a:t>
            </a:r>
            <a:r>
              <a:rPr lang="en-US" sz="1500" b="1" dirty="0">
                <a:solidFill>
                  <a:srgbClr val="1B2633"/>
                </a:solidFill>
                <a:latin typeface="IBM Plex Sans" pitchFamily="34" charset="0"/>
                <a:ea typeface="IBM Plex Sans" pitchFamily="34" charset="-122"/>
                <a:cs typeface="IBM Plex Sans" pitchFamily="34" charset="-120"/>
              </a:rPr>
              <a:t>180</a:t>
            </a:r>
            <a:r>
              <a:rPr lang="en-US" sz="1500" dirty="0">
                <a:solidFill>
                  <a:srgbClr val="1B2633"/>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812800" y="3204170"/>
            <a:ext cx="44410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Repeat it 1000 times: the average is 195, the standard deviation 10, and a central 95% interval runs from about 175 to 215.</a:t>
            </a:r>
            <a:endParaRPr lang="en-US" sz="1500" dirty="0"/>
          </a:p>
        </p:txBody>
      </p:sp>
      <p:sp>
        <p:nvSpPr>
          <p:cNvPr id="6" name="Text 4"/>
          <p:cNvSpPr/>
          <p:nvPr/>
        </p:nvSpPr>
        <p:spPr>
          <a:xfrm>
            <a:off x="812800" y="4156670"/>
            <a:ext cx="44410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Adding twins, which is awkward on paper, takes a few more lines of code.</a:t>
            </a:r>
            <a:endParaRPr lang="en-US" sz="1500" dirty="0"/>
          </a:p>
        </p:txBody>
      </p:sp>
      <p:pic>
        <p:nvPicPr>
          <p:cNvPr id="7" name="Image 0" descr="Histogram of the number of girls in 400 births over 1000 simulated years">    </p:cNvPr>
          <p:cNvPicPr>
            <a:picLocks noChangeAspect="1"/>
          </p:cNvPicPr>
          <p:nvPr/>
        </p:nvPicPr>
        <p:blipFill>
          <a:blip r:embed="rId1"/>
          <a:srcRect l="0" r="0" t="-8" b="-8"/>
          <a:stretch/>
        </p:blipFill>
        <p:spPr>
          <a:xfrm>
            <a:off x="5480050" y="1572220"/>
            <a:ext cx="5899150" cy="4064000"/>
          </a:xfrm>
          <a:prstGeom prst="rect">
            <a:avLst/>
          </a:prstGeom>
        </p:spPr>
      </p:pic>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SIMULATING PROBABILITY MODELS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Ten adults at random: average and maximum height</a:t>
            </a:r>
            <a:endParaRPr lang="en-US" sz="3000" dirty="0"/>
          </a:p>
        </p:txBody>
      </p:sp>
      <p:pic>
        <p:nvPicPr>
          <p:cNvPr id="4" name="Image 0" descr="Two histograms: average height of 10 adults and maximum height of 10 adults">    </p:cNvPr>
          <p:cNvPicPr>
            <a:picLocks noChangeAspect="1"/>
          </p:cNvPicPr>
          <p:nvPr/>
        </p:nvPicPr>
        <p:blipFill>
          <a:blip r:embed="rId1"/>
          <a:srcRect l="-10" r="-10" t="0" b="0"/>
          <a:stretch/>
        </p:blipFill>
        <p:spPr>
          <a:xfrm>
            <a:off x="812800" y="1572220"/>
            <a:ext cx="8890000" cy="3238500"/>
          </a:xfrm>
          <a:prstGeom prst="rect">
            <a:avLst/>
          </a:prstGeom>
        </p:spPr>
      </p:pic>
      <p:sp>
        <p:nvSpPr>
          <p:cNvPr id="5" name="Text 2"/>
          <p:cNvSpPr/>
          <p:nvPr/>
        </p:nvSpPr>
        <p:spPr>
          <a:xfrm>
            <a:off x="812800" y="50647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52% women (mean 63.7 in, sd 2.7), 48% men (mean 69.1, sd 2.9). Average: 66.3 in, sd 1.2. Maximum: 72.3 in, sd 2.0. Nobody needs a formula for the maximum.</a:t>
            </a:r>
            <a:endParaRPr lang="en-US" sz="15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5000 simulated groups · Notebook §4</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Three kinds of error, and what we are estimating</a:t>
            </a:r>
            <a:endParaRPr lang="en-US" sz="3000" dirty="0"/>
          </a:p>
        </p:txBody>
      </p:sp>
      <p:sp>
        <p:nvSpPr>
          <p:cNvPr id="4" name="Shape 2"/>
          <p:cNvSpPr/>
          <p:nvPr/>
        </p:nvSpPr>
        <p:spPr>
          <a:xfrm>
            <a:off x="815975" y="1575395"/>
            <a:ext cx="3380284" cy="1167110"/>
          </a:xfrm>
          <a:prstGeom prst="roundRect">
            <a:avLst>
              <a:gd name="adj" fmla="val 8433"/>
            </a:avLst>
          </a:prstGeom>
          <a:solidFill>
            <a:srgbClr val="FBFAF6"/>
          </a:solidFill>
          <a:ln w="6350">
            <a:solidFill>
              <a:srgbClr val="DAD8CF"/>
            </a:solidFill>
            <a:prstDash val="solid"/>
          </a:ln>
        </p:spPr>
      </p:sp>
      <p:sp>
        <p:nvSpPr>
          <p:cNvPr id="5" name="Text 3"/>
          <p:cNvSpPr/>
          <p:nvPr/>
        </p:nvSpPr>
        <p:spPr>
          <a:xfrm>
            <a:off x="1022350" y="1756370"/>
            <a:ext cx="30565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Sampling</a:t>
            </a:r>
            <a:endParaRPr lang="en-US" sz="1500" dirty="0"/>
          </a:p>
        </p:txBody>
      </p:sp>
      <p:sp>
        <p:nvSpPr>
          <p:cNvPr id="6" name="Text 4"/>
          <p:cNvSpPr/>
          <p:nvPr/>
        </p:nvSpPr>
        <p:spPr>
          <a:xfrm>
            <a:off x="1022350" y="2099270"/>
            <a:ext cx="305656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people in the sample are not the whole population.</a:t>
            </a:r>
            <a:endParaRPr lang="en-US" sz="1300" dirty="0"/>
          </a:p>
        </p:txBody>
      </p:sp>
      <p:sp>
        <p:nvSpPr>
          <p:cNvPr id="7" name="Shape 5"/>
          <p:cNvSpPr/>
          <p:nvPr/>
        </p:nvSpPr>
        <p:spPr>
          <a:xfrm>
            <a:off x="4405809" y="1575395"/>
            <a:ext cx="3380333" cy="1167110"/>
          </a:xfrm>
          <a:prstGeom prst="roundRect">
            <a:avLst>
              <a:gd name="adj" fmla="val 8433"/>
            </a:avLst>
          </a:prstGeom>
          <a:solidFill>
            <a:srgbClr val="FBFAF6"/>
          </a:solidFill>
          <a:ln w="6350">
            <a:solidFill>
              <a:srgbClr val="DAD8CF"/>
            </a:solidFill>
            <a:prstDash val="solid"/>
          </a:ln>
        </p:spPr>
      </p:sp>
      <p:sp>
        <p:nvSpPr>
          <p:cNvPr id="8" name="Text 6"/>
          <p:cNvSpPr/>
          <p:nvPr/>
        </p:nvSpPr>
        <p:spPr>
          <a:xfrm>
            <a:off x="4612184"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Measurement</a:t>
            </a:r>
            <a:endParaRPr lang="en-US" sz="1500" dirty="0"/>
          </a:p>
        </p:txBody>
      </p:sp>
      <p:sp>
        <p:nvSpPr>
          <p:cNvPr id="9" name="Text 7"/>
          <p:cNvSpPr/>
          <p:nvPr/>
        </p:nvSpPr>
        <p:spPr>
          <a:xfrm>
            <a:off x="4612184" y="2099270"/>
            <a:ext cx="305661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What we record is not exactly what we meant to measure.</a:t>
            </a:r>
            <a:endParaRPr lang="en-US" sz="1300" dirty="0"/>
          </a:p>
        </p:txBody>
      </p:sp>
      <p:sp>
        <p:nvSpPr>
          <p:cNvPr id="10" name="Shape 8"/>
          <p:cNvSpPr/>
          <p:nvPr/>
        </p:nvSpPr>
        <p:spPr>
          <a:xfrm>
            <a:off x="7995692" y="1575395"/>
            <a:ext cx="3380333" cy="1167110"/>
          </a:xfrm>
          <a:prstGeom prst="roundRect">
            <a:avLst>
              <a:gd name="adj" fmla="val 8433"/>
            </a:avLst>
          </a:prstGeom>
          <a:solidFill>
            <a:srgbClr val="FBFAF6"/>
          </a:solidFill>
          <a:ln w="6350">
            <a:solidFill>
              <a:srgbClr val="DAD8CF"/>
            </a:solidFill>
            <a:prstDash val="solid"/>
          </a:ln>
        </p:spPr>
      </p:sp>
      <p:sp>
        <p:nvSpPr>
          <p:cNvPr id="11" name="Text 9"/>
          <p:cNvSpPr/>
          <p:nvPr/>
        </p:nvSpPr>
        <p:spPr>
          <a:xfrm>
            <a:off x="8202067" y="1756370"/>
            <a:ext cx="30566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Model</a:t>
            </a:r>
            <a:endParaRPr lang="en-US" sz="1500" dirty="0"/>
          </a:p>
        </p:txBody>
      </p:sp>
      <p:sp>
        <p:nvSpPr>
          <p:cNvPr id="12" name="Text 10"/>
          <p:cNvSpPr/>
          <p:nvPr/>
        </p:nvSpPr>
        <p:spPr>
          <a:xfrm>
            <a:off x="8202067" y="2099270"/>
            <a:ext cx="305661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assumed relationship is not the true one.</a:t>
            </a:r>
            <a:endParaRPr lang="en-US" sz="1300" dirty="0"/>
          </a:p>
        </p:txBody>
      </p:sp>
      <p:sp>
        <p:nvSpPr>
          <p:cNvPr id="13" name="Text 11"/>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ESTIMATES AND ERRORS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Estimands, estimators and their errors</a:t>
            </a:r>
            <a:endParaRPr lang="en-US" sz="3000" dirty="0"/>
          </a:p>
        </p:txBody>
      </p:sp>
      <p:sp>
        <p:nvSpPr>
          <p:cNvPr id="4" name="Shape 2"/>
          <p:cNvSpPr/>
          <p:nvPr/>
        </p:nvSpPr>
        <p:spPr>
          <a:xfrm>
            <a:off x="815975" y="1575395"/>
            <a:ext cx="10560050" cy="773410"/>
          </a:xfrm>
          <a:prstGeom prst="roundRect">
            <a:avLst>
              <a:gd name="adj" fmla="val 12726"/>
            </a:avLst>
          </a:prstGeom>
          <a:solidFill>
            <a:srgbClr val="FBFAF6"/>
          </a:solidFill>
          <a:ln w="6350">
            <a:solidFill>
              <a:srgbClr val="DAD8CF"/>
            </a:solidFill>
            <a:prstDash val="solid"/>
          </a:ln>
        </p:spPr>
      </p:sp>
      <p:pic>
        <p:nvPicPr>
          <p:cNvPr id="5" name="Image 0" descr="theta maps to theta hat equals g of y 1 to y n">    </p:cNvPr>
          <p:cNvPicPr>
            <a:picLocks noChangeAspect="1"/>
          </p:cNvPicPr>
          <p:nvPr/>
        </p:nvPicPr>
        <p:blipFill>
          <a:blip r:embed="rId1"/>
          <a:srcRect l="0" r="0" t="-52" b="-52"/>
          <a:stretch/>
        </p:blipFill>
        <p:spPr>
          <a:xfrm>
            <a:off x="1047750" y="1774775"/>
            <a:ext cx="3041650" cy="374650"/>
          </a:xfrm>
          <a:prstGeom prst="rect">
            <a:avLst/>
          </a:prstGeom>
        </p:spPr>
      </p:pic>
      <p:sp>
        <p:nvSpPr>
          <p:cNvPr id="6" name="Text 3"/>
          <p:cNvSpPr/>
          <p:nvPr/>
        </p:nvSpPr>
        <p:spPr>
          <a:xfrm>
            <a:off x="6381750" y="17309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Estimand and estimator.</a:t>
            </a:r>
            <a:r>
              <a:rPr lang="en-US" sz="1300" dirty="0">
                <a:solidFill>
                  <a:srgbClr val="4A5568"/>
                </a:solidFill>
                <a:latin typeface="IBM Plex Sans" pitchFamily="34" charset="0"/>
                <a:ea typeface="IBM Plex Sans" pitchFamily="34" charset="-122"/>
                <a:cs typeface="IBM Plex Sans" pitchFamily="34" charset="-120"/>
              </a:rPr>
              <a:t> θ is the quantity we want, such as a population share. θ̂ is a recipe applied to the data.</a:t>
            </a:r>
            <a:endParaRPr lang="en-US" sz="1300" dirty="0"/>
          </a:p>
        </p:txBody>
      </p:sp>
      <p:sp>
        <p:nvSpPr>
          <p:cNvPr id="7" name="Shape 4"/>
          <p:cNvSpPr/>
          <p:nvPr/>
        </p:nvSpPr>
        <p:spPr>
          <a:xfrm>
            <a:off x="815975" y="2482155"/>
            <a:ext cx="10560050" cy="773410"/>
          </a:xfrm>
          <a:prstGeom prst="roundRect">
            <a:avLst>
              <a:gd name="adj" fmla="val 12726"/>
            </a:avLst>
          </a:prstGeom>
          <a:solidFill>
            <a:srgbClr val="FBFAF6"/>
          </a:solidFill>
          <a:ln w="6350">
            <a:solidFill>
              <a:srgbClr val="DAD8CF"/>
            </a:solidFill>
            <a:prstDash val="solid"/>
          </a:ln>
        </p:spPr>
      </p:sp>
      <p:pic>
        <p:nvPicPr>
          <p:cNvPr id="8" name="Image 1" descr="bias of theta hat equals E of theta hat minus theta; se of theta hat equals sd of theta hat">    </p:cNvPr>
          <p:cNvPicPr>
            <a:picLocks noChangeAspect="1"/>
          </p:cNvPicPr>
          <p:nvPr/>
        </p:nvPicPr>
        <p:blipFill>
          <a:blip r:embed="rId2"/>
          <a:srcRect l="0" r="0" t="0" b="0"/>
          <a:stretch/>
        </p:blipFill>
        <p:spPr>
          <a:xfrm>
            <a:off x="1047750" y="2681536"/>
            <a:ext cx="4146550" cy="374650"/>
          </a:xfrm>
          <a:prstGeom prst="rect">
            <a:avLst/>
          </a:prstGeom>
        </p:spPr>
      </p:pic>
      <p:sp>
        <p:nvSpPr>
          <p:cNvPr id="9" name="Text 5"/>
          <p:cNvSpPr/>
          <p:nvPr/>
        </p:nvSpPr>
        <p:spPr>
          <a:xfrm>
            <a:off x="6381750" y="263773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Bias and standard error.</a:t>
            </a:r>
            <a:r>
              <a:rPr lang="en-US" sz="1300" dirty="0">
                <a:solidFill>
                  <a:srgbClr val="4A5568"/>
                </a:solidFill>
                <a:latin typeface="IBM Plex Sans" pitchFamily="34" charset="0"/>
                <a:ea typeface="IBM Plex Sans" pitchFamily="34" charset="-122"/>
                <a:cs typeface="IBM Plex Sans" pitchFamily="34" charset="-120"/>
              </a:rPr>
              <a:t> Both describe the sampling distribution: what θ̂ would do over repeated studies.</a:t>
            </a:r>
            <a:endParaRPr lang="en-US" sz="1300" dirty="0"/>
          </a:p>
        </p:txBody>
      </p:sp>
      <p:sp>
        <p:nvSpPr>
          <p:cNvPr id="10" name="Shape 6"/>
          <p:cNvSpPr/>
          <p:nvPr/>
        </p:nvSpPr>
        <p:spPr>
          <a:xfrm>
            <a:off x="815975" y="3388916"/>
            <a:ext cx="10560050" cy="773410"/>
          </a:xfrm>
          <a:prstGeom prst="roundRect">
            <a:avLst>
              <a:gd name="adj" fmla="val 12726"/>
            </a:avLst>
          </a:prstGeom>
          <a:solidFill>
            <a:srgbClr val="FBFAF6"/>
          </a:solidFill>
          <a:ln w="6350">
            <a:solidFill>
              <a:srgbClr val="DAD8CF"/>
            </a:solidFill>
            <a:prstDash val="solid"/>
          </a:ln>
        </p:spPr>
      </p:sp>
      <p:pic>
        <p:nvPicPr>
          <p:cNvPr id="11" name="Image 2" descr="E of (theta hat minus theta) squared equals bias squared plus se squared">    </p:cNvPr>
          <p:cNvPicPr>
            <a:picLocks noChangeAspect="1"/>
          </p:cNvPicPr>
          <p:nvPr/>
        </p:nvPicPr>
        <p:blipFill>
          <a:blip r:embed="rId3"/>
          <a:srcRect l="0" r="0" t="0" b="0"/>
          <a:stretch/>
        </p:blipFill>
        <p:spPr>
          <a:xfrm>
            <a:off x="1047750" y="3588296"/>
            <a:ext cx="2832100" cy="374650"/>
          </a:xfrm>
          <a:prstGeom prst="rect">
            <a:avLst/>
          </a:prstGeom>
        </p:spPr>
      </p:pic>
      <p:sp>
        <p:nvSpPr>
          <p:cNvPr id="12" name="Text 7"/>
          <p:cNvSpPr/>
          <p:nvPr/>
        </p:nvSpPr>
        <p:spPr>
          <a:xfrm>
            <a:off x="6381750" y="3544491"/>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Mean squared error.</a:t>
            </a:r>
            <a:r>
              <a:rPr lang="en-US" sz="1300" dirty="0">
                <a:solidFill>
                  <a:srgbClr val="4A5568"/>
                </a:solidFill>
                <a:latin typeface="IBM Plex Sans" pitchFamily="34" charset="0"/>
                <a:ea typeface="IBM Plex Sans" pitchFamily="34" charset="-122"/>
                <a:cs typeface="IBM Plex Sans" pitchFamily="34" charset="-120"/>
              </a:rPr>
              <a:t> The total error. It is why we add non-sampling error as &amp;radic;(se² + bias²) later.</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Do couples turn their heads to the right?</a:t>
            </a:r>
            <a:endParaRPr lang="en-US" sz="3000" dirty="0"/>
          </a:p>
        </p:txBody>
      </p:sp>
      <p:sp>
        <p:nvSpPr>
          <p:cNvPr id="4" name="Text 2"/>
          <p:cNvSpPr/>
          <p:nvPr/>
        </p:nvSpPr>
        <p:spPr>
          <a:xfrm>
            <a:off x="812800" y="15722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4A5568"/>
                </a:solidFill>
                <a:latin typeface="IBM Plex Sans" pitchFamily="34" charset="0"/>
                <a:ea typeface="IBM Plex Sans" pitchFamily="34" charset="-122"/>
                <a:cs typeface="IBM Plex Sans" pitchFamily="34" charset="-120"/>
              </a:rPr>
              <a:t>"A neonatal right-side preference makes a surprising romantic reappearance later in life."</a:t>
            </a:r>
            <a:endParaRPr lang="en-US" sz="1600" dirty="0"/>
          </a:p>
        </p:txBody>
      </p:sp>
      <p:sp>
        <p:nvSpPr>
          <p:cNvPr id="5" name="Shape 3"/>
          <p:cNvSpPr/>
          <p:nvPr/>
        </p:nvSpPr>
        <p:spPr>
          <a:xfrm>
            <a:off x="815975" y="2113855"/>
            <a:ext cx="3380284" cy="2033191"/>
          </a:xfrm>
          <a:prstGeom prst="roundRect">
            <a:avLst>
              <a:gd name="adj" fmla="val 4841"/>
            </a:avLst>
          </a:prstGeom>
          <a:solidFill>
            <a:srgbClr val="FBFAF6"/>
          </a:solidFill>
          <a:ln w="6350">
            <a:solidFill>
              <a:srgbClr val="DAD8CF"/>
            </a:solidFill>
            <a:prstDash val="solid"/>
          </a:ln>
        </p:spPr>
      </p:sp>
      <p:sp>
        <p:nvSpPr>
          <p:cNvPr id="6" name="Text 4"/>
          <p:cNvSpPr/>
          <p:nvPr/>
        </p:nvSpPr>
        <p:spPr>
          <a:xfrm>
            <a:off x="1073150" y="23456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THE STUDY</a:t>
            </a:r>
            <a:endParaRPr lang="en-US" sz="1200" dirty="0"/>
          </a:p>
        </p:txBody>
      </p:sp>
      <p:sp>
        <p:nvSpPr>
          <p:cNvPr id="7" name="Text 5"/>
          <p:cNvSpPr/>
          <p:nvPr/>
        </p:nvSpPr>
        <p:spPr>
          <a:xfrm>
            <a:off x="1073150" y="2635151"/>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124 kissing couples observed. 80 turned to the right.</a:t>
            </a:r>
            <a:endParaRPr lang="en-US" sz="1500" dirty="0"/>
          </a:p>
        </p:txBody>
      </p:sp>
      <p:sp>
        <p:nvSpPr>
          <p:cNvPr id="8" name="Shape 6"/>
          <p:cNvSpPr/>
          <p:nvPr/>
        </p:nvSpPr>
        <p:spPr>
          <a:xfrm>
            <a:off x="4405809" y="2113855"/>
            <a:ext cx="3380333" cy="2033191"/>
          </a:xfrm>
          <a:prstGeom prst="roundRect">
            <a:avLst>
              <a:gd name="adj" fmla="val 4841"/>
            </a:avLst>
          </a:prstGeom>
          <a:solidFill>
            <a:srgbClr val="FBFAF6"/>
          </a:solidFill>
          <a:ln w="6350">
            <a:solidFill>
              <a:srgbClr val="DAD8CF"/>
            </a:solidFill>
            <a:prstDash val="solid"/>
          </a:ln>
        </p:spPr>
      </p:sp>
      <p:sp>
        <p:nvSpPr>
          <p:cNvPr id="9" name="Text 7"/>
          <p:cNvSpPr/>
          <p:nvPr/>
        </p:nvSpPr>
        <p:spPr>
          <a:xfrm>
            <a:off x="4662984" y="234563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THE ESTIMATE</a:t>
            </a:r>
            <a:endParaRPr lang="en-US" sz="1200" dirty="0"/>
          </a:p>
        </p:txBody>
      </p:sp>
      <p:sp>
        <p:nvSpPr>
          <p:cNvPr id="10" name="Text 8"/>
          <p:cNvSpPr/>
          <p:nvPr/>
        </p:nvSpPr>
        <p:spPr>
          <a:xfrm>
            <a:off x="4662984" y="2635151"/>
            <a:ext cx="2951963" cy="130552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F2A4A"/>
                </a:solidFill>
                <a:latin typeface="Source Serif 4" pitchFamily="18" charset="0"/>
                <a:ea typeface="Source Serif 4" pitchFamily="18" charset="-122"/>
                <a:cs typeface="Source Serif 4" pitchFamily="18" charset="-120"/>
              </a:rPr>
              <a:t>80/124 = 64.5%</a:t>
            </a:r>
            <a:endParaRPr lang="en-US" sz="3600" dirty="0"/>
          </a:p>
        </p:txBody>
      </p:sp>
      <p:sp>
        <p:nvSpPr>
          <p:cNvPr id="11" name="Shape 9"/>
          <p:cNvSpPr/>
          <p:nvPr/>
        </p:nvSpPr>
        <p:spPr>
          <a:xfrm>
            <a:off x="7995692" y="2113855"/>
            <a:ext cx="3380333" cy="2033191"/>
          </a:xfrm>
          <a:prstGeom prst="roundRect">
            <a:avLst>
              <a:gd name="adj" fmla="val 4841"/>
            </a:avLst>
          </a:prstGeom>
          <a:solidFill>
            <a:srgbClr val="FBFAF6"/>
          </a:solidFill>
          <a:ln w="6350">
            <a:solidFill>
              <a:srgbClr val="DAD8CF"/>
            </a:solidFill>
            <a:prstDash val="solid"/>
          </a:ln>
        </p:spPr>
      </p:sp>
      <p:sp>
        <p:nvSpPr>
          <p:cNvPr id="12" name="Text 10"/>
          <p:cNvSpPr/>
          <p:nvPr/>
        </p:nvSpPr>
        <p:spPr>
          <a:xfrm>
            <a:off x="8252867" y="234563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THE QUESTION</a:t>
            </a:r>
            <a:endParaRPr lang="en-US" sz="1200" dirty="0"/>
          </a:p>
        </p:txBody>
      </p:sp>
      <p:sp>
        <p:nvSpPr>
          <p:cNvPr id="13" name="Text 11"/>
          <p:cNvSpPr/>
          <p:nvPr/>
        </p:nvSpPr>
        <p:spPr>
          <a:xfrm>
            <a:off x="8252867" y="2635151"/>
            <a:ext cx="29519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Is that far enough from 50%? What if it had been right, right, left (66.7%)?</a:t>
            </a:r>
            <a:endParaRPr lang="en-US" sz="1500" dirty="0"/>
          </a:p>
        </p:txBody>
      </p:sp>
      <p:sp>
        <p:nvSpPr>
          <p:cNvPr id="14" name="Text 12"/>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Example from the previous version of this lesson (Nature, 2003) · Notebook §5.1</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Rerun the study 10,000 times</a:t>
            </a:r>
            <a:endParaRPr lang="en-US" sz="3000" dirty="0"/>
          </a:p>
        </p:txBody>
      </p:sp>
      <p:sp>
        <p:nvSpPr>
          <p:cNvPr id="4" name="Text 2"/>
          <p:cNvSpPr/>
          <p:nvPr/>
        </p:nvSpPr>
        <p:spPr>
          <a:xfrm>
            <a:off x="812800" y="2566640"/>
            <a:ext cx="426440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Pretend the truth is p = 0.645 and repeat a study of 124 couples. Each run gives a different estimate.</a:t>
            </a:r>
            <a:endParaRPr lang="en-US" sz="1500" dirty="0"/>
          </a:p>
        </p:txBody>
      </p:sp>
      <p:sp>
        <p:nvSpPr>
          <p:cNvPr id="5" name="Text 3"/>
          <p:cNvSpPr/>
          <p:nvPr/>
        </p:nvSpPr>
        <p:spPr>
          <a:xfrm>
            <a:off x="812800" y="3519140"/>
            <a:ext cx="42644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Spread of the 10,000 estimates: </a:t>
            </a:r>
            <a:r>
              <a:rPr lang="en-US" sz="1500" b="1" dirty="0">
                <a:solidFill>
                  <a:srgbClr val="4A5568"/>
                </a:solidFill>
                <a:latin typeface="IBM Plex Sans" pitchFamily="34" charset="0"/>
                <a:ea typeface="IBM Plex Sans" pitchFamily="34" charset="-122"/>
                <a:cs typeface="IBM Plex Sans" pitchFamily="34" charset="-120"/>
              </a:rPr>
              <a:t>0.0428</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6" name="Text 4"/>
          <p:cNvSpPr/>
          <p:nvPr/>
        </p:nvSpPr>
        <p:spPr>
          <a:xfrm>
            <a:off x="812800" y="3938240"/>
            <a:ext cx="42644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 formula √(p̂(1 − p̂)/n) gives </a:t>
            </a:r>
            <a:r>
              <a:rPr lang="en-US" sz="1500" b="1" dirty="0">
                <a:solidFill>
                  <a:srgbClr val="4A5568"/>
                </a:solidFill>
                <a:latin typeface="IBM Plex Sans" pitchFamily="34" charset="0"/>
                <a:ea typeface="IBM Plex Sans" pitchFamily="34" charset="-122"/>
                <a:cs typeface="IBM Plex Sans" pitchFamily="34" charset="-120"/>
              </a:rPr>
              <a:t>0.0430</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7" name="Text 5"/>
          <p:cNvSpPr/>
          <p:nvPr/>
        </p:nvSpPr>
        <p:spPr>
          <a:xfrm>
            <a:off x="812800" y="4357340"/>
            <a:ext cx="426440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2A4A"/>
                </a:solidFill>
                <a:latin typeface="IBM Plex Sans" pitchFamily="34" charset="0"/>
                <a:ea typeface="IBM Plex Sans" pitchFamily="34" charset="-122"/>
                <a:cs typeface="IBM Plex Sans" pitchFamily="34" charset="-120"/>
              </a:rPr>
              <a:t>That spread is the standard error.</a:t>
            </a:r>
            <a:endParaRPr lang="en-US" sz="1600" dirty="0"/>
          </a:p>
        </p:txBody>
      </p:sp>
      <p:pic>
        <p:nvPicPr>
          <p:cNvPr id="8" name="Image 0" descr="Histogram of 10,000 simulated proportions of couples turning right, centred near 0.645, with a vertical line at 0.5">    </p:cNvPr>
          <p:cNvPicPr>
            <a:picLocks noChangeAspect="1"/>
          </p:cNvPicPr>
          <p:nvPr/>
        </p:nvPicPr>
        <p:blipFill>
          <a:blip r:embed="rId1"/>
          <a:srcRect l="0" r="0" t="-8" b="-8"/>
          <a:stretch/>
        </p:blipFill>
        <p:spPr>
          <a:xfrm>
            <a:off x="5308600" y="1572220"/>
            <a:ext cx="6070600" cy="4064000"/>
          </a:xfrm>
          <a:prstGeom prst="rect">
            <a:avLst/>
          </a:prstGeom>
        </p:spPr>
      </p:pic>
      <p:sp>
        <p:nvSpPr>
          <p:cNvPr id="9"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Sampling distribution of the estimate · Notebook §5.1</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 95% interval is the estimate ± 2 standard errors</a:t>
            </a:r>
            <a:endParaRPr lang="en-US" sz="3000" dirty="0"/>
          </a:p>
        </p:txBody>
      </p:sp>
      <p:sp>
        <p:nvSpPr>
          <p:cNvPr id="4" name="Shape 2"/>
          <p:cNvSpPr/>
          <p:nvPr/>
        </p:nvSpPr>
        <p:spPr>
          <a:xfrm>
            <a:off x="815975" y="1575395"/>
            <a:ext cx="3380284" cy="1393130"/>
          </a:xfrm>
          <a:prstGeom prst="roundRect">
            <a:avLst>
              <a:gd name="adj" fmla="val 7065"/>
            </a:avLst>
          </a:prstGeom>
          <a:solidFill>
            <a:srgbClr val="FBFAF6"/>
          </a:solidFill>
          <a:ln w="6350">
            <a:solidFill>
              <a:srgbClr val="DAD8CF"/>
            </a:solidFill>
            <a:prstDash val="solid"/>
          </a:ln>
        </p:spPr>
      </p:sp>
      <p:sp>
        <p:nvSpPr>
          <p:cNvPr id="5" name="Text 3"/>
          <p:cNvSpPr/>
          <p:nvPr/>
        </p:nvSpPr>
        <p:spPr>
          <a:xfrm>
            <a:off x="1073150" y="180717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a:t>
            </a:r>
            <a:endParaRPr lang="en-US" sz="1200" dirty="0"/>
          </a:p>
        </p:txBody>
      </p:sp>
      <p:sp>
        <p:nvSpPr>
          <p:cNvPr id="6" name="Text 4"/>
          <p:cNvSpPr/>
          <p:nvPr/>
        </p:nvSpPr>
        <p:spPr>
          <a:xfrm>
            <a:off x="1073150" y="2096691"/>
            <a:ext cx="29519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F2A4A"/>
                </a:solidFill>
                <a:latin typeface="Source Serif 4" pitchFamily="18" charset="0"/>
                <a:ea typeface="Source Serif 4" pitchFamily="18" charset="-122"/>
                <a:cs typeface="Source Serif 4" pitchFamily="18" charset="-120"/>
              </a:rPr>
              <a:t>64.5%</a:t>
            </a:r>
            <a:endParaRPr lang="en-US" sz="3600" dirty="0"/>
          </a:p>
        </p:txBody>
      </p:sp>
      <p:sp>
        <p:nvSpPr>
          <p:cNvPr id="7" name="Shape 5"/>
          <p:cNvSpPr/>
          <p:nvPr/>
        </p:nvSpPr>
        <p:spPr>
          <a:xfrm>
            <a:off x="4405809" y="1575395"/>
            <a:ext cx="3380333" cy="1393130"/>
          </a:xfrm>
          <a:prstGeom prst="roundRect">
            <a:avLst>
              <a:gd name="adj" fmla="val 7065"/>
            </a:avLst>
          </a:prstGeom>
          <a:solidFill>
            <a:srgbClr val="FBFAF6"/>
          </a:solidFill>
          <a:ln w="6350">
            <a:solidFill>
              <a:srgbClr val="DAD8CF"/>
            </a:solidFill>
            <a:prstDash val="solid"/>
          </a:ln>
        </p:spPr>
      </p:sp>
      <p:sp>
        <p:nvSpPr>
          <p:cNvPr id="8" name="Text 6"/>
          <p:cNvSpPr/>
          <p:nvPr/>
        </p:nvSpPr>
        <p:spPr>
          <a:xfrm>
            <a:off x="4662984" y="180717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STANDARD ERROR</a:t>
            </a:r>
            <a:endParaRPr lang="en-US" sz="1200" dirty="0"/>
          </a:p>
        </p:txBody>
      </p:sp>
      <p:sp>
        <p:nvSpPr>
          <p:cNvPr id="9" name="Text 7"/>
          <p:cNvSpPr/>
          <p:nvPr/>
        </p:nvSpPr>
        <p:spPr>
          <a:xfrm>
            <a:off x="4662984" y="2096691"/>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F2A4A"/>
                </a:solidFill>
                <a:latin typeface="Source Serif 4" pitchFamily="18" charset="0"/>
                <a:ea typeface="Source Serif 4" pitchFamily="18" charset="-122"/>
                <a:cs typeface="Source Serif 4" pitchFamily="18" charset="-120"/>
              </a:rPr>
              <a:t>4.3 pts</a:t>
            </a:r>
            <a:endParaRPr lang="en-US" sz="3600" dirty="0"/>
          </a:p>
        </p:txBody>
      </p:sp>
      <p:sp>
        <p:nvSpPr>
          <p:cNvPr id="10" name="Shape 8"/>
          <p:cNvSpPr/>
          <p:nvPr/>
        </p:nvSpPr>
        <p:spPr>
          <a:xfrm>
            <a:off x="7995692" y="1575395"/>
            <a:ext cx="3380333" cy="1393130"/>
          </a:xfrm>
          <a:prstGeom prst="roundRect">
            <a:avLst>
              <a:gd name="adj" fmla="val 7065"/>
            </a:avLst>
          </a:prstGeom>
          <a:solidFill>
            <a:srgbClr val="FBFAF6"/>
          </a:solidFill>
          <a:ln w="6350">
            <a:solidFill>
              <a:srgbClr val="DAD8CF"/>
            </a:solidFill>
            <a:prstDash val="solid"/>
          </a:ln>
        </p:spPr>
      </p:sp>
      <p:sp>
        <p:nvSpPr>
          <p:cNvPr id="11" name="Text 9"/>
          <p:cNvSpPr/>
          <p:nvPr/>
        </p:nvSpPr>
        <p:spPr>
          <a:xfrm>
            <a:off x="8252867" y="180717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95% INTERVAL</a:t>
            </a:r>
            <a:endParaRPr lang="en-US" sz="1200" dirty="0"/>
          </a:p>
        </p:txBody>
      </p:sp>
      <p:sp>
        <p:nvSpPr>
          <p:cNvPr id="12" name="Text 10"/>
          <p:cNvSpPr/>
          <p:nvPr/>
        </p:nvSpPr>
        <p:spPr>
          <a:xfrm>
            <a:off x="8252867" y="2096691"/>
            <a:ext cx="295196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F2A4A"/>
                </a:solidFill>
                <a:latin typeface="Source Serif 4" pitchFamily="18" charset="0"/>
                <a:ea typeface="Source Serif 4" pitchFamily="18" charset="-122"/>
                <a:cs typeface="Source Serif 4" pitchFamily="18" charset="-120"/>
              </a:rPr>
              <a:t>56% to 73%</a:t>
            </a:r>
            <a:endParaRPr lang="en-US" sz="3600" dirty="0"/>
          </a:p>
        </p:txBody>
      </p:sp>
      <p:sp>
        <p:nvSpPr>
          <p:cNvPr id="13" name="Text 11"/>
          <p:cNvSpPr/>
          <p:nvPr/>
        </p:nvSpPr>
        <p:spPr>
          <a:xfrm>
            <a:off x="812800" y="3225701"/>
            <a:ext cx="10883392"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0F2A4A"/>
                </a:solidFill>
                <a:latin typeface="Source Serif 4" pitchFamily="18" charset="0"/>
                <a:ea typeface="Source Serif 4" pitchFamily="18" charset="-122"/>
                <a:cs typeface="Source Serif 4" pitchFamily="18" charset="-120"/>
              </a:rPr>
              <a:t>The interval does not contain 50%, so the data are not consistent with "no preference".</a:t>
            </a:r>
            <a:endParaRPr lang="en-US" sz="1700" dirty="0"/>
          </a:p>
        </p:txBody>
      </p:sp>
      <p:sp>
        <p:nvSpPr>
          <p:cNvPr id="14" name="Text 12"/>
          <p:cNvSpPr/>
          <p:nvPr/>
        </p:nvSpPr>
        <p:spPr>
          <a:xfrm>
            <a:off x="812800" y="37603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same recipe gives the drug interval (69.9% to 86.1%) and the gender gap in a poll (12 ± 6 points).</a:t>
            </a:r>
            <a:endParaRPr lang="en-US" sz="1400" dirty="0"/>
          </a:p>
        </p:txBody>
      </p:sp>
      <p:sp>
        <p:nvSpPr>
          <p:cNvPr id="15" name="Text 1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§5.1 and §5.4</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ESTIMATES AND ERRORS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Standard errors and intervals: the formulas</a:t>
            </a:r>
            <a:endParaRPr lang="en-US" sz="3000" dirty="0"/>
          </a:p>
        </p:txBody>
      </p:sp>
      <p:sp>
        <p:nvSpPr>
          <p:cNvPr id="4" name="Shape 2"/>
          <p:cNvSpPr/>
          <p:nvPr/>
        </p:nvSpPr>
        <p:spPr>
          <a:xfrm>
            <a:off x="815975" y="1575395"/>
            <a:ext cx="10560050" cy="1079500"/>
          </a:xfrm>
          <a:prstGeom prst="roundRect">
            <a:avLst>
              <a:gd name="adj" fmla="val 9118"/>
            </a:avLst>
          </a:prstGeom>
          <a:solidFill>
            <a:srgbClr val="FBFAF6"/>
          </a:solidFill>
          <a:ln w="6350">
            <a:solidFill>
              <a:srgbClr val="DAD8CF"/>
            </a:solidFill>
            <a:prstDash val="solid"/>
          </a:ln>
        </p:spPr>
      </p:sp>
      <p:pic>
        <p:nvPicPr>
          <p:cNvPr id="5" name="Image 0" descr="se of y bar equals s over root n, with s squared equal to the sum of squared deviations over n minus 1">    </p:cNvPr>
          <p:cNvPicPr>
            <a:picLocks noChangeAspect="1"/>
          </p:cNvPicPr>
          <p:nvPr/>
        </p:nvPicPr>
        <p:blipFill>
          <a:blip r:embed="rId1"/>
          <a:srcRect l="0" r="0" t="-41" b="-41"/>
          <a:stretch/>
        </p:blipFill>
        <p:spPr>
          <a:xfrm>
            <a:off x="1047750" y="1692870"/>
            <a:ext cx="3867150" cy="844550"/>
          </a:xfrm>
          <a:prstGeom prst="rect">
            <a:avLst/>
          </a:prstGeom>
        </p:spPr>
      </p:pic>
      <p:sp>
        <p:nvSpPr>
          <p:cNvPr id="6" name="Text 3"/>
          <p:cNvSpPr/>
          <p:nvPr/>
        </p:nvSpPr>
        <p:spPr>
          <a:xfrm>
            <a:off x="6381750" y="1999555"/>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Mean.</a:t>
            </a:r>
            <a:r>
              <a:rPr lang="en-US" sz="1300" dirty="0">
                <a:solidFill>
                  <a:srgbClr val="4A5568"/>
                </a:solidFill>
                <a:latin typeface="IBM Plex Sans" pitchFamily="34" charset="0"/>
                <a:ea typeface="IBM Plex Sans" pitchFamily="34" charset="-122"/>
                <a:cs typeface="IBM Plex Sans" pitchFamily="34" charset="-120"/>
              </a:rPr>
              <a:t> </a:t>
            </a:r>
            <a:r>
              <a:rPr lang="en-US" sz="1300" i="1" dirty="0">
                <a:solidFill>
                  <a:srgbClr val="4A5568"/>
                </a:solidFill>
                <a:latin typeface="IBM Plex Sans" pitchFamily="34" charset="0"/>
                <a:ea typeface="IBM Plex Sans" pitchFamily="34" charset="-122"/>
                <a:cs typeface="IBM Plex Sans" pitchFamily="34" charset="-120"/>
              </a:rPr>
              <a:t>s</a:t>
            </a:r>
            <a:r>
              <a:rPr lang="en-US" sz="1300" dirty="0">
                <a:solidFill>
                  <a:srgbClr val="4A5568"/>
                </a:solidFill>
                <a:latin typeface="IBM Plex Sans" pitchFamily="34" charset="0"/>
                <a:ea typeface="IBM Plex Sans" pitchFamily="34" charset="-122"/>
                <a:cs typeface="IBM Plex Sans" pitchFamily="34" charset="-120"/>
              </a:rPr>
              <a:t> is the sample sd; dividing by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− 1 removes its bias.</a:t>
            </a:r>
            <a:endParaRPr lang="en-US" sz="1300" dirty="0"/>
          </a:p>
        </p:txBody>
      </p:sp>
      <p:sp>
        <p:nvSpPr>
          <p:cNvPr id="7" name="Shape 4"/>
          <p:cNvSpPr/>
          <p:nvPr/>
        </p:nvSpPr>
        <p:spPr>
          <a:xfrm>
            <a:off x="815975" y="2762845"/>
            <a:ext cx="10560050" cy="1003300"/>
          </a:xfrm>
          <a:prstGeom prst="roundRect">
            <a:avLst>
              <a:gd name="adj" fmla="val 9810"/>
            </a:avLst>
          </a:prstGeom>
          <a:solidFill>
            <a:srgbClr val="FBFAF6"/>
          </a:solidFill>
          <a:ln w="6350">
            <a:solidFill>
              <a:srgbClr val="DAD8CF"/>
            </a:solidFill>
            <a:prstDash val="solid"/>
          </a:ln>
        </p:spPr>
      </p:sp>
      <p:pic>
        <p:nvPicPr>
          <p:cNvPr id="8" name="Image 1" descr="se of p hat equals root of p hat times 1 minus p hat over n">    </p:cNvPr>
          <p:cNvPicPr>
            <a:picLocks noChangeAspect="1"/>
          </p:cNvPicPr>
          <p:nvPr/>
        </p:nvPicPr>
        <p:blipFill>
          <a:blip r:embed="rId2"/>
          <a:srcRect l="-207" r="-207" t="0" b="0"/>
          <a:stretch/>
        </p:blipFill>
        <p:spPr>
          <a:xfrm>
            <a:off x="1047750" y="2880320"/>
            <a:ext cx="2247900" cy="768350"/>
          </a:xfrm>
          <a:prstGeom prst="rect">
            <a:avLst/>
          </a:prstGeom>
        </p:spPr>
      </p:pic>
      <p:sp>
        <p:nvSpPr>
          <p:cNvPr id="9" name="Text 5"/>
          <p:cNvSpPr/>
          <p:nvPr/>
        </p:nvSpPr>
        <p:spPr>
          <a:xfrm>
            <a:off x="6381750" y="3033365"/>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Proportion.</a:t>
            </a:r>
            <a:r>
              <a:rPr lang="en-US" sz="1300" dirty="0">
                <a:solidFill>
                  <a:srgbClr val="4A5568"/>
                </a:solidFill>
                <a:latin typeface="IBM Plex Sans" pitchFamily="34" charset="0"/>
                <a:ea typeface="IBM Plex Sans" pitchFamily="34" charset="-122"/>
                <a:cs typeface="IBM Plex Sans" pitchFamily="34" charset="-120"/>
              </a:rPr>
              <a:t> Kissing couples: &amp;radic;(0.645 × 0.355 / 124) = 0.043. With few events, use (</a:t>
            </a:r>
            <a:r>
              <a:rPr lang="en-US" sz="1300" i="1" dirty="0">
                <a:solidFill>
                  <a:srgbClr val="4A5568"/>
                </a:solidFill>
                <a:latin typeface="IBM Plex Sans" pitchFamily="34" charset="0"/>
                <a:ea typeface="IBM Plex Sans" pitchFamily="34" charset="-122"/>
                <a:cs typeface="IBM Plex Sans" pitchFamily="34" charset="-120"/>
              </a:rPr>
              <a:t>y</a:t>
            </a:r>
            <a:r>
              <a:rPr lang="en-US" sz="1300" dirty="0">
                <a:solidFill>
                  <a:srgbClr val="4A5568"/>
                </a:solidFill>
                <a:latin typeface="IBM Plex Sans" pitchFamily="34" charset="0"/>
                <a:ea typeface="IBM Plex Sans" pitchFamily="34" charset="-122"/>
                <a:cs typeface="IBM Plex Sans" pitchFamily="34" charset="-120"/>
              </a:rPr>
              <a:t> + 2)/(</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+ 4).</a:t>
            </a:r>
            <a:endParaRPr lang="en-US" sz="1300" dirty="0"/>
          </a:p>
        </p:txBody>
      </p:sp>
      <p:sp>
        <p:nvSpPr>
          <p:cNvPr id="10" name="Shape 6"/>
          <p:cNvSpPr/>
          <p:nvPr/>
        </p:nvSpPr>
        <p:spPr>
          <a:xfrm>
            <a:off x="815975" y="3874095"/>
            <a:ext cx="10560050" cy="711200"/>
          </a:xfrm>
          <a:prstGeom prst="roundRect">
            <a:avLst>
              <a:gd name="adj" fmla="val 13839"/>
            </a:avLst>
          </a:prstGeom>
          <a:solidFill>
            <a:srgbClr val="FBFAF6"/>
          </a:solidFill>
          <a:ln w="6350">
            <a:solidFill>
              <a:srgbClr val="DAD8CF"/>
            </a:solidFill>
            <a:prstDash val="solid"/>
          </a:ln>
        </p:spPr>
      </p:sp>
      <p:pic>
        <p:nvPicPr>
          <p:cNvPr id="11" name="Image 2" descr="se of a difference of two independent estimates equals the root of the sum of their squared standard errors">    </p:cNvPr>
          <p:cNvPicPr>
            <a:picLocks noChangeAspect="1"/>
          </p:cNvPicPr>
          <p:nvPr/>
        </p:nvPicPr>
        <p:blipFill>
          <a:blip r:embed="rId3"/>
          <a:srcRect l="0" r="0" t="-55" b="-55"/>
          <a:stretch/>
        </p:blipFill>
        <p:spPr>
          <a:xfrm>
            <a:off x="1047750" y="3991570"/>
            <a:ext cx="2863850" cy="476250"/>
          </a:xfrm>
          <a:prstGeom prst="rect">
            <a:avLst/>
          </a:prstGeom>
        </p:spPr>
      </p:pic>
      <p:sp>
        <p:nvSpPr>
          <p:cNvPr id="12" name="Text 7"/>
          <p:cNvSpPr/>
          <p:nvPr/>
        </p:nvSpPr>
        <p:spPr>
          <a:xfrm>
            <a:off x="6381750" y="3998565"/>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Difference.</a:t>
            </a:r>
            <a:r>
              <a:rPr lang="en-US" sz="1300" dirty="0">
                <a:solidFill>
                  <a:srgbClr val="4A5568"/>
                </a:solidFill>
                <a:latin typeface="IBM Plex Sans" pitchFamily="34" charset="0"/>
                <a:ea typeface="IBM Plex Sans" pitchFamily="34" charset="-122"/>
                <a:cs typeface="IBM Plex Sans" pitchFamily="34" charset="-120"/>
              </a:rPr>
              <a:t> Poll: &amp;radic;(0.57 × 0.43/400 + 0.45 × 0.55/600) = 0.032.</a:t>
            </a:r>
            <a:endParaRPr lang="en-US" sz="1300" dirty="0"/>
          </a:p>
        </p:txBody>
      </p:sp>
      <p:sp>
        <p:nvSpPr>
          <p:cNvPr id="13" name="Shape 8"/>
          <p:cNvSpPr/>
          <p:nvPr/>
        </p:nvSpPr>
        <p:spPr>
          <a:xfrm>
            <a:off x="815975" y="4693245"/>
            <a:ext cx="10560050" cy="697210"/>
          </a:xfrm>
          <a:prstGeom prst="roundRect">
            <a:avLst>
              <a:gd name="adj" fmla="val 14117"/>
            </a:avLst>
          </a:prstGeom>
          <a:solidFill>
            <a:srgbClr val="FBFAF6"/>
          </a:solidFill>
          <a:ln w="6350">
            <a:solidFill>
              <a:srgbClr val="DAD8CF"/>
            </a:solidFill>
            <a:prstDash val="solid"/>
          </a:ln>
        </p:spPr>
      </p:sp>
      <p:pic>
        <p:nvPicPr>
          <p:cNvPr id="14" name="Image 3" descr="theta hat plus or minus 1.96 se">    </p:cNvPr>
          <p:cNvPicPr>
            <a:picLocks noChangeAspect="1"/>
          </p:cNvPicPr>
          <p:nvPr/>
        </p:nvPicPr>
        <p:blipFill>
          <a:blip r:embed="rId4"/>
          <a:srcRect l="0" r="0" t="0" b="0"/>
          <a:stretch/>
        </p:blipFill>
        <p:spPr>
          <a:xfrm>
            <a:off x="1047750" y="4854525"/>
            <a:ext cx="1397000" cy="374650"/>
          </a:xfrm>
          <a:prstGeom prst="rect">
            <a:avLst/>
          </a:prstGeom>
        </p:spPr>
      </p:pic>
      <p:sp>
        <p:nvSpPr>
          <p:cNvPr id="15" name="Text 9"/>
          <p:cNvSpPr/>
          <p:nvPr/>
        </p:nvSpPr>
        <p:spPr>
          <a:xfrm>
            <a:off x="6381750" y="481072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95% interval.</a:t>
            </a:r>
            <a:r>
              <a:rPr lang="en-US" sz="1300" dirty="0">
                <a:solidFill>
                  <a:srgbClr val="4A5568"/>
                </a:solidFill>
                <a:latin typeface="IBM Plex Sans" pitchFamily="34" charset="0"/>
                <a:ea typeface="IBM Plex Sans" pitchFamily="34" charset="-122"/>
                <a:cs typeface="IBM Plex Sans" pitchFamily="34" charset="-120"/>
              </a:rPr>
              <a:t> 1.96 ≈ 2; ±1 se gives 68%, ±0.67 se gives 50%. Kissing: 0.645 ± 0.084.</a:t>
            </a:r>
            <a:endParaRPr lang="en-US" sz="1300" dirty="0"/>
          </a:p>
        </p:txBody>
      </p:sp>
      <p:sp>
        <p:nvSpPr>
          <p:cNvPr id="16" name="Text 1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§5</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What does "95%" actually mean?</a:t>
            </a:r>
            <a:endParaRPr lang="en-US" sz="3000" dirty="0"/>
          </a:p>
        </p:txBody>
      </p:sp>
      <p:pic>
        <p:nvPicPr>
          <p:cNvPr id="4" name="Image 0" descr="100 simulated 95% confidence intervals around a true value, with 93 containing it and 7 missing it in orange">    </p:cNvPr>
          <p:cNvPicPr>
            <a:picLocks noChangeAspect="1"/>
          </p:cNvPicPr>
          <p:nvPr/>
        </p:nvPicPr>
        <p:blipFill>
          <a:blip r:embed="rId1"/>
          <a:srcRect l="0" r="0" t="-18" b="-18"/>
          <a:stretch/>
        </p:blipFill>
        <p:spPr>
          <a:xfrm>
            <a:off x="812800" y="1572220"/>
            <a:ext cx="7175500" cy="3657600"/>
          </a:xfrm>
          <a:prstGeom prst="rect">
            <a:avLst/>
          </a:prstGeom>
        </p:spPr>
      </p:pic>
      <p:sp>
        <p:nvSpPr>
          <p:cNvPr id="5" name="Text 2"/>
          <p:cNvSpPr/>
          <p:nvPr/>
        </p:nvSpPr>
        <p:spPr>
          <a:xfrm>
            <a:off x="8293100" y="2684760"/>
            <a:ext cx="317868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100 repeated studies: </a:t>
            </a:r>
            <a:r>
              <a:rPr lang="en-US" sz="1500" b="1" dirty="0">
                <a:solidFill>
                  <a:srgbClr val="1B2633"/>
                </a:solidFill>
                <a:latin typeface="IBM Plex Sans" pitchFamily="34" charset="0"/>
                <a:ea typeface="IBM Plex Sans" pitchFamily="34" charset="-122"/>
                <a:cs typeface="IBM Plex Sans" pitchFamily="34" charset="-120"/>
              </a:rPr>
              <a:t>93</a:t>
            </a:r>
            <a:r>
              <a:rPr lang="en-US" sz="1500" dirty="0">
                <a:solidFill>
                  <a:srgbClr val="1B2633"/>
                </a:solidFill>
                <a:latin typeface="IBM Plex Sans" pitchFamily="34" charset="0"/>
                <a:ea typeface="IBM Plex Sans" pitchFamily="34" charset="-122"/>
                <a:cs typeface="IBM Plex Sans" pitchFamily="34" charset="-120"/>
              </a:rPr>
              <a:t> intervals contain the truth, 7 miss it.</a:t>
            </a:r>
            <a:endParaRPr lang="en-US" sz="1500" dirty="0"/>
          </a:p>
        </p:txBody>
      </p:sp>
      <p:sp>
        <p:nvSpPr>
          <p:cNvPr id="6" name="Text 3"/>
          <p:cNvSpPr/>
          <p:nvPr/>
        </p:nvSpPr>
        <p:spPr>
          <a:xfrm>
            <a:off x="8293100" y="3370560"/>
            <a:ext cx="317868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"95%" describes the procedure over many repetitions, not one particular interval.</a:t>
            </a:r>
            <a:endParaRPr lang="en-US" sz="1400" dirty="0"/>
          </a:p>
        </p:txBody>
      </p:sp>
      <p:sp>
        <p:nvSpPr>
          <p:cNvPr id="7"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True p = 0.65, n = 124 · Notebook §5.2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To halve the error, collect four times the data</a:t>
            </a:r>
            <a:endParaRPr lang="en-US" sz="3000" dirty="0"/>
          </a:p>
        </p:txBody>
      </p:sp>
      <p:sp>
        <p:nvSpPr>
          <p:cNvPr id="4" name="Text 2"/>
          <p:cNvSpPr/>
          <p:nvPr/>
        </p:nvSpPr>
        <p:spPr>
          <a:xfrm>
            <a:off x="812800" y="2402780"/>
            <a:ext cx="3970084"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8461A"/>
                </a:solidFill>
                <a:latin typeface="Source Serif 4" pitchFamily="18" charset="0"/>
                <a:ea typeface="Source Serif 4" pitchFamily="18" charset="-122"/>
                <a:cs typeface="Source Serif 4" pitchFamily="18" charset="-120"/>
              </a:rPr>
              <a:t>se ≈ 0.5 / √n</a:t>
            </a:r>
            <a:endParaRPr lang="en-US" sz="2800" dirty="0"/>
          </a:p>
        </p:txBody>
      </p:sp>
      <p:sp>
        <p:nvSpPr>
          <p:cNvPr id="5" name="Text 3"/>
          <p:cNvSpPr/>
          <p:nvPr/>
        </p:nvSpPr>
        <p:spPr>
          <a:xfrm>
            <a:off x="812800" y="3053011"/>
            <a:ext cx="397008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For a proportion near 0.5 and n = 1000, the standard error is about 1.6 percentage points.</a:t>
            </a:r>
            <a:endParaRPr lang="en-US" sz="1500" dirty="0"/>
          </a:p>
        </p:txBody>
      </p:sp>
      <p:sp>
        <p:nvSpPr>
          <p:cNvPr id="6" name="Text 4"/>
          <p:cNvSpPr/>
          <p:nvPr/>
        </p:nvSpPr>
        <p:spPr>
          <a:xfrm>
            <a:off x="812800" y="4005511"/>
            <a:ext cx="397008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So how large must n be? It depends on the precision you need, and each extra bit of precision costs more.</a:t>
            </a:r>
            <a:endParaRPr lang="en-US" sz="1500" dirty="0"/>
          </a:p>
        </p:txBody>
      </p:sp>
      <p:pic>
        <p:nvPicPr>
          <p:cNvPr id="7" name="Image 0" descr="Line chart of the standard error of a proportion falling with sample size on a log axis">    </p:cNvPr>
          <p:cNvPicPr>
            <a:picLocks noChangeAspect="1"/>
          </p:cNvPicPr>
          <p:nvPr/>
        </p:nvPicPr>
        <p:blipFill>
          <a:blip r:embed="rId1"/>
          <a:srcRect l="-7" r="-7" t="0" b="0"/>
          <a:stretch/>
        </p:blipFill>
        <p:spPr>
          <a:xfrm>
            <a:off x="5022850" y="1572220"/>
            <a:ext cx="6356350" cy="4064000"/>
          </a:xfrm>
          <a:prstGeom prst="rect">
            <a:avLst/>
          </a:prstGeom>
        </p:spPr>
      </p:pic>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When is a "95% interval" really 95%?</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2063750"/>
        </p:xfrm>
        <a:graphic>
          <a:graphicData uri="http://schemas.openxmlformats.org/drawingml/2006/table">
            <a:tbl>
              <a:tblPr/>
              <a:tblGrid>
                <a:gridCol w="1688592"/>
                <a:gridCol w="2955036"/>
                <a:gridCol w="2955036"/>
                <a:gridCol w="2955036"/>
              </a:tblGrid>
              <a:tr h="412750">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Simple interval, p = 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Simple interval, p = 0.05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Quick fix, p = 0.05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89%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40%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30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79%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124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390267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Share of simulated intervals that contain the truth. Rare events with small samples break the simple formula. The quick fix replaces y/n by (y + 2)/(n + 4).</a:t>
            </a:r>
            <a:endParaRPr lang="en-US" sz="15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20,000 simulations per cell · Notebook §5.2</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Small samples: the t distribution</a:t>
            </a:r>
            <a:endParaRPr lang="en-US" sz="3000" dirty="0"/>
          </a:p>
        </p:txBody>
      </p:sp>
      <p:pic>
        <p:nvPicPr>
          <p:cNvPr id="4" name="Image 0" descr="Normal and t with 4 degrees of freedom densities">    </p:cNvPr>
          <p:cNvPicPr>
            <a:picLocks noChangeAspect="1"/>
          </p:cNvPicPr>
          <p:nvPr/>
        </p:nvPicPr>
        <p:blipFill>
          <a:blip r:embed="rId1"/>
          <a:srcRect l="-4" r="-4" t="0" b="0"/>
          <a:stretch/>
        </p:blipFill>
        <p:spPr>
          <a:xfrm>
            <a:off x="812800" y="1572220"/>
            <a:ext cx="4953000" cy="3860800"/>
          </a:xfrm>
          <a:prstGeom prst="rect">
            <a:avLst/>
          </a:prstGeom>
        </p:spPr>
      </p:pic>
      <p:sp>
        <p:nvSpPr>
          <p:cNvPr id="5" name="Text 2"/>
          <p:cNvSpPr/>
          <p:nvPr/>
        </p:nvSpPr>
        <p:spPr>
          <a:xfrm>
            <a:off x="5969000" y="2865140"/>
            <a:ext cx="55725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Five weights: 35, 34, 38, 35, 37. Mean 35.8, standard error 0.73.</a:t>
            </a:r>
            <a:endParaRPr lang="en-US" sz="1400" dirty="0"/>
          </a:p>
        </p:txBody>
      </p:sp>
      <p:sp>
        <p:nvSpPr>
          <p:cNvPr id="6" name="Text 3"/>
          <p:cNvSpPr/>
          <p:nvPr/>
        </p:nvSpPr>
        <p:spPr>
          <a:xfrm>
            <a:off x="5969000" y="3253730"/>
            <a:ext cx="55725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Normal interval [34.4, 37.2]. t interval [33.8, 37.8]; critical value 2.78 instead of 1.96.</a:t>
            </a:r>
            <a:endParaRPr lang="en-US" sz="1400" dirty="0"/>
          </a:p>
        </p:txBody>
      </p:sp>
      <p:sp>
        <p:nvSpPr>
          <p:cNvPr id="7" name="Text 4"/>
          <p:cNvSpPr/>
          <p:nvPr/>
        </p:nvSpPr>
        <p:spPr>
          <a:xfrm>
            <a:off x="5969000" y="3891211"/>
            <a:ext cx="55725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61A"/>
                </a:solidFill>
                <a:latin typeface="IBM Plex Sans" pitchFamily="34" charset="0"/>
                <a:ea typeface="IBM Plex Sans" pitchFamily="34" charset="-122"/>
                <a:cs typeface="IBM Plex Sans" pitchFamily="34" charset="-120"/>
              </a:rPr>
              <a:t>Coverage with n = 5: normal 88%, t 95%.</a:t>
            </a:r>
            <a:endParaRPr lang="en-US" sz="1400" dirty="0"/>
          </a:p>
        </p:txBody>
      </p:sp>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§12.1</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ESTIMATES AND ERRORS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t interval, formally</a:t>
            </a:r>
            <a:endParaRPr lang="en-US" sz="3000" dirty="0"/>
          </a:p>
        </p:txBody>
      </p:sp>
      <p:sp>
        <p:nvSpPr>
          <p:cNvPr id="4" name="Shape 2"/>
          <p:cNvSpPr/>
          <p:nvPr/>
        </p:nvSpPr>
        <p:spPr>
          <a:xfrm>
            <a:off x="815975" y="1575395"/>
            <a:ext cx="10560050" cy="1079500"/>
          </a:xfrm>
          <a:prstGeom prst="roundRect">
            <a:avLst>
              <a:gd name="adj" fmla="val 9118"/>
            </a:avLst>
          </a:prstGeom>
          <a:solidFill>
            <a:srgbClr val="FBFAF6"/>
          </a:solidFill>
          <a:ln w="6350">
            <a:solidFill>
              <a:srgbClr val="DAD8CF"/>
            </a:solidFill>
            <a:prstDash val="solid"/>
          </a:ln>
        </p:spPr>
      </p:sp>
      <p:pic>
        <p:nvPicPr>
          <p:cNvPr id="5" name="Image 0" descr="t equals y bar minus mu over s over root n, which follows a t distribution with n minus 1 degrees of freedom">    </p:cNvPr>
          <p:cNvPicPr>
            <a:picLocks noChangeAspect="1"/>
          </p:cNvPicPr>
          <p:nvPr/>
        </p:nvPicPr>
        <p:blipFill>
          <a:blip r:embed="rId1"/>
          <a:srcRect l="-207" r="-207" t="0" b="0"/>
          <a:stretch/>
        </p:blipFill>
        <p:spPr>
          <a:xfrm>
            <a:off x="1047750" y="1730970"/>
            <a:ext cx="2063750" cy="768350"/>
          </a:xfrm>
          <a:prstGeom prst="rect">
            <a:avLst/>
          </a:prstGeom>
        </p:spPr>
      </p:pic>
      <p:sp>
        <p:nvSpPr>
          <p:cNvPr id="6" name="Text 3"/>
          <p:cNvSpPr/>
          <p:nvPr/>
        </p:nvSpPr>
        <p:spPr>
          <a:xfrm>
            <a:off x="6381750" y="1768425"/>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Statistic.</a:t>
            </a:r>
            <a:r>
              <a:rPr lang="en-US" sz="1300" dirty="0">
                <a:solidFill>
                  <a:srgbClr val="4A5568"/>
                </a:solidFill>
                <a:latin typeface="IBM Plex Sans" pitchFamily="34" charset="0"/>
                <a:ea typeface="IBM Plex Sans" pitchFamily="34" charset="-122"/>
                <a:cs typeface="IBM Plex Sans" pitchFamily="34" charset="-120"/>
              </a:rPr>
              <a:t> With normal data the standardized mean follows a </a:t>
            </a:r>
            <a:r>
              <a:rPr lang="en-US" sz="1300" i="1" dirty="0">
                <a:solidFill>
                  <a:srgbClr val="4A5568"/>
                </a:solidFill>
                <a:latin typeface="IBM Plex Sans" pitchFamily="34" charset="0"/>
                <a:ea typeface="IBM Plex Sans" pitchFamily="34" charset="-122"/>
                <a:cs typeface="IBM Plex Sans" pitchFamily="34" charset="-120"/>
              </a:rPr>
              <a:t>t</a:t>
            </a:r>
            <a:r>
              <a:rPr lang="en-US" sz="1300" dirty="0">
                <a:solidFill>
                  <a:srgbClr val="4A5568"/>
                </a:solidFill>
                <a:latin typeface="IBM Plex Sans" pitchFamily="34" charset="0"/>
                <a:ea typeface="IBM Plex Sans" pitchFamily="34" charset="-122"/>
                <a:cs typeface="IBM Plex Sans" pitchFamily="34" charset="-120"/>
              </a:rPr>
              <a:t> distribution with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− 1 degrees of freedom, because </a:t>
            </a:r>
            <a:r>
              <a:rPr lang="en-US" sz="1300" i="1" dirty="0">
                <a:solidFill>
                  <a:srgbClr val="4A5568"/>
                </a:solidFill>
                <a:latin typeface="IBM Plex Sans" pitchFamily="34" charset="0"/>
                <a:ea typeface="IBM Plex Sans" pitchFamily="34" charset="-122"/>
                <a:cs typeface="IBM Plex Sans" pitchFamily="34" charset="-120"/>
              </a:rPr>
              <a:t>s</a:t>
            </a:r>
            <a:r>
              <a:rPr lang="en-US" sz="1300" dirty="0">
                <a:solidFill>
                  <a:srgbClr val="4A5568"/>
                </a:solidFill>
                <a:latin typeface="IBM Plex Sans" pitchFamily="34" charset="0"/>
                <a:ea typeface="IBM Plex Sans" pitchFamily="34" charset="-122"/>
                <a:cs typeface="IBM Plex Sans" pitchFamily="34" charset="-120"/>
              </a:rPr>
              <a:t> is itself estimated.</a:t>
            </a:r>
            <a:endParaRPr lang="en-US" sz="1300" dirty="0"/>
          </a:p>
        </p:txBody>
      </p:sp>
      <p:sp>
        <p:nvSpPr>
          <p:cNvPr id="7" name="Shape 4"/>
          <p:cNvSpPr/>
          <p:nvPr/>
        </p:nvSpPr>
        <p:spPr>
          <a:xfrm>
            <a:off x="815975" y="2788245"/>
            <a:ext cx="10560050" cy="1028700"/>
          </a:xfrm>
          <a:prstGeom prst="roundRect">
            <a:avLst>
              <a:gd name="adj" fmla="val 9568"/>
            </a:avLst>
          </a:prstGeom>
          <a:solidFill>
            <a:srgbClr val="FBFAF6"/>
          </a:solidFill>
          <a:ln w="6350">
            <a:solidFill>
              <a:srgbClr val="DAD8CF"/>
            </a:solidFill>
            <a:prstDash val="solid"/>
          </a:ln>
        </p:spPr>
      </p:sp>
      <p:pic>
        <p:nvPicPr>
          <p:cNvPr id="8" name="Image 1" descr="y bar plus or minus t with n minus 1 degrees of freedom at 0.975 times s over root n">    </p:cNvPr>
          <p:cNvPicPr>
            <a:picLocks noChangeAspect="1"/>
          </p:cNvPicPr>
          <p:nvPr/>
        </p:nvPicPr>
        <p:blipFill>
          <a:blip r:embed="rId2"/>
          <a:srcRect l="-221" r="-221" t="0" b="0"/>
          <a:stretch/>
        </p:blipFill>
        <p:spPr>
          <a:xfrm>
            <a:off x="1047750" y="2943820"/>
            <a:ext cx="2260600" cy="717550"/>
          </a:xfrm>
          <a:prstGeom prst="rect">
            <a:avLst/>
          </a:prstGeom>
        </p:spPr>
      </p:pic>
      <p:sp>
        <p:nvSpPr>
          <p:cNvPr id="9" name="Text 5"/>
          <p:cNvSpPr/>
          <p:nvPr/>
        </p:nvSpPr>
        <p:spPr>
          <a:xfrm>
            <a:off x="6381750" y="3071465"/>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95% interval.</a:t>
            </a:r>
            <a:r>
              <a:rPr lang="en-US" sz="1300" dirty="0">
                <a:solidFill>
                  <a:srgbClr val="4A5568"/>
                </a:solidFill>
                <a:latin typeface="IBM Plex Sans" pitchFamily="34" charset="0"/>
                <a:ea typeface="IBM Plex Sans" pitchFamily="34" charset="-122"/>
                <a:cs typeface="IBM Plex Sans" pitchFamily="34" charset="-120"/>
              </a:rPr>
              <a:t> Five weights: 35.8 ± 2.78 × 0.73 = [33.8, 37.8]. For </a:t>
            </a:r>
            <a:r>
              <a:rPr lang="en-US" sz="1300" i="1" dirty="0">
                <a:solidFill>
                  <a:srgbClr val="4A5568"/>
                </a:solidFill>
                <a:latin typeface="IBM Plex Sans" pitchFamily="34" charset="0"/>
                <a:ea typeface="IBM Plex Sans" pitchFamily="34" charset="-122"/>
                <a:cs typeface="IBM Plex Sans" pitchFamily="34" charset="-120"/>
              </a:rPr>
              <a:t>n</a:t>
            </a:r>
            <a:r>
              <a:rPr lang="en-US" sz="1300" dirty="0">
                <a:solidFill>
                  <a:srgbClr val="4A5568"/>
                </a:solidFill>
                <a:latin typeface="IBM Plex Sans" pitchFamily="34" charset="0"/>
                <a:ea typeface="IBM Plex Sans" pitchFamily="34" charset="-122"/>
                <a:cs typeface="IBM Plex Sans" pitchFamily="34" charset="-120"/>
              </a:rPr>
              <a:t> above about 30, </a:t>
            </a:r>
            <a:r>
              <a:rPr lang="en-US" sz="1300" i="1" dirty="0">
                <a:solidFill>
                  <a:srgbClr val="4A5568"/>
                </a:solidFill>
                <a:latin typeface="IBM Plex Sans" pitchFamily="34" charset="0"/>
                <a:ea typeface="IBM Plex Sans" pitchFamily="34" charset="-122"/>
                <a:cs typeface="IBM Plex Sans" pitchFamily="34" charset="-120"/>
              </a:rPr>
              <a:t>tn</a:t>
            </a:r>
            <a:r>
              <a:rPr lang="en-US" sz="1300" dirty="0">
                <a:solidFill>
                  <a:srgbClr val="4A5568"/>
                </a:solidFill>
                <a:latin typeface="IBM Plex Sans" pitchFamily="34" charset="0"/>
                <a:ea typeface="IBM Plex Sans" pitchFamily="34" charset="-122"/>
                <a:cs typeface="IBM Plex Sans" pitchFamily="34" charset="-120"/>
              </a:rPr>
              <a:t>−1, 0.975 ≈ 1.96.</a:t>
            </a:r>
            <a:endParaRPr lang="en-US" sz="1300" dirty="0"/>
          </a:p>
        </p:txBody>
      </p:sp>
      <p:sp>
        <p:nvSpPr>
          <p:cNvPr id="10"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§12.1</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BIAS AND UNMODELED UNCERTAINTY</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 bigger sample around the wrong number</a:t>
            </a:r>
            <a:endParaRPr lang="en-US" sz="3000" dirty="0"/>
          </a:p>
        </p:txBody>
      </p:sp>
      <p:sp>
        <p:nvSpPr>
          <p:cNvPr id="4" name="Text 2"/>
          <p:cNvSpPr/>
          <p:nvPr/>
        </p:nvSpPr>
        <p:spPr>
          <a:xfrm>
            <a:off x="812800" y="1572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Truth: 52% women, of whom 60% support a candidate; 40% of men do. Overall support is </a:t>
            </a:r>
            <a:r>
              <a:rPr lang="en-US" sz="1400" b="1" dirty="0">
                <a:solidFill>
                  <a:srgbClr val="4A5568"/>
                </a:solidFill>
                <a:latin typeface="IBM Plex Sans" pitchFamily="34" charset="0"/>
                <a:ea typeface="IBM Plex Sans" pitchFamily="34" charset="-122"/>
                <a:cs typeface="IBM Plex Sans" pitchFamily="34" charset="-120"/>
              </a:rPr>
              <a:t>50.4%</a:t>
            </a:r>
            <a:r>
              <a:rPr lang="en-US" sz="1400" dirty="0">
                <a:solidFill>
                  <a:srgbClr val="4A5568"/>
                </a:solidFill>
                <a:latin typeface="IBM Plex Sans" pitchFamily="34" charset="0"/>
                <a:ea typeface="IBM Plex Sans" pitchFamily="34" charset="-122"/>
                <a:cs typeface="IBM Plex Sans" pitchFamily="34" charset="-120"/>
              </a:rPr>
              <a:t>. Women answer the poll twice as often as men.</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36701"/>
          <a:ext cx="10553700" cy="2063750"/>
        </p:xfrm>
        <a:graphic>
          <a:graphicData uri="http://schemas.openxmlformats.org/drawingml/2006/table">
            <a:tbl>
              <a:tblPr/>
              <a:tblGrid>
                <a:gridCol w="2321814"/>
                <a:gridCol w="2743962"/>
                <a:gridCol w="2743962"/>
                <a:gridCol w="2743962"/>
              </a:tblGrid>
              <a:tr h="412750">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Respondents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Naive estimate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95% half-width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Reweighted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600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53.5%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 4.0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49.5%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6,000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54.6%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 1.3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51.4%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60,000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 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50.3%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600,000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 0.1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50.4%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6" name="Text 3"/>
          <p:cNvSpPr/>
          <p:nvPr/>
        </p:nvSpPr>
        <p:spPr>
          <a:xfrm>
            <a:off x="812800" y="465445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IBM Plex Sans" pitchFamily="34" charset="0"/>
                <a:ea typeface="IBM Plex Sans" pitchFamily="34" charset="-122"/>
                <a:cs typeface="IBM Plex Sans" pitchFamily="34" charset="-120"/>
              </a:rPr>
              <a:t>More data shrinks the interval around the wrong value. Reweighting by population shares removes the bias.</a:t>
            </a:r>
            <a:endParaRPr lang="en-US" sz="1500" dirty="0"/>
          </a:p>
        </p:txBody>
      </p:sp>
      <p:sp>
        <p:nvSpPr>
          <p:cNvPr id="7"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Simulated poll · Notebook §6</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BIAS AND UNMODELED UNCERTAINTY</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Add the errors that are not in the model</a:t>
            </a:r>
            <a:endParaRPr lang="en-US" sz="3000" dirty="0"/>
          </a:p>
        </p:txBody>
      </p:sp>
      <p:sp>
        <p:nvSpPr>
          <p:cNvPr id="4" name="Text 2"/>
          <p:cNvSpPr/>
          <p:nvPr/>
        </p:nvSpPr>
        <p:spPr>
          <a:xfrm>
            <a:off x="812800" y="1572220"/>
            <a:ext cx="10883392"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8461A"/>
                </a:solidFill>
                <a:latin typeface="Source Serif 4" pitchFamily="18" charset="0"/>
                <a:ea typeface="Source Serif 4" pitchFamily="18" charset="-122"/>
                <a:cs typeface="Source Serif 4" pitchFamily="18" charset="-120"/>
              </a:rPr>
              <a:t>total se = √(sampling se² + non-sampling se²)</a:t>
            </a:r>
            <a:endParaRPr lang="en-US" sz="2400" dirty="0"/>
          </a:p>
        </p:txBody>
      </p:sp>
      <p:sp>
        <p:nvSpPr>
          <p:cNvPr id="5" name="Shape 3"/>
          <p:cNvSpPr/>
          <p:nvPr/>
        </p:nvSpPr>
        <p:spPr>
          <a:xfrm>
            <a:off x="815975" y="2256086"/>
            <a:ext cx="5175250" cy="2043311"/>
          </a:xfrm>
          <a:prstGeom prst="roundRect">
            <a:avLst>
              <a:gd name="adj" fmla="val 4817"/>
            </a:avLst>
          </a:prstGeom>
          <a:solidFill>
            <a:srgbClr val="FBFAF6"/>
          </a:solidFill>
          <a:ln w="6350">
            <a:solidFill>
              <a:srgbClr val="DAD8CF"/>
            </a:solidFill>
            <a:prstDash val="solid"/>
          </a:ln>
        </p:spPr>
      </p:sp>
      <p:sp>
        <p:nvSpPr>
          <p:cNvPr id="6" name="Text 4"/>
          <p:cNvSpPr/>
          <p:nvPr/>
        </p:nvSpPr>
        <p:spPr>
          <a:xfrm>
            <a:off x="1073150" y="2487861"/>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600 RESPONDENTS</a:t>
            </a:r>
            <a:endParaRPr lang="en-US" sz="1200" dirty="0"/>
          </a:p>
        </p:txBody>
      </p:sp>
      <p:sp>
        <p:nvSpPr>
          <p:cNvPr id="7" name="Text 5"/>
          <p:cNvSpPr/>
          <p:nvPr/>
        </p:nvSpPr>
        <p:spPr>
          <a:xfrm>
            <a:off x="1073150" y="277738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Sampling se 2.0 points</a:t>
            </a:r>
            <a:endParaRPr lang="en-US" sz="1400" dirty="0"/>
          </a:p>
        </p:txBody>
      </p:sp>
      <p:sp>
        <p:nvSpPr>
          <p:cNvPr id="8" name="Text 6"/>
          <p:cNvSpPr/>
          <p:nvPr/>
        </p:nvSpPr>
        <p:spPr>
          <a:xfrm>
            <a:off x="1073150" y="3102471"/>
            <a:ext cx="4800727"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F2A4A"/>
                </a:solidFill>
                <a:latin typeface="Source Serif 4" pitchFamily="18" charset="0"/>
                <a:ea typeface="Source Serif 4" pitchFamily="18" charset="-122"/>
                <a:cs typeface="Source Serif 4" pitchFamily="18" charset="-120"/>
              </a:rPr>
              <a:t>3.2 points</a:t>
            </a:r>
            <a:endParaRPr lang="en-US" sz="3600" dirty="0"/>
          </a:p>
        </p:txBody>
      </p:sp>
      <p:sp>
        <p:nvSpPr>
          <p:cNvPr id="9" name="Text 7"/>
          <p:cNvSpPr/>
          <p:nvPr/>
        </p:nvSpPr>
        <p:spPr>
          <a:xfrm>
            <a:off x="1073150" y="381873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total</a:t>
            </a:r>
            <a:endParaRPr lang="en-US" sz="1400" dirty="0"/>
          </a:p>
        </p:txBody>
      </p:sp>
      <p:sp>
        <p:nvSpPr>
          <p:cNvPr id="10" name="Shape 8"/>
          <p:cNvSpPr/>
          <p:nvPr/>
        </p:nvSpPr>
        <p:spPr>
          <a:xfrm>
            <a:off x="6200775" y="2256086"/>
            <a:ext cx="5175250" cy="2043311"/>
          </a:xfrm>
          <a:prstGeom prst="roundRect">
            <a:avLst>
              <a:gd name="adj" fmla="val 4817"/>
            </a:avLst>
          </a:prstGeom>
          <a:solidFill>
            <a:srgbClr val="FBFAF6"/>
          </a:solidFill>
          <a:ln w="6350">
            <a:solidFill>
              <a:srgbClr val="DAD8CF"/>
            </a:solidFill>
            <a:prstDash val="solid"/>
          </a:ln>
        </p:spPr>
      </p:sp>
      <p:sp>
        <p:nvSpPr>
          <p:cNvPr id="11" name="Text 9"/>
          <p:cNvSpPr/>
          <p:nvPr/>
        </p:nvSpPr>
        <p:spPr>
          <a:xfrm>
            <a:off x="6457950" y="2487861"/>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60,000 RESPONDENTS</a:t>
            </a:r>
            <a:endParaRPr lang="en-US" sz="1200" dirty="0"/>
          </a:p>
        </p:txBody>
      </p:sp>
      <p:sp>
        <p:nvSpPr>
          <p:cNvPr id="12" name="Text 10"/>
          <p:cNvSpPr/>
          <p:nvPr/>
        </p:nvSpPr>
        <p:spPr>
          <a:xfrm>
            <a:off x="6457950" y="277738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Sampling se 0.2 points</a:t>
            </a:r>
            <a:endParaRPr lang="en-US" sz="1400" dirty="0"/>
          </a:p>
        </p:txBody>
      </p:sp>
      <p:sp>
        <p:nvSpPr>
          <p:cNvPr id="13" name="Text 11"/>
          <p:cNvSpPr/>
          <p:nvPr/>
        </p:nvSpPr>
        <p:spPr>
          <a:xfrm>
            <a:off x="6457950" y="3102471"/>
            <a:ext cx="4800727"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0F2A4A"/>
                </a:solidFill>
                <a:latin typeface="Source Serif 4" pitchFamily="18" charset="0"/>
                <a:ea typeface="Source Serif 4" pitchFamily="18" charset="-122"/>
                <a:cs typeface="Source Serif 4" pitchFamily="18" charset="-120"/>
              </a:rPr>
              <a:t>2.5 points</a:t>
            </a:r>
            <a:endParaRPr lang="en-US" sz="3600" dirty="0"/>
          </a:p>
        </p:txBody>
      </p:sp>
      <p:sp>
        <p:nvSpPr>
          <p:cNvPr id="14" name="Text 12"/>
          <p:cNvSpPr/>
          <p:nvPr/>
        </p:nvSpPr>
        <p:spPr>
          <a:xfrm>
            <a:off x="6457950" y="381873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total</a:t>
            </a:r>
            <a:endParaRPr lang="en-US" sz="1400" dirty="0"/>
          </a:p>
        </p:txBody>
      </p:sp>
      <p:sp>
        <p:nvSpPr>
          <p:cNvPr id="15" name="Text 13"/>
          <p:cNvSpPr/>
          <p:nvPr/>
        </p:nvSpPr>
        <p:spPr>
          <a:xfrm>
            <a:off x="812800" y="455657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With 2.5 points of non-sampling error, a sample 100 times larger barely helps. Reduce the larger source of error first.</a:t>
            </a:r>
            <a:endParaRPr lang="en-US" sz="15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Non-sampling error of about 2.5 points in election polls · Notebook §6</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SIGNIFICANCE AND ITS TRAPS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significance filter</a:t>
            </a:r>
            <a:endParaRPr lang="en-US" sz="3000" dirty="0"/>
          </a:p>
        </p:txBody>
      </p:sp>
      <p:sp>
        <p:nvSpPr>
          <p:cNvPr id="4" name="Text 2"/>
          <p:cNvSpPr/>
          <p:nvPr/>
        </p:nvSpPr>
        <p:spPr>
          <a:xfrm>
            <a:off x="812800" y="2490490"/>
            <a:ext cx="46437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noisy study of a small effect: true effect 0.10, standard error 0.17. We simulate 100,000 replications.</a:t>
            </a:r>
            <a:endParaRPr lang="en-US" sz="1400" dirty="0"/>
          </a:p>
        </p:txBody>
      </p:sp>
      <p:sp>
        <p:nvSpPr>
          <p:cNvPr id="5" name="Text 3"/>
          <p:cNvSpPr/>
          <p:nvPr/>
        </p:nvSpPr>
        <p:spPr>
          <a:xfrm>
            <a:off x="812800" y="3127970"/>
            <a:ext cx="46437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9%</a:t>
            </a:r>
            <a:r>
              <a:rPr lang="en-US" sz="1500" dirty="0">
                <a:solidFill>
                  <a:srgbClr val="1B2633"/>
                </a:solidFill>
                <a:latin typeface="IBM Plex Sans" pitchFamily="34" charset="0"/>
                <a:ea typeface="IBM Plex Sans" pitchFamily="34" charset="-122"/>
                <a:cs typeface="IBM Plex Sans" pitchFamily="34" charset="-120"/>
              </a:rPr>
              <a:t> of studies are significant.</a:t>
            </a:r>
            <a:endParaRPr lang="en-US" sz="1500" dirty="0"/>
          </a:p>
        </p:txBody>
      </p:sp>
      <p:sp>
        <p:nvSpPr>
          <p:cNvPr id="6" name="Text 4"/>
          <p:cNvSpPr/>
          <p:nvPr/>
        </p:nvSpPr>
        <p:spPr>
          <a:xfrm>
            <a:off x="812800" y="3534370"/>
            <a:ext cx="464375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Those estimates average </a:t>
            </a:r>
            <a:r>
              <a:rPr lang="en-US" sz="1500" b="1" dirty="0">
                <a:solidFill>
                  <a:srgbClr val="1B2633"/>
                </a:solidFill>
                <a:latin typeface="IBM Plex Sans" pitchFamily="34" charset="0"/>
                <a:ea typeface="IBM Plex Sans" pitchFamily="34" charset="-122"/>
                <a:cs typeface="IBM Plex Sans" pitchFamily="34" charset="-120"/>
              </a:rPr>
              <a:t>4.1 times</a:t>
            </a:r>
            <a:r>
              <a:rPr lang="en-US" sz="1500" dirty="0">
                <a:solidFill>
                  <a:srgbClr val="1B2633"/>
                </a:solidFill>
                <a:latin typeface="IBM Plex Sans" pitchFamily="34" charset="0"/>
                <a:ea typeface="IBM Plex Sans" pitchFamily="34" charset="-122"/>
                <a:cs typeface="IBM Plex Sans" pitchFamily="34" charset="-120"/>
              </a:rPr>
              <a:t> the true effect.</a:t>
            </a:r>
            <a:endParaRPr lang="en-US" sz="1500" dirty="0"/>
          </a:p>
        </p:txBody>
      </p:sp>
      <p:sp>
        <p:nvSpPr>
          <p:cNvPr id="7" name="Text 5"/>
          <p:cNvSpPr/>
          <p:nvPr/>
        </p:nvSpPr>
        <p:spPr>
          <a:xfrm>
            <a:off x="812800" y="3940770"/>
            <a:ext cx="46437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5.8%</a:t>
            </a:r>
            <a:r>
              <a:rPr lang="en-US" sz="1500" dirty="0">
                <a:solidFill>
                  <a:srgbClr val="1B2633"/>
                </a:solidFill>
                <a:latin typeface="IBM Plex Sans" pitchFamily="34" charset="0"/>
                <a:ea typeface="IBM Plex Sans" pitchFamily="34" charset="-122"/>
                <a:cs typeface="IBM Plex Sans" pitchFamily="34" charset="-120"/>
              </a:rPr>
              <a:t> of them have the wrong sign.</a:t>
            </a:r>
            <a:endParaRPr lang="en-US" sz="1500" dirty="0"/>
          </a:p>
        </p:txBody>
      </p:sp>
      <p:sp>
        <p:nvSpPr>
          <p:cNvPr id="8" name="Text 6"/>
          <p:cNvSpPr/>
          <p:nvPr/>
        </p:nvSpPr>
        <p:spPr>
          <a:xfrm>
            <a:off x="812800" y="4347170"/>
            <a:ext cx="464375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IBM Plex Sans" pitchFamily="34" charset="0"/>
                <a:ea typeface="IBM Plex Sans" pitchFamily="34" charset="-122"/>
                <a:cs typeface="IBM Plex Sans" pitchFamily="34" charset="-120"/>
              </a:rPr>
              <a:t>Each estimate is unbiased. The ones that pass the filter are not.</a:t>
            </a:r>
            <a:endParaRPr lang="en-US" sz="1400" dirty="0"/>
          </a:p>
        </p:txBody>
      </p:sp>
      <p:pic>
        <p:nvPicPr>
          <p:cNvPr id="9" name="Image 0" descr="Histogram of 100,000 simulated estimates; only the extreme ones, in orange, are statistically significant">    </p:cNvPr>
          <p:cNvPicPr>
            <a:picLocks noChangeAspect="1"/>
          </p:cNvPicPr>
          <p:nvPr/>
        </p:nvPicPr>
        <p:blipFill>
          <a:blip r:embed="rId1"/>
          <a:srcRect l="0" r="0" t="-23" b="-23"/>
          <a:stretch/>
        </p:blipFill>
        <p:spPr>
          <a:xfrm>
            <a:off x="5676900" y="1572220"/>
            <a:ext cx="5702300" cy="4191000"/>
          </a:xfrm>
          <a:prstGeom prst="rect">
            <a:avLst/>
          </a:prstGeom>
        </p:spPr>
      </p:pic>
      <p:sp>
        <p:nvSpPr>
          <p:cNvPr id="10" name="Text 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§7.1</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SIGNIFICANCE AND ITS TRAPS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Three more traps</a:t>
            </a:r>
            <a:endParaRPr lang="en-US" sz="3000" dirty="0"/>
          </a:p>
        </p:txBody>
      </p:sp>
      <p:sp>
        <p:nvSpPr>
          <p:cNvPr id="4" name="Shape 2"/>
          <p:cNvSpPr/>
          <p:nvPr/>
        </p:nvSpPr>
        <p:spPr>
          <a:xfrm>
            <a:off x="815975" y="1575395"/>
            <a:ext cx="3380284" cy="2520801"/>
          </a:xfrm>
          <a:prstGeom prst="roundRect">
            <a:avLst>
              <a:gd name="adj" fmla="val 3905"/>
            </a:avLst>
          </a:prstGeom>
          <a:solidFill>
            <a:srgbClr val="FBFAF6"/>
          </a:solidFill>
          <a:ln w="6350">
            <a:solidFill>
              <a:srgbClr val="DAD8CF"/>
            </a:solidFill>
            <a:prstDash val="solid"/>
          </a:ln>
        </p:spPr>
      </p:sp>
      <p:sp>
        <p:nvSpPr>
          <p:cNvPr id="5" name="Text 3"/>
          <p:cNvSpPr/>
          <p:nvPr/>
        </p:nvSpPr>
        <p:spPr>
          <a:xfrm>
            <a:off x="1073150" y="1807170"/>
            <a:ext cx="295191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Significant is not important</a:t>
            </a:r>
            <a:endParaRPr lang="en-US" sz="2000" dirty="0"/>
          </a:p>
        </p:txBody>
      </p:sp>
      <p:sp>
        <p:nvSpPr>
          <p:cNvPr id="6" name="Text 4"/>
          <p:cNvSpPr/>
          <p:nvPr/>
        </p:nvSpPr>
        <p:spPr>
          <a:xfrm>
            <a:off x="1073150" y="2518370"/>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+$10 per year, standard error $2: significant, but negligible.</a:t>
            </a:r>
            <a:endParaRPr lang="en-US" sz="1400" dirty="0"/>
          </a:p>
        </p:txBody>
      </p:sp>
      <p:sp>
        <p:nvSpPr>
          <p:cNvPr id="7" name="Text 5"/>
          <p:cNvSpPr/>
          <p:nvPr/>
        </p:nvSpPr>
        <p:spPr>
          <a:xfrm>
            <a:off x="1073150" y="3117751"/>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+$10,000, standard error $10,000: not significant, possibly huge.</a:t>
            </a:r>
            <a:endParaRPr lang="en-US" sz="1400" dirty="0"/>
          </a:p>
        </p:txBody>
      </p:sp>
      <p:sp>
        <p:nvSpPr>
          <p:cNvPr id="8" name="Shape 6"/>
          <p:cNvSpPr/>
          <p:nvPr/>
        </p:nvSpPr>
        <p:spPr>
          <a:xfrm>
            <a:off x="4405809" y="1575395"/>
            <a:ext cx="3380333" cy="2520801"/>
          </a:xfrm>
          <a:prstGeom prst="roundRect">
            <a:avLst>
              <a:gd name="adj" fmla="val 3905"/>
            </a:avLst>
          </a:prstGeom>
          <a:solidFill>
            <a:srgbClr val="FBFAF6"/>
          </a:solidFill>
          <a:ln w="6350">
            <a:solidFill>
              <a:srgbClr val="DAD8CF"/>
            </a:solidFill>
            <a:prstDash val="solid"/>
          </a:ln>
        </p:spPr>
      </p:sp>
      <p:sp>
        <p:nvSpPr>
          <p:cNvPr id="9" name="Text 7"/>
          <p:cNvSpPr/>
          <p:nvPr/>
        </p:nvSpPr>
        <p:spPr>
          <a:xfrm>
            <a:off x="4662984" y="1807170"/>
            <a:ext cx="295196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Not significant is not zero</a:t>
            </a:r>
            <a:endParaRPr lang="en-US" sz="2000" dirty="0"/>
          </a:p>
        </p:txBody>
      </p:sp>
      <p:sp>
        <p:nvSpPr>
          <p:cNvPr id="10" name="Text 8"/>
          <p:cNvSpPr/>
          <p:nvPr/>
        </p:nvSpPr>
        <p:spPr>
          <a:xfrm>
            <a:off x="4662984" y="2518370"/>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Arterial stents: +16.6 seconds of treadmill time, standard error 9.8, p = 0.20.</a:t>
            </a:r>
            <a:endParaRPr lang="en-US" sz="1400" dirty="0"/>
          </a:p>
        </p:txBody>
      </p:sp>
      <p:sp>
        <p:nvSpPr>
          <p:cNvPr id="11" name="Text 9"/>
          <p:cNvSpPr/>
          <p:nvPr/>
        </p:nvSpPr>
        <p:spPr>
          <a:xfrm>
            <a:off x="4662984" y="336664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fair summary is "uncertain", not "no effect".</a:t>
            </a:r>
            <a:endParaRPr lang="en-US" sz="1400" dirty="0"/>
          </a:p>
        </p:txBody>
      </p:sp>
      <p:sp>
        <p:nvSpPr>
          <p:cNvPr id="12" name="Shape 10"/>
          <p:cNvSpPr/>
          <p:nvPr/>
        </p:nvSpPr>
        <p:spPr>
          <a:xfrm>
            <a:off x="7995692" y="1575395"/>
            <a:ext cx="3380333" cy="2520801"/>
          </a:xfrm>
          <a:prstGeom prst="roundRect">
            <a:avLst>
              <a:gd name="adj" fmla="val 3905"/>
            </a:avLst>
          </a:prstGeom>
          <a:solidFill>
            <a:srgbClr val="FBFAF6"/>
          </a:solidFill>
          <a:ln w="6350">
            <a:solidFill>
              <a:srgbClr val="DAD8CF"/>
            </a:solidFill>
            <a:prstDash val="solid"/>
          </a:ln>
        </p:spPr>
      </p:sp>
      <p:sp>
        <p:nvSpPr>
          <p:cNvPr id="13" name="Text 11"/>
          <p:cNvSpPr/>
          <p:nvPr/>
        </p:nvSpPr>
        <p:spPr>
          <a:xfrm>
            <a:off x="8252867" y="1807170"/>
            <a:ext cx="2951963" cy="9398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4A"/>
                </a:solidFill>
                <a:latin typeface="Source Serif 4" pitchFamily="18" charset="0"/>
                <a:ea typeface="Source Serif 4" pitchFamily="18" charset="-122"/>
                <a:cs typeface="Source Serif 4" pitchFamily="18" charset="-120"/>
              </a:rPr>
              <a:t>A significant and a non-significant result may not differ</a:t>
            </a:r>
            <a:endParaRPr lang="en-US" sz="2000" dirty="0"/>
          </a:p>
        </p:txBody>
      </p:sp>
      <p:sp>
        <p:nvSpPr>
          <p:cNvPr id="14" name="Text 12"/>
          <p:cNvSpPr/>
          <p:nvPr/>
        </p:nvSpPr>
        <p:spPr>
          <a:xfrm>
            <a:off x="8252867" y="2823170"/>
            <a:ext cx="311998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Study A: 25 ± 10. Study B: 10 ± 10.</a:t>
            </a:r>
            <a:endParaRPr lang="en-US" sz="1400" dirty="0"/>
          </a:p>
        </p:txBody>
      </p:sp>
      <p:sp>
        <p:nvSpPr>
          <p:cNvPr id="15" name="Text 13"/>
          <p:cNvSpPr/>
          <p:nvPr/>
        </p:nvSpPr>
        <p:spPr>
          <a:xfrm>
            <a:off x="8252867" y="317366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difference is 15 ± 14, nowhere near significant.</a:t>
            </a:r>
            <a:endParaRPr lang="en-US" sz="14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§7.2</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SIGNIFICANCE AND ITS TRAPS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Testing a difference, step by step</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2235994"/>
        </p:xfrm>
        <a:graphic>
          <a:graphicData uri="http://schemas.openxmlformats.org/drawingml/2006/table">
            <a:tbl>
              <a:tblPr/>
              <a:tblGrid>
                <a:gridCol w="2532888"/>
                <a:gridCol w="8020812"/>
              </a:tblGrid>
              <a:tr h="372666">
                <a:tc>
                  <a:txBody>
                    <a:bodyPr/>
                    <a:lstStyle/>
                    <a:p>
                      <a:pPr indent="0" marL="0">
                        <a:lnSpc>
                          <a:spcPts val="1890"/>
                        </a:lnSpc>
                        <a:buNone/>
                      </a:pPr>
                      <a:r>
                        <a:rPr lang="en-US" sz="1350" b="1" dirty="0">
                          <a:solidFill>
                            <a:srgbClr val="1B2633"/>
                          </a:solidFill>
                          <a:latin typeface="IBM Plex Sans" pitchFamily="34" charset="0"/>
                          <a:ea typeface="IBM Plex Sans" pitchFamily="34" charset="-122"/>
                          <a:cs typeface="IBM Plex Sans" pitchFamily="34" charset="-120"/>
                        </a:rPr>
                        <a:t>Step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90"/>
                        </a:lnSpc>
                        <a:buNone/>
                      </a:pPr>
                      <a:r>
                        <a:rPr lang="en-US" sz="1350" b="1" dirty="0">
                          <a:solidFill>
                            <a:srgbClr val="1B2633"/>
                          </a:solidFill>
                          <a:latin typeface="IBM Plex Sans" pitchFamily="34" charset="0"/>
                          <a:ea typeface="IBM Plex Sans" pitchFamily="34" charset="-122"/>
                          <a:cs typeface="IBM Plex Sans" pitchFamily="34" charset="-120"/>
                        </a:rPr>
                        <a:t>Example: a diet and cholesterol, 60 per group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72666">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1. Estimate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Difference of means: −22.6</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2. Standard error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&amp;radic;(s1²/n1 + s2²/n2) = 5.3</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3. Statistic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t = −22.6 / 5.3 = −4.25</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4. p-value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Probability of a value this extreme if the true difference were 0: p &lt; 0.001</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5. Interval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90"/>
                        </a:lnSpc>
                        <a:buNone/>
                      </a:pPr>
                      <a:r>
                        <a:rPr lang="en-US" sz="1350" dirty="0">
                          <a:solidFill>
                            <a:srgbClr val="1B2633"/>
                          </a:solidFill>
                          <a:latin typeface="IBM Plex Sans" pitchFamily="34" charset="0"/>
                          <a:ea typeface="IBM Plex Sans" pitchFamily="34" charset="-122"/>
                          <a:cs typeface="IBM Plex Sans" pitchFamily="34" charset="-120"/>
                        </a:rPr>
                        <a:t>[−33.1, −12.0]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397331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Report the interval. The p-value alone does not say how large the difference is.</a:t>
            </a:r>
            <a:endParaRPr lang="en-US" sz="1400" dirty="0"/>
          </a:p>
        </p:txBody>
      </p:sp>
      <p:sp>
        <p:nvSpPr>
          <p:cNvPr id="6" name="Text 3"/>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Simulated data · Notebook §12.2</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SIGNIFICANCE</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Hypothesis tests, formally</a:t>
            </a:r>
            <a:endParaRPr lang="en-US" sz="3000" dirty="0"/>
          </a:p>
        </p:txBody>
      </p:sp>
      <p:sp>
        <p:nvSpPr>
          <p:cNvPr id="4" name="Shape 2"/>
          <p:cNvSpPr/>
          <p:nvPr/>
        </p:nvSpPr>
        <p:spPr>
          <a:xfrm>
            <a:off x="815975" y="1575395"/>
            <a:ext cx="10560050" cy="1041400"/>
          </a:xfrm>
          <a:prstGeom prst="roundRect">
            <a:avLst>
              <a:gd name="adj" fmla="val 9451"/>
            </a:avLst>
          </a:prstGeom>
          <a:solidFill>
            <a:srgbClr val="FBFAF6"/>
          </a:solidFill>
          <a:ln w="6350">
            <a:solidFill>
              <a:srgbClr val="DAD8CF"/>
            </a:solidFill>
            <a:prstDash val="solid"/>
          </a:ln>
        </p:spPr>
      </p:sp>
      <p:pic>
        <p:nvPicPr>
          <p:cNvPr id="5" name="Image 0" descr="z equals theta hat minus theta 0 over se; p equals 2 times 1 minus Phi of absolute z">    </p:cNvPr>
          <p:cNvPicPr>
            <a:picLocks noChangeAspect="1"/>
          </p:cNvPicPr>
          <p:nvPr/>
        </p:nvPicPr>
        <p:blipFill>
          <a:blip r:embed="rId1"/>
          <a:srcRect l="-217" r="-217" t="0" b="0"/>
          <a:stretch/>
        </p:blipFill>
        <p:spPr>
          <a:xfrm>
            <a:off x="1047750" y="1730970"/>
            <a:ext cx="3822700" cy="730250"/>
          </a:xfrm>
          <a:prstGeom prst="rect">
            <a:avLst/>
          </a:prstGeom>
        </p:spPr>
      </p:pic>
      <p:sp>
        <p:nvSpPr>
          <p:cNvPr id="6" name="Text 3"/>
          <p:cNvSpPr/>
          <p:nvPr/>
        </p:nvSpPr>
        <p:spPr>
          <a:xfrm>
            <a:off x="6381750" y="1749375"/>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Test statistic and p-value.</a:t>
            </a:r>
            <a:r>
              <a:rPr lang="en-US" sz="1300" dirty="0">
                <a:solidFill>
                  <a:srgbClr val="4A5568"/>
                </a:solidFill>
                <a:latin typeface="IBM Plex Sans" pitchFamily="34" charset="0"/>
                <a:ea typeface="IBM Plex Sans" pitchFamily="34" charset="-122"/>
                <a:cs typeface="IBM Plex Sans" pitchFamily="34" charset="-120"/>
              </a:rPr>
              <a:t> Under </a:t>
            </a:r>
            <a:r>
              <a:rPr lang="en-US" sz="1300" i="1" dirty="0">
                <a:solidFill>
                  <a:srgbClr val="4A5568"/>
                </a:solidFill>
                <a:latin typeface="IBM Plex Sans" pitchFamily="34" charset="0"/>
                <a:ea typeface="IBM Plex Sans" pitchFamily="34" charset="-122"/>
                <a:cs typeface="IBM Plex Sans" pitchFamily="34" charset="-120"/>
              </a:rPr>
              <a:t>H</a:t>
            </a:r>
            <a:r>
              <a:rPr lang="en-US" sz="1300" dirty="0">
                <a:solidFill>
                  <a:srgbClr val="4A5568"/>
                </a:solidFill>
                <a:latin typeface="IBM Plex Sans" pitchFamily="34" charset="0"/>
                <a:ea typeface="IBM Plex Sans" pitchFamily="34" charset="-122"/>
                <a:cs typeface="IBM Plex Sans" pitchFamily="34" charset="-120"/>
              </a:rPr>
              <a:t>0: θ = θ0, </a:t>
            </a:r>
            <a:r>
              <a:rPr lang="en-US" sz="1300" i="1" dirty="0">
                <a:solidFill>
                  <a:srgbClr val="4A5568"/>
                </a:solidFill>
                <a:latin typeface="IBM Plex Sans" pitchFamily="34" charset="0"/>
                <a:ea typeface="IBM Plex Sans" pitchFamily="34" charset="-122"/>
                <a:cs typeface="IBM Plex Sans" pitchFamily="34" charset="-120"/>
              </a:rPr>
              <a:t>z</a:t>
            </a:r>
            <a:r>
              <a:rPr lang="en-US" sz="1300" dirty="0">
                <a:solidFill>
                  <a:srgbClr val="4A5568"/>
                </a:solidFill>
                <a:latin typeface="IBM Plex Sans" pitchFamily="34" charset="0"/>
                <a:ea typeface="IBM Plex Sans" pitchFamily="34" charset="-122"/>
                <a:cs typeface="IBM Plex Sans" pitchFamily="34" charset="-120"/>
              </a:rPr>
              <a:t> ≈ N(0, 1). The p-value is the probability of a |</a:t>
            </a:r>
            <a:r>
              <a:rPr lang="en-US" sz="1300" i="1" dirty="0">
                <a:solidFill>
                  <a:srgbClr val="4A5568"/>
                </a:solidFill>
                <a:latin typeface="IBM Plex Sans" pitchFamily="34" charset="0"/>
                <a:ea typeface="IBM Plex Sans" pitchFamily="34" charset="-122"/>
                <a:cs typeface="IBM Plex Sans" pitchFamily="34" charset="-120"/>
              </a:rPr>
              <a:t>z</a:t>
            </a:r>
            <a:r>
              <a:rPr lang="en-US" sz="1300" dirty="0">
                <a:solidFill>
                  <a:srgbClr val="4A5568"/>
                </a:solidFill>
                <a:latin typeface="IBM Plex Sans" pitchFamily="34" charset="0"/>
                <a:ea typeface="IBM Plex Sans" pitchFamily="34" charset="-122"/>
                <a:cs typeface="IBM Plex Sans" pitchFamily="34" charset="-120"/>
              </a:rPr>
              <a:t>| at least this large if </a:t>
            </a:r>
            <a:r>
              <a:rPr lang="en-US" sz="1300" i="1" dirty="0">
                <a:solidFill>
                  <a:srgbClr val="4A5568"/>
                </a:solidFill>
                <a:latin typeface="IBM Plex Sans" pitchFamily="34" charset="0"/>
                <a:ea typeface="IBM Plex Sans" pitchFamily="34" charset="-122"/>
                <a:cs typeface="IBM Plex Sans" pitchFamily="34" charset="-120"/>
              </a:rPr>
              <a:t>H</a:t>
            </a:r>
            <a:r>
              <a:rPr lang="en-US" sz="1300" dirty="0">
                <a:solidFill>
                  <a:srgbClr val="4A5568"/>
                </a:solidFill>
                <a:latin typeface="IBM Plex Sans" pitchFamily="34" charset="0"/>
                <a:ea typeface="IBM Plex Sans" pitchFamily="34" charset="-122"/>
                <a:cs typeface="IBM Plex Sans" pitchFamily="34" charset="-120"/>
              </a:rPr>
              <a:t>0 were true. Significant at 5% when |</a:t>
            </a:r>
            <a:r>
              <a:rPr lang="en-US" sz="1300" i="1" dirty="0">
                <a:solidFill>
                  <a:srgbClr val="4A5568"/>
                </a:solidFill>
                <a:latin typeface="IBM Plex Sans" pitchFamily="34" charset="0"/>
                <a:ea typeface="IBM Plex Sans" pitchFamily="34" charset="-122"/>
                <a:cs typeface="IBM Plex Sans" pitchFamily="34" charset="-120"/>
              </a:rPr>
              <a:t>z</a:t>
            </a:r>
            <a:r>
              <a:rPr lang="en-US" sz="1300" dirty="0">
                <a:solidFill>
                  <a:srgbClr val="4A5568"/>
                </a:solidFill>
                <a:latin typeface="IBM Plex Sans" pitchFamily="34" charset="0"/>
                <a:ea typeface="IBM Plex Sans" pitchFamily="34" charset="-122"/>
                <a:cs typeface="IBM Plex Sans" pitchFamily="34" charset="-120"/>
              </a:rPr>
              <a:t>| &gt; 1.96.</a:t>
            </a:r>
            <a:endParaRPr lang="en-US" sz="1300" dirty="0"/>
          </a:p>
        </p:txBody>
      </p:sp>
      <p:sp>
        <p:nvSpPr>
          <p:cNvPr id="7" name="Shape 4"/>
          <p:cNvSpPr/>
          <p:nvPr/>
        </p:nvSpPr>
        <p:spPr>
          <a:xfrm>
            <a:off x="815975" y="2750145"/>
            <a:ext cx="10560050" cy="1004540"/>
          </a:xfrm>
          <a:prstGeom prst="roundRect">
            <a:avLst>
              <a:gd name="adj" fmla="val 9798"/>
            </a:avLst>
          </a:prstGeom>
          <a:solidFill>
            <a:srgbClr val="FBFAF6"/>
          </a:solidFill>
          <a:ln w="6350">
            <a:solidFill>
              <a:srgbClr val="DAD8CF"/>
            </a:solidFill>
            <a:prstDash val="solid"/>
          </a:ln>
        </p:spPr>
      </p:sp>
      <p:pic>
        <p:nvPicPr>
          <p:cNvPr id="8" name="Image 1" descr="alpha equals probability of rejecting given H0; 1 minus beta equals probability of rejecting given theta">    </p:cNvPr>
          <p:cNvPicPr>
            <a:picLocks noChangeAspect="1"/>
          </p:cNvPicPr>
          <p:nvPr/>
        </p:nvPicPr>
        <p:blipFill>
          <a:blip r:embed="rId2"/>
          <a:srcRect l="-431" r="-431" t="0" b="0"/>
          <a:stretch/>
        </p:blipFill>
        <p:spPr>
          <a:xfrm>
            <a:off x="1047750" y="3068241"/>
            <a:ext cx="4838700" cy="368300"/>
          </a:xfrm>
          <a:prstGeom prst="rect">
            <a:avLst/>
          </a:prstGeom>
        </p:spPr>
      </p:pic>
      <p:sp>
        <p:nvSpPr>
          <p:cNvPr id="9" name="Text 5"/>
          <p:cNvSpPr/>
          <p:nvPr/>
        </p:nvSpPr>
        <p:spPr>
          <a:xfrm>
            <a:off x="6381750" y="290572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Error rates.</a:t>
            </a:r>
            <a:r>
              <a:rPr lang="en-US" sz="1300" dirty="0">
                <a:solidFill>
                  <a:srgbClr val="4A5568"/>
                </a:solidFill>
                <a:latin typeface="IBM Plex Sans" pitchFamily="34" charset="0"/>
                <a:ea typeface="IBM Plex Sans" pitchFamily="34" charset="-122"/>
                <a:cs typeface="IBM Plex Sans" pitchFamily="34" charset="-120"/>
              </a:rPr>
              <a:t> Type 1: rejecting a true </a:t>
            </a:r>
            <a:r>
              <a:rPr lang="en-US" sz="1300" i="1" dirty="0">
                <a:solidFill>
                  <a:srgbClr val="4A5568"/>
                </a:solidFill>
                <a:latin typeface="IBM Plex Sans" pitchFamily="34" charset="0"/>
                <a:ea typeface="IBM Plex Sans" pitchFamily="34" charset="-122"/>
                <a:cs typeface="IBM Plex Sans" pitchFamily="34" charset="-120"/>
              </a:rPr>
              <a:t>H</a:t>
            </a:r>
            <a:r>
              <a:rPr lang="en-US" sz="1300" dirty="0">
                <a:solidFill>
                  <a:srgbClr val="4A5568"/>
                </a:solidFill>
                <a:latin typeface="IBM Plex Sans" pitchFamily="34" charset="0"/>
                <a:ea typeface="IBM Plex Sans" pitchFamily="34" charset="-122"/>
                <a:cs typeface="IBM Plex Sans" pitchFamily="34" charset="-120"/>
              </a:rPr>
              <a:t>0, rate α. Type 2: missing a real effect, rate β. Power = 1 − β. Cholesterol: </a:t>
            </a:r>
            <a:r>
              <a:rPr lang="en-US" sz="1300" i="1" dirty="0">
                <a:solidFill>
                  <a:srgbClr val="4A5568"/>
                </a:solidFill>
                <a:latin typeface="IBM Plex Sans" pitchFamily="34" charset="0"/>
                <a:ea typeface="IBM Plex Sans" pitchFamily="34" charset="-122"/>
                <a:cs typeface="IBM Plex Sans" pitchFamily="34" charset="-120"/>
              </a:rPr>
              <a:t>z</a:t>
            </a:r>
            <a:r>
              <a:rPr lang="en-US" sz="1300" dirty="0">
                <a:solidFill>
                  <a:srgbClr val="4A5568"/>
                </a:solidFill>
                <a:latin typeface="IBM Plex Sans" pitchFamily="34" charset="0"/>
                <a:ea typeface="IBM Plex Sans" pitchFamily="34" charset="-122"/>
                <a:cs typeface="IBM Plex Sans" pitchFamily="34" charset="-120"/>
              </a:rPr>
              <a:t> = −22.6/5.3 = −4.3, </a:t>
            </a:r>
            <a:r>
              <a:rPr lang="en-US" sz="1300" i="1" dirty="0">
                <a:solidFill>
                  <a:srgbClr val="4A5568"/>
                </a:solidFill>
                <a:latin typeface="IBM Plex Sans" pitchFamily="34" charset="0"/>
                <a:ea typeface="IBM Plex Sans" pitchFamily="34" charset="-122"/>
                <a:cs typeface="IBM Plex Sans" pitchFamily="34" charset="-120"/>
              </a:rPr>
              <a:t>p</a:t>
            </a:r>
            <a:r>
              <a:rPr lang="en-US" sz="1300" dirty="0">
                <a:solidFill>
                  <a:srgbClr val="4A5568"/>
                </a:solidFill>
                <a:latin typeface="IBM Plex Sans" pitchFamily="34" charset="0"/>
                <a:ea typeface="IBM Plex Sans" pitchFamily="34" charset="-122"/>
                <a:cs typeface="IBM Plex Sans" pitchFamily="34" charset="-120"/>
              </a:rPr>
              <a:t> &lt; 0.001.</a:t>
            </a:r>
            <a:endParaRPr lang="en-US" sz="1300" dirty="0"/>
          </a:p>
        </p:txBody>
      </p:sp>
      <p:sp>
        <p:nvSpPr>
          <p:cNvPr id="10"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§12.2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SIGNIFICANCE</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Power and the significance filter, formally</a:t>
            </a:r>
            <a:endParaRPr lang="en-US" sz="3000" dirty="0"/>
          </a:p>
        </p:txBody>
      </p:sp>
      <p:sp>
        <p:nvSpPr>
          <p:cNvPr id="4" name="Shape 2"/>
          <p:cNvSpPr/>
          <p:nvPr/>
        </p:nvSpPr>
        <p:spPr>
          <a:xfrm>
            <a:off x="815975" y="1575395"/>
            <a:ext cx="10560050" cy="1004540"/>
          </a:xfrm>
          <a:prstGeom prst="roundRect">
            <a:avLst>
              <a:gd name="adj" fmla="val 9798"/>
            </a:avLst>
          </a:prstGeom>
          <a:solidFill>
            <a:srgbClr val="FBFAF6"/>
          </a:solidFill>
          <a:ln w="6350">
            <a:solidFill>
              <a:srgbClr val="DAD8CF"/>
            </a:solidFill>
            <a:prstDash val="solid"/>
          </a:ln>
        </p:spPr>
      </p:sp>
      <p:pic>
        <p:nvPicPr>
          <p:cNvPr id="5" name="Image 0" descr="power is approximately Phi of theta over se minus 1.96 plus Phi of minus theta over se minus 1.96">    </p:cNvPr>
          <p:cNvPicPr>
            <a:picLocks noChangeAspect="1"/>
          </p:cNvPicPr>
          <p:nvPr/>
        </p:nvPicPr>
        <p:blipFill>
          <a:blip r:embed="rId1"/>
          <a:srcRect l="-245" r="-245" t="0" b="0"/>
          <a:stretch/>
        </p:blipFill>
        <p:spPr>
          <a:xfrm>
            <a:off x="1047750" y="1753791"/>
            <a:ext cx="4826000" cy="647700"/>
          </a:xfrm>
          <a:prstGeom prst="rect">
            <a:avLst/>
          </a:prstGeom>
        </p:spPr>
      </p:pic>
      <p:sp>
        <p:nvSpPr>
          <p:cNvPr id="6" name="Text 3"/>
          <p:cNvSpPr/>
          <p:nvPr/>
        </p:nvSpPr>
        <p:spPr>
          <a:xfrm>
            <a:off x="6381750" y="173097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Power.</a:t>
            </a:r>
            <a:r>
              <a:rPr lang="en-US" sz="1300" dirty="0">
                <a:solidFill>
                  <a:srgbClr val="4A5568"/>
                </a:solidFill>
                <a:latin typeface="IBM Plex Sans" pitchFamily="34" charset="0"/>
                <a:ea typeface="IBM Plex Sans" pitchFamily="34" charset="-122"/>
                <a:cs typeface="IBM Plex Sans" pitchFamily="34" charset="-120"/>
              </a:rPr>
              <a:t> Probability that a study with true effect θ and standard error se comes out significant. Filter example: θ = 0.10, se = 0.17 gives 9%.</a:t>
            </a:r>
            <a:endParaRPr lang="en-US" sz="1300" dirty="0"/>
          </a:p>
        </p:txBody>
      </p:sp>
      <p:sp>
        <p:nvSpPr>
          <p:cNvPr id="7" name="Shape 4"/>
          <p:cNvSpPr/>
          <p:nvPr/>
        </p:nvSpPr>
        <p:spPr>
          <a:xfrm>
            <a:off x="815975" y="2713286"/>
            <a:ext cx="10560050" cy="773410"/>
          </a:xfrm>
          <a:prstGeom prst="roundRect">
            <a:avLst>
              <a:gd name="adj" fmla="val 12726"/>
            </a:avLst>
          </a:prstGeom>
          <a:solidFill>
            <a:srgbClr val="FBFAF6"/>
          </a:solidFill>
          <a:ln w="6350">
            <a:solidFill>
              <a:srgbClr val="DAD8CF"/>
            </a:solidFill>
            <a:prstDash val="solid"/>
          </a:ln>
        </p:spPr>
      </p:sp>
      <p:pic>
        <p:nvPicPr>
          <p:cNvPr id="8" name="Image 1" descr="type S error equals probability that the sign of theta hat differs from the sign of theta given significance">    </p:cNvPr>
          <p:cNvPicPr>
            <a:picLocks noChangeAspect="1"/>
          </p:cNvPicPr>
          <p:nvPr/>
        </p:nvPicPr>
        <p:blipFill>
          <a:blip r:embed="rId2"/>
          <a:srcRect l="0" r="0" t="-37" b="-37"/>
          <a:stretch/>
        </p:blipFill>
        <p:spPr>
          <a:xfrm>
            <a:off x="1047750" y="2912666"/>
            <a:ext cx="4311650" cy="374650"/>
          </a:xfrm>
          <a:prstGeom prst="rect">
            <a:avLst/>
          </a:prstGeom>
        </p:spPr>
      </p:pic>
      <p:sp>
        <p:nvSpPr>
          <p:cNvPr id="9" name="Text 5"/>
          <p:cNvSpPr/>
          <p:nvPr/>
        </p:nvSpPr>
        <p:spPr>
          <a:xfrm>
            <a:off x="6381750" y="2868861"/>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Type S (sign).</a:t>
            </a:r>
            <a:r>
              <a:rPr lang="en-US" sz="1300" dirty="0">
                <a:solidFill>
                  <a:srgbClr val="4A5568"/>
                </a:solidFill>
                <a:latin typeface="IBM Plex Sans" pitchFamily="34" charset="0"/>
                <a:ea typeface="IBM Plex Sans" pitchFamily="34" charset="-122"/>
                <a:cs typeface="IBM Plex Sans" pitchFamily="34" charset="-120"/>
              </a:rPr>
              <a:t> Share of significant results with the wrong sign: 6% in the example.</a:t>
            </a:r>
            <a:endParaRPr lang="en-US" sz="1300" dirty="0"/>
          </a:p>
        </p:txBody>
      </p:sp>
      <p:sp>
        <p:nvSpPr>
          <p:cNvPr id="10" name="Shape 6"/>
          <p:cNvSpPr/>
          <p:nvPr/>
        </p:nvSpPr>
        <p:spPr>
          <a:xfrm>
            <a:off x="815975" y="3620046"/>
            <a:ext cx="10560050" cy="1004540"/>
          </a:xfrm>
          <a:prstGeom prst="roundRect">
            <a:avLst>
              <a:gd name="adj" fmla="val 9798"/>
            </a:avLst>
          </a:prstGeom>
          <a:solidFill>
            <a:srgbClr val="FBFAF6"/>
          </a:solidFill>
          <a:ln w="6350">
            <a:solidFill>
              <a:srgbClr val="DAD8CF"/>
            </a:solidFill>
            <a:prstDash val="solid"/>
          </a:ln>
        </p:spPr>
      </p:sp>
      <p:pic>
        <p:nvPicPr>
          <p:cNvPr id="11" name="Image 2" descr="type M error equals expected ratio of absolute theta hat to absolute theta given significance">    </p:cNvPr>
          <p:cNvPicPr>
            <a:picLocks noChangeAspect="1"/>
          </p:cNvPicPr>
          <p:nvPr/>
        </p:nvPicPr>
        <p:blipFill>
          <a:blip r:embed="rId3"/>
          <a:srcRect l="0" r="0" t="-45" b="-45"/>
          <a:stretch/>
        </p:blipFill>
        <p:spPr>
          <a:xfrm>
            <a:off x="1047750" y="3934966"/>
            <a:ext cx="3517900" cy="374650"/>
          </a:xfrm>
          <a:prstGeom prst="rect">
            <a:avLst/>
          </a:prstGeom>
        </p:spPr>
      </p:pic>
      <p:sp>
        <p:nvSpPr>
          <p:cNvPr id="12" name="Text 7"/>
          <p:cNvSpPr/>
          <p:nvPr/>
        </p:nvSpPr>
        <p:spPr>
          <a:xfrm>
            <a:off x="6381750" y="3775621"/>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Type M (magnitude).</a:t>
            </a:r>
            <a:r>
              <a:rPr lang="en-US" sz="1300" dirty="0">
                <a:solidFill>
                  <a:srgbClr val="4A5568"/>
                </a:solidFill>
                <a:latin typeface="IBM Plex Sans" pitchFamily="34" charset="0"/>
                <a:ea typeface="IBM Plex Sans" pitchFamily="34" charset="-122"/>
                <a:cs typeface="IBM Plex Sans" pitchFamily="34" charset="-120"/>
              </a:rPr>
              <a:t> Exaggeration ratio among significant results: 4.1 in the example. Low power means large exaggeration.</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§7.1</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SIGNIFICANCE AND ITS TRAPS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Forking paths: noise that looks like a discovery</a:t>
            </a:r>
            <a:endParaRPr lang="en-US" sz="3000" dirty="0"/>
          </a:p>
        </p:txBody>
      </p:sp>
      <p:sp>
        <p:nvSpPr>
          <p:cNvPr id="4" name="Text 2"/>
          <p:cNvSpPr/>
          <p:nvPr/>
        </p:nvSpPr>
        <p:spPr>
          <a:xfrm>
            <a:off x="812800" y="15722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Two groups of 50, no real effect at all, and 20 possible comparisons: outcomes, subgroups, exclusion rules.</a:t>
            </a:r>
            <a:endParaRPr lang="en-US" sz="1500" dirty="0"/>
          </a:p>
        </p:txBody>
      </p:sp>
      <p:sp>
        <p:nvSpPr>
          <p:cNvPr id="5" name="Shape 3"/>
          <p:cNvSpPr/>
          <p:nvPr/>
        </p:nvSpPr>
        <p:spPr>
          <a:xfrm>
            <a:off x="815975" y="2096095"/>
            <a:ext cx="5175250" cy="1931591"/>
          </a:xfrm>
          <a:prstGeom prst="roundRect">
            <a:avLst>
              <a:gd name="adj" fmla="val 5096"/>
            </a:avLst>
          </a:prstGeom>
          <a:solidFill>
            <a:srgbClr val="FBFAF6"/>
          </a:solidFill>
          <a:ln w="6350">
            <a:solidFill>
              <a:srgbClr val="DAD8CF"/>
            </a:solidFill>
            <a:prstDash val="solid"/>
          </a:ln>
        </p:spPr>
      </p:sp>
      <p:sp>
        <p:nvSpPr>
          <p:cNvPr id="6" name="Text 4"/>
          <p:cNvSpPr/>
          <p:nvPr/>
        </p:nvSpPr>
        <p:spPr>
          <a:xfrm>
            <a:off x="1073150" y="232787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ONE COMPARISON</a:t>
            </a:r>
            <a:endParaRPr lang="en-US" sz="1200" dirty="0"/>
          </a:p>
        </p:txBody>
      </p:sp>
      <p:sp>
        <p:nvSpPr>
          <p:cNvPr id="7" name="Text 5"/>
          <p:cNvSpPr/>
          <p:nvPr/>
        </p:nvSpPr>
        <p:spPr>
          <a:xfrm>
            <a:off x="1073150" y="2617391"/>
            <a:ext cx="4800727"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0F2A4A"/>
                </a:solidFill>
                <a:latin typeface="Source Serif 4" pitchFamily="18" charset="0"/>
                <a:ea typeface="Source Serif 4" pitchFamily="18" charset="-122"/>
                <a:cs typeface="Source Serif 4" pitchFamily="18" charset="-120"/>
              </a:rPr>
              <a:t>5%</a:t>
            </a:r>
            <a:endParaRPr lang="en-US" sz="4800" dirty="0"/>
          </a:p>
        </p:txBody>
      </p:sp>
      <p:sp>
        <p:nvSpPr>
          <p:cNvPr id="8" name="Text 6"/>
          <p:cNvSpPr/>
          <p:nvPr/>
        </p:nvSpPr>
        <p:spPr>
          <a:xfrm>
            <a:off x="1073150" y="354702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give p &lt; 0.05</a:t>
            </a:r>
            <a:endParaRPr lang="en-US" sz="1400" dirty="0"/>
          </a:p>
        </p:txBody>
      </p:sp>
      <p:sp>
        <p:nvSpPr>
          <p:cNvPr id="9" name="Shape 7"/>
          <p:cNvSpPr/>
          <p:nvPr/>
        </p:nvSpPr>
        <p:spPr>
          <a:xfrm>
            <a:off x="6200775" y="2096095"/>
            <a:ext cx="5175250" cy="1931591"/>
          </a:xfrm>
          <a:prstGeom prst="roundRect">
            <a:avLst>
              <a:gd name="adj" fmla="val 5096"/>
            </a:avLst>
          </a:prstGeom>
          <a:solidFill>
            <a:srgbClr val="FBFAF6"/>
          </a:solidFill>
          <a:ln w="6350">
            <a:solidFill>
              <a:srgbClr val="DAD8CF"/>
            </a:solidFill>
            <a:prstDash val="solid"/>
          </a:ln>
        </p:spPr>
      </p:sp>
      <p:sp>
        <p:nvSpPr>
          <p:cNvPr id="10" name="Text 8"/>
          <p:cNvSpPr/>
          <p:nvPr/>
        </p:nvSpPr>
        <p:spPr>
          <a:xfrm>
            <a:off x="6457950" y="2327870"/>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STUDIES WITH AT LEAST ONE HIT</a:t>
            </a:r>
            <a:endParaRPr lang="en-US" sz="1200" dirty="0"/>
          </a:p>
        </p:txBody>
      </p:sp>
      <p:sp>
        <p:nvSpPr>
          <p:cNvPr id="11" name="Text 9"/>
          <p:cNvSpPr/>
          <p:nvPr/>
        </p:nvSpPr>
        <p:spPr>
          <a:xfrm>
            <a:off x="6457950" y="2617391"/>
            <a:ext cx="4800727" cy="87883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0F2A4A"/>
                </a:solidFill>
                <a:latin typeface="Source Serif 4" pitchFamily="18" charset="0"/>
                <a:ea typeface="Source Serif 4" pitchFamily="18" charset="-122"/>
                <a:cs typeface="Source Serif 4" pitchFamily="18" charset="-120"/>
              </a:rPr>
              <a:t>63%</a:t>
            </a:r>
            <a:endParaRPr lang="en-US" sz="4800" dirty="0"/>
          </a:p>
        </p:txBody>
      </p:sp>
      <p:sp>
        <p:nvSpPr>
          <p:cNvPr id="12" name="Text 10"/>
          <p:cNvSpPr/>
          <p:nvPr/>
        </p:nvSpPr>
        <p:spPr>
          <a:xfrm>
            <a:off x="6457950" y="3547021"/>
            <a:ext cx="48007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theory: 1 − 0.95²⁰ = 64%</a:t>
            </a:r>
            <a:endParaRPr lang="en-US" sz="1400" dirty="0"/>
          </a:p>
        </p:txBody>
      </p:sp>
      <p:sp>
        <p:nvSpPr>
          <p:cNvPr id="13" name="Text 11"/>
          <p:cNvSpPr/>
          <p:nvPr/>
        </p:nvSpPr>
        <p:spPr>
          <a:xfrm>
            <a:off x="812800" y="428486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IBM Plex Sans" pitchFamily="34" charset="0"/>
                <a:ea typeface="IBM Plex Sans" pitchFamily="34" charset="-122"/>
                <a:cs typeface="IBM Plex Sans" pitchFamily="34" charset="-120"/>
              </a:rPr>
              <a:t>Analyze all your data, show all your comparisons, share the data.</a:t>
            </a:r>
            <a:endParaRPr lang="en-US" sz="1500" dirty="0"/>
          </a:p>
        </p:txBody>
      </p:sp>
      <p:sp>
        <p:nvSpPr>
          <p:cNvPr id="14" name="Text 1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2000 simulated studies · Notebook §7.3</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SIGNIFICANCE AND ITS TRAPS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Moving beyond significant or not</a:t>
            </a:r>
            <a:endParaRPr lang="en-US" sz="3000" dirty="0"/>
          </a:p>
        </p:txBody>
      </p:sp>
      <p:sp>
        <p:nvSpPr>
          <p:cNvPr id="4" name="Shape 2"/>
          <p:cNvSpPr/>
          <p:nvPr/>
        </p:nvSpPr>
        <p:spPr>
          <a:xfrm>
            <a:off x="815975" y="1575395"/>
            <a:ext cx="2482850" cy="1433810"/>
          </a:xfrm>
          <a:prstGeom prst="roundRect">
            <a:avLst>
              <a:gd name="adj" fmla="val 6865"/>
            </a:avLst>
          </a:prstGeom>
          <a:solidFill>
            <a:srgbClr val="FBFAF6"/>
          </a:solidFill>
          <a:ln w="6350">
            <a:solidFill>
              <a:srgbClr val="DAD8CF"/>
            </a:solidFill>
            <a:prstDash val="solid"/>
          </a:ln>
        </p:spPr>
      </p:sp>
      <p:sp>
        <p:nvSpPr>
          <p:cNvPr id="5" name="Text 3"/>
          <p:cNvSpPr/>
          <p:nvPr/>
        </p:nvSpPr>
        <p:spPr>
          <a:xfrm>
            <a:off x="10223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Analyse all the data</a:t>
            </a:r>
            <a:endParaRPr lang="en-US" sz="1500" dirty="0"/>
          </a:p>
        </p:txBody>
      </p:sp>
      <p:sp>
        <p:nvSpPr>
          <p:cNvPr id="6" name="Text 4"/>
          <p:cNvSpPr/>
          <p:nvPr/>
        </p:nvSpPr>
        <p:spPr>
          <a:xfrm>
            <a:off x="1022350" y="2099270"/>
            <a:ext cx="213220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Do not keep only what looks promising.</a:t>
            </a:r>
            <a:endParaRPr lang="en-US" sz="1300" dirty="0"/>
          </a:p>
        </p:txBody>
      </p:sp>
      <p:sp>
        <p:nvSpPr>
          <p:cNvPr id="7" name="Shape 5"/>
          <p:cNvSpPr/>
          <p:nvPr/>
        </p:nvSpPr>
        <p:spPr>
          <a:xfrm>
            <a:off x="3508375" y="1575395"/>
            <a:ext cx="2482850" cy="1433810"/>
          </a:xfrm>
          <a:prstGeom prst="roundRect">
            <a:avLst>
              <a:gd name="adj" fmla="val 6865"/>
            </a:avLst>
          </a:prstGeom>
          <a:solidFill>
            <a:srgbClr val="FBFAF6"/>
          </a:solidFill>
          <a:ln w="6350">
            <a:solidFill>
              <a:srgbClr val="DAD8CF"/>
            </a:solidFill>
            <a:prstDash val="solid"/>
          </a:ln>
        </p:spPr>
      </p:sp>
      <p:sp>
        <p:nvSpPr>
          <p:cNvPr id="8" name="Text 6"/>
          <p:cNvSpPr/>
          <p:nvPr/>
        </p:nvSpPr>
        <p:spPr>
          <a:xfrm>
            <a:off x="3714750" y="1756370"/>
            <a:ext cx="2132203"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Present all comparisons</a:t>
            </a:r>
            <a:endParaRPr lang="en-US" sz="1500" dirty="0"/>
          </a:p>
        </p:txBody>
      </p:sp>
      <p:sp>
        <p:nvSpPr>
          <p:cNvPr id="9" name="Text 7"/>
          <p:cNvSpPr/>
          <p:nvPr/>
        </p:nvSpPr>
        <p:spPr>
          <a:xfrm>
            <a:off x="3714750" y="2365970"/>
            <a:ext cx="213220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Show every comparison you made, not just the winners.</a:t>
            </a:r>
            <a:endParaRPr lang="en-US" sz="1300" dirty="0"/>
          </a:p>
        </p:txBody>
      </p:sp>
      <p:sp>
        <p:nvSpPr>
          <p:cNvPr id="10" name="Shape 8"/>
          <p:cNvSpPr/>
          <p:nvPr/>
        </p:nvSpPr>
        <p:spPr>
          <a:xfrm>
            <a:off x="6200775" y="1575395"/>
            <a:ext cx="2482850" cy="1433810"/>
          </a:xfrm>
          <a:prstGeom prst="roundRect">
            <a:avLst>
              <a:gd name="adj" fmla="val 6865"/>
            </a:avLst>
          </a:prstGeom>
          <a:solidFill>
            <a:srgbClr val="FBFAF6"/>
          </a:solidFill>
          <a:ln w="6350">
            <a:solidFill>
              <a:srgbClr val="DAD8CF"/>
            </a:solidFill>
            <a:prstDash val="solid"/>
          </a:ln>
        </p:spPr>
      </p:sp>
      <p:sp>
        <p:nvSpPr>
          <p:cNvPr id="11" name="Text 9"/>
          <p:cNvSpPr/>
          <p:nvPr/>
        </p:nvSpPr>
        <p:spPr>
          <a:xfrm>
            <a:off x="64071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Show the uncertainty</a:t>
            </a:r>
            <a:endParaRPr lang="en-US" sz="1500" dirty="0"/>
          </a:p>
        </p:txBody>
      </p:sp>
      <p:sp>
        <p:nvSpPr>
          <p:cNvPr id="12" name="Text 10"/>
          <p:cNvSpPr/>
          <p:nvPr/>
        </p:nvSpPr>
        <p:spPr>
          <a:xfrm>
            <a:off x="6407150" y="2099270"/>
            <a:ext cx="213220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Estimates with intervals, effect sizes against variation.</a:t>
            </a:r>
            <a:endParaRPr lang="en-US" sz="1300" dirty="0"/>
          </a:p>
        </p:txBody>
      </p:sp>
      <p:sp>
        <p:nvSpPr>
          <p:cNvPr id="13" name="Shape 11"/>
          <p:cNvSpPr/>
          <p:nvPr/>
        </p:nvSpPr>
        <p:spPr>
          <a:xfrm>
            <a:off x="8893175" y="1575395"/>
            <a:ext cx="2482850" cy="1433810"/>
          </a:xfrm>
          <a:prstGeom prst="roundRect">
            <a:avLst>
              <a:gd name="adj" fmla="val 6865"/>
            </a:avLst>
          </a:prstGeom>
          <a:solidFill>
            <a:srgbClr val="FBFAF6"/>
          </a:solidFill>
          <a:ln w="6350">
            <a:solidFill>
              <a:srgbClr val="DAD8CF"/>
            </a:solidFill>
            <a:prstDash val="solid"/>
          </a:ln>
        </p:spPr>
      </p:sp>
      <p:sp>
        <p:nvSpPr>
          <p:cNvPr id="14" name="Text 12"/>
          <p:cNvSpPr/>
          <p:nvPr/>
        </p:nvSpPr>
        <p:spPr>
          <a:xfrm>
            <a:off x="9099550" y="1756370"/>
            <a:ext cx="213220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2A4A"/>
                </a:solidFill>
                <a:latin typeface="Source Serif 4" pitchFamily="18" charset="0"/>
                <a:ea typeface="Source Serif 4" pitchFamily="18" charset="-122"/>
                <a:cs typeface="Source Serif 4" pitchFamily="18" charset="-120"/>
              </a:rPr>
              <a:t>Share data and code</a:t>
            </a:r>
            <a:endParaRPr lang="en-US" sz="1500" dirty="0"/>
          </a:p>
        </p:txBody>
      </p:sp>
      <p:sp>
        <p:nvSpPr>
          <p:cNvPr id="15" name="Text 13"/>
          <p:cNvSpPr/>
          <p:nvPr/>
        </p:nvSpPr>
        <p:spPr>
          <a:xfrm>
            <a:off x="9099550" y="2099270"/>
            <a:ext cx="2132203"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So others can check and redo the analysis.</a:t>
            </a:r>
            <a:endParaRPr lang="en-US" sz="13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BOOTSTRAP AND FAKE-DATA SIMULATION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bootstrap: reuse the data you have</a:t>
            </a:r>
            <a:endParaRPr lang="en-US" sz="3000" dirty="0"/>
          </a:p>
        </p:txBody>
      </p:sp>
      <p:sp>
        <p:nvSpPr>
          <p:cNvPr id="4" name="Text 2"/>
          <p:cNvSpPr/>
          <p:nvPr/>
        </p:nvSpPr>
        <p:spPr>
          <a:xfrm>
            <a:off x="812800" y="2551410"/>
            <a:ext cx="438213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Resample the 16 elections with replacement, refit the line, and repeat 4,000 times.</a:t>
            </a:r>
            <a:endParaRPr lang="en-US" sz="1400" dirty="0"/>
          </a:p>
        </p:txBody>
      </p:sp>
      <p:sp>
        <p:nvSpPr>
          <p:cNvPr id="5" name="Text 3"/>
          <p:cNvSpPr/>
          <p:nvPr/>
        </p:nvSpPr>
        <p:spPr>
          <a:xfrm>
            <a:off x="812800" y="3188891"/>
            <a:ext cx="43821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Slope: </a:t>
            </a:r>
            <a:r>
              <a:rPr lang="en-US" sz="1500" b="1" dirty="0">
                <a:solidFill>
                  <a:srgbClr val="1B2633"/>
                </a:solidFill>
                <a:latin typeface="IBM Plex Sans" pitchFamily="34" charset="0"/>
                <a:ea typeface="IBM Plex Sans" pitchFamily="34" charset="-122"/>
                <a:cs typeface="IBM Plex Sans" pitchFamily="34" charset="-120"/>
              </a:rPr>
              <a:t>3.06</a:t>
            </a:r>
            <a:endParaRPr lang="en-US" sz="1500" dirty="0"/>
          </a:p>
        </p:txBody>
      </p:sp>
      <p:sp>
        <p:nvSpPr>
          <p:cNvPr id="6" name="Text 4"/>
          <p:cNvSpPr/>
          <p:nvPr/>
        </p:nvSpPr>
        <p:spPr>
          <a:xfrm>
            <a:off x="812800" y="3595291"/>
            <a:ext cx="43821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Bootstrap standard error: </a:t>
            </a:r>
            <a:r>
              <a:rPr lang="en-US" sz="1500" b="1" dirty="0">
                <a:solidFill>
                  <a:srgbClr val="1B2633"/>
                </a:solidFill>
                <a:latin typeface="IBM Plex Sans" pitchFamily="34" charset="0"/>
                <a:ea typeface="IBM Plex Sans" pitchFamily="34" charset="-122"/>
                <a:cs typeface="IBM Plex Sans" pitchFamily="34" charset="-120"/>
              </a:rPr>
              <a:t>0.60</a:t>
            </a:r>
            <a:endParaRPr lang="en-US" sz="1500" dirty="0"/>
          </a:p>
        </p:txBody>
      </p:sp>
      <p:sp>
        <p:nvSpPr>
          <p:cNvPr id="7" name="Text 5"/>
          <p:cNvSpPr/>
          <p:nvPr/>
        </p:nvSpPr>
        <p:spPr>
          <a:xfrm>
            <a:off x="812800" y="4001691"/>
            <a:ext cx="43821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Least-squares standard error: </a:t>
            </a:r>
            <a:r>
              <a:rPr lang="en-US" sz="1500" b="1" dirty="0">
                <a:solidFill>
                  <a:srgbClr val="1B2633"/>
                </a:solidFill>
                <a:latin typeface="IBM Plex Sans" pitchFamily="34" charset="0"/>
                <a:ea typeface="IBM Plex Sans" pitchFamily="34" charset="-122"/>
                <a:cs typeface="IBM Plex Sans" pitchFamily="34" charset="-120"/>
              </a:rPr>
              <a:t>0.70</a:t>
            </a:r>
            <a:endParaRPr lang="en-US" sz="1500" dirty="0"/>
          </a:p>
        </p:txBody>
      </p:sp>
      <p:sp>
        <p:nvSpPr>
          <p:cNvPr id="8" name="Text 6"/>
          <p:cNvSpPr/>
          <p:nvPr/>
        </p:nvSpPr>
        <p:spPr>
          <a:xfrm>
            <a:off x="812800" y="4408091"/>
            <a:ext cx="43821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No formula needed, and a similar answer.</a:t>
            </a:r>
            <a:endParaRPr lang="en-US" sz="1400" dirty="0"/>
          </a:p>
        </p:txBody>
      </p:sp>
      <p:pic>
        <p:nvPicPr>
          <p:cNvPr id="9" name="Image 0" descr="Histogram of 4000 bootstrap estimates of the regression slope, centred near 3.06">    </p:cNvPr>
          <p:cNvPicPr>
            <a:picLocks noChangeAspect="1"/>
          </p:cNvPicPr>
          <p:nvPr/>
        </p:nvPicPr>
        <p:blipFill>
          <a:blip r:embed="rId1"/>
          <a:srcRect l="0" r="0" t="-22" b="-22"/>
          <a:stretch/>
        </p:blipFill>
        <p:spPr>
          <a:xfrm>
            <a:off x="5422900" y="1572220"/>
            <a:ext cx="5956300" cy="4064000"/>
          </a:xfrm>
          <a:prstGeom prst="rect">
            <a:avLst/>
          </a:prstGeom>
        </p:spPr>
      </p:pic>
      <p:sp>
        <p:nvSpPr>
          <p:cNvPr id="10" name="Text 7"/>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§8.1</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SIGNIFICANCE AND ITS TRAPS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Robust summaries and a bootstrap for any statistic</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1651000"/>
        </p:xfrm>
        <a:graphic>
          <a:graphicData uri="http://schemas.openxmlformats.org/drawingml/2006/table">
            <a:tbl>
              <a:tblPr/>
              <a:tblGrid>
                <a:gridCol w="4643628"/>
                <a:gridCol w="5910072"/>
              </a:tblGrid>
              <a:tr h="412750">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Case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Result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Clean data, n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sd 13.6, MAD sd 13.5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Add 3 wild values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sd 136.9, MAD sd 13.9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Ratio of medians, two skewed samples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100"/>
                        </a:lnSpc>
                        <a:buNone/>
                      </a:pPr>
                      <a:r>
                        <a:rPr lang="en-US" sz="1500" dirty="0">
                          <a:solidFill>
                            <a:srgbClr val="1B2633"/>
                          </a:solidFill>
                          <a:latin typeface="IBM Plex Sans" pitchFamily="34" charset="0"/>
                          <a:ea typeface="IBM Plex Sans" pitchFamily="34" charset="-122"/>
                          <a:cs typeface="IBM Plex Sans" pitchFamily="34" charset="-120"/>
                        </a:rPr>
                        <a:t>1.36, bootstrap se 0.16, 95% interval [1.06, 1.66]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§12.3</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BOOTSTRAP</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The bootstrap and robust scale, formally</a:t>
            </a:r>
            <a:endParaRPr lang="en-US" sz="3000" dirty="0"/>
          </a:p>
        </p:txBody>
      </p:sp>
      <p:sp>
        <p:nvSpPr>
          <p:cNvPr id="4" name="Shape 2"/>
          <p:cNvSpPr/>
          <p:nvPr/>
        </p:nvSpPr>
        <p:spPr>
          <a:xfrm>
            <a:off x="815975" y="1575395"/>
            <a:ext cx="10560050" cy="773410"/>
          </a:xfrm>
          <a:prstGeom prst="roundRect">
            <a:avLst>
              <a:gd name="adj" fmla="val 12726"/>
            </a:avLst>
          </a:prstGeom>
          <a:solidFill>
            <a:srgbClr val="FBFAF6"/>
          </a:solidFill>
          <a:ln w="6350">
            <a:solidFill>
              <a:srgbClr val="DAD8CF"/>
            </a:solidFill>
            <a:prstDash val="solid"/>
          </a:ln>
        </p:spPr>
      </p:sp>
      <p:pic>
        <p:nvPicPr>
          <p:cNvPr id="5" name="Image 0" descr="y star 1 to y star n drawn with replacement from y 1 to y n">    </p:cNvPr>
          <p:cNvPicPr>
            <a:picLocks noChangeAspect="1"/>
          </p:cNvPicPr>
          <p:nvPr/>
        </p:nvPicPr>
        <p:blipFill>
          <a:blip r:embed="rId1"/>
          <a:srcRect l="-56" r="-56" t="0" b="0"/>
          <a:stretch/>
        </p:blipFill>
        <p:spPr>
          <a:xfrm>
            <a:off x="1047750" y="1790650"/>
            <a:ext cx="5080000" cy="342900"/>
          </a:xfrm>
          <a:prstGeom prst="rect">
            <a:avLst/>
          </a:prstGeom>
        </p:spPr>
      </p:pic>
      <p:sp>
        <p:nvSpPr>
          <p:cNvPr id="6" name="Text 3"/>
          <p:cNvSpPr/>
          <p:nvPr/>
        </p:nvSpPr>
        <p:spPr>
          <a:xfrm>
            <a:off x="6381750" y="17309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Bootstrap sample.</a:t>
            </a:r>
            <a:r>
              <a:rPr lang="en-US" sz="1300" dirty="0">
                <a:solidFill>
                  <a:srgbClr val="4A5568"/>
                </a:solidFill>
                <a:latin typeface="IBM Plex Sans" pitchFamily="34" charset="0"/>
                <a:ea typeface="IBM Plex Sans" pitchFamily="34" charset="-122"/>
                <a:cs typeface="IBM Plex Sans" pitchFamily="34" charset="-120"/>
              </a:rPr>
              <a:t> Same size as the data, drawn with replacement. Repeat for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 1, …,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(here </a:t>
            </a:r>
            <a:r>
              <a:rPr lang="en-US" sz="1300" i="1" dirty="0">
                <a:solidFill>
                  <a:srgbClr val="4A5568"/>
                </a:solidFill>
                <a:latin typeface="IBM Plex Sans" pitchFamily="34" charset="0"/>
                <a:ea typeface="IBM Plex Sans" pitchFamily="34" charset="-122"/>
                <a:cs typeface="IBM Plex Sans" pitchFamily="34" charset="-120"/>
              </a:rPr>
              <a:t>B</a:t>
            </a:r>
            <a:r>
              <a:rPr lang="en-US" sz="1300" dirty="0">
                <a:solidFill>
                  <a:srgbClr val="4A5568"/>
                </a:solidFill>
                <a:latin typeface="IBM Plex Sans" pitchFamily="34" charset="0"/>
                <a:ea typeface="IBM Plex Sans" pitchFamily="34" charset="-122"/>
                <a:cs typeface="IBM Plex Sans" pitchFamily="34" charset="-120"/>
              </a:rPr>
              <a:t> = 4000).</a:t>
            </a:r>
            <a:endParaRPr lang="en-US" sz="1300" dirty="0"/>
          </a:p>
        </p:txBody>
      </p:sp>
      <p:sp>
        <p:nvSpPr>
          <p:cNvPr id="7" name="Shape 4"/>
          <p:cNvSpPr/>
          <p:nvPr/>
        </p:nvSpPr>
        <p:spPr>
          <a:xfrm>
            <a:off x="815975" y="2482155"/>
            <a:ext cx="10560050" cy="1004540"/>
          </a:xfrm>
          <a:prstGeom prst="roundRect">
            <a:avLst>
              <a:gd name="adj" fmla="val 9798"/>
            </a:avLst>
          </a:prstGeom>
          <a:solidFill>
            <a:srgbClr val="FBFAF6"/>
          </a:solidFill>
          <a:ln w="6350">
            <a:solidFill>
              <a:srgbClr val="DAD8CF"/>
            </a:solidFill>
            <a:prstDash val="solid"/>
          </a:ln>
        </p:spPr>
      </p:sp>
      <p:pic>
        <p:nvPicPr>
          <p:cNvPr id="8" name="Image 1" descr="se boot equals the sd of theta hat star 1 to theta hat star B">    </p:cNvPr>
          <p:cNvPicPr>
            <a:picLocks noChangeAspect="1"/>
          </p:cNvPicPr>
          <p:nvPr/>
        </p:nvPicPr>
        <p:blipFill>
          <a:blip r:embed="rId2"/>
          <a:srcRect l="0" r="0" t="-54" b="-54"/>
          <a:stretch/>
        </p:blipFill>
        <p:spPr>
          <a:xfrm>
            <a:off x="1047750" y="2768501"/>
            <a:ext cx="2921000" cy="431800"/>
          </a:xfrm>
          <a:prstGeom prst="rect">
            <a:avLst/>
          </a:prstGeom>
        </p:spPr>
      </p:pic>
      <p:sp>
        <p:nvSpPr>
          <p:cNvPr id="9" name="Text 5"/>
          <p:cNvSpPr/>
          <p:nvPr/>
        </p:nvSpPr>
        <p:spPr>
          <a:xfrm>
            <a:off x="6381750" y="2637730"/>
            <a:ext cx="4905375"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Bootstrap se.</a:t>
            </a:r>
            <a:r>
              <a:rPr lang="en-US" sz="1300" dirty="0">
                <a:solidFill>
                  <a:srgbClr val="4A5568"/>
                </a:solidFill>
                <a:latin typeface="IBM Plex Sans" pitchFamily="34" charset="0"/>
                <a:ea typeface="IBM Plex Sans" pitchFamily="34" charset="-122"/>
                <a:cs typeface="IBM Plex Sans" pitchFamily="34" charset="-120"/>
              </a:rPr>
              <a:t> Recompute the estimate on each sample. Its sd is the standard error; its 2.5% and 97.5% quantiles give a 95% interval.</a:t>
            </a:r>
            <a:endParaRPr lang="en-US" sz="1300" dirty="0"/>
          </a:p>
        </p:txBody>
      </p:sp>
      <p:sp>
        <p:nvSpPr>
          <p:cNvPr id="10" name="Shape 6"/>
          <p:cNvSpPr/>
          <p:nvPr/>
        </p:nvSpPr>
        <p:spPr>
          <a:xfrm>
            <a:off x="815975" y="3620046"/>
            <a:ext cx="10560050" cy="773410"/>
          </a:xfrm>
          <a:prstGeom prst="roundRect">
            <a:avLst>
              <a:gd name="adj" fmla="val 12726"/>
            </a:avLst>
          </a:prstGeom>
          <a:solidFill>
            <a:srgbClr val="FBFAF6"/>
          </a:solidFill>
          <a:ln w="6350">
            <a:solidFill>
              <a:srgbClr val="DAD8CF"/>
            </a:solidFill>
            <a:prstDash val="solid"/>
          </a:ln>
        </p:spPr>
      </p:sp>
      <p:pic>
        <p:nvPicPr>
          <p:cNvPr id="11" name="Image 2" descr="MAD sd equals 1.4826 times the median of absolute deviations from the median">    </p:cNvPr>
          <p:cNvPicPr>
            <a:picLocks noChangeAspect="1"/>
          </p:cNvPicPr>
          <p:nvPr/>
        </p:nvPicPr>
        <p:blipFill>
          <a:blip r:embed="rId3"/>
          <a:srcRect l="-464" r="-464" t="0" b="0"/>
          <a:stretch/>
        </p:blipFill>
        <p:spPr>
          <a:xfrm>
            <a:off x="1047750" y="3825776"/>
            <a:ext cx="5080000" cy="361950"/>
          </a:xfrm>
          <a:prstGeom prst="rect">
            <a:avLst/>
          </a:prstGeom>
        </p:spPr>
      </p:pic>
      <p:sp>
        <p:nvSpPr>
          <p:cNvPr id="12" name="Text 7"/>
          <p:cNvSpPr/>
          <p:nvPr/>
        </p:nvSpPr>
        <p:spPr>
          <a:xfrm>
            <a:off x="6381750" y="3775621"/>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Robust sd.</a:t>
            </a:r>
            <a:r>
              <a:rPr lang="en-US" sz="1300" dirty="0">
                <a:solidFill>
                  <a:srgbClr val="4A5568"/>
                </a:solidFill>
                <a:latin typeface="IBM Plex Sans" pitchFamily="34" charset="0"/>
                <a:ea typeface="IBM Plex Sans" pitchFamily="34" charset="-122"/>
                <a:cs typeface="IBM Plex Sans" pitchFamily="34" charset="-120"/>
              </a:rPr>
              <a:t> Barely moved by a few wild values. The factor 1.4826 makes it equal σ for normal data.</a:t>
            </a:r>
            <a:endParaRPr lang="en-US" sz="13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§8 and §12.3</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BOOTSTRAP AND FAKE-DATA SIMULATION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Fake-data simulation: simulate, fit, compare</a:t>
            </a:r>
            <a:endParaRPr lang="en-US" sz="3000" dirty="0"/>
          </a:p>
        </p:txBody>
      </p:sp>
      <p:sp>
        <p:nvSpPr>
          <p:cNvPr id="4" name="Text 2"/>
          <p:cNvSpPr/>
          <p:nvPr/>
        </p:nvSpPr>
        <p:spPr>
          <a:xfrm>
            <a:off x="869752" y="2794050"/>
            <a:ext cx="4343725" cy="1020961"/>
          </a:xfrm>
          <a:prstGeom prst="rect">
            <a:avLst/>
          </a:prstGeom>
          <a:noFill/>
          <a:ln/>
        </p:spPr>
        <p:txBody>
          <a:bodyPr wrap="square" lIns="0" tIns="0" rIns="0" bIns="0" rtlCol="0" anchor="t">
            <a:normAutofit/>
          </a:bodyPr>
          <a:lstStyle/>
          <a:p>
            <a:pPr algn="l" marL="197048" indent="-197048">
              <a:lnSpc>
                <a:spcPts val="1960"/>
              </a:lnSpc>
              <a:buSzPct val="100000"/>
              <a:buFontTx/>
              <a:buAutoNum type="arabicPeriod" startAt="1"/>
            </a:pPr>
            <a:r>
              <a:rPr lang="en-US" sz="1400" dirty="0">
                <a:solidFill>
                  <a:srgbClr val="1B2633"/>
                </a:solidFill>
                <a:latin typeface="IBM Plex Sans" pitchFamily="34" charset="0"/>
                <a:ea typeface="IBM Plex Sans" pitchFamily="34" charset="-122"/>
                <a:cs typeface="IBM Plex Sans" pitchFamily="34" charset="-120"/>
              </a:rPr>
              <a:t>Choose the truth: a = 46.3, b = 3.0, σ = 3.9.</a:t>
            </a:r>
            <a:endParaRPr lang="en-US" sz="1400" dirty="0"/>
          </a:p>
          <a:p>
            <a:pPr algn="l" marL="197048" indent="-197048">
              <a:lnSpc>
                <a:spcPts val="1960"/>
              </a:lnSpc>
              <a:buSzPct val="100000"/>
              <a:buFontTx/>
              <a:buAutoNum type="arabicPeriod" startAt="1"/>
            </a:pPr>
            <a:r>
              <a:rPr lang="en-US" sz="1400" dirty="0">
                <a:solidFill>
                  <a:srgbClr val="1B2633"/>
                </a:solidFill>
                <a:latin typeface="IBM Plex Sans" pitchFamily="34" charset="0"/>
                <a:ea typeface="IBM Plex Sans" pitchFamily="34" charset="-122"/>
                <a:cs typeface="IBM Plex Sans" pitchFamily="34" charset="-120"/>
              </a:rPr>
              <a:t>Simulate data from the model.</a:t>
            </a:r>
            <a:endParaRPr lang="en-US" sz="1400" dirty="0"/>
          </a:p>
          <a:p>
            <a:pPr algn="l" marL="197048" indent="-197048">
              <a:lnSpc>
                <a:spcPts val="1960"/>
              </a:lnSpc>
              <a:buSzPct val="100000"/>
              <a:buFontTx/>
              <a:buAutoNum type="arabicPeriod" startAt="1"/>
            </a:pPr>
            <a:r>
              <a:rPr lang="en-US" sz="1400" dirty="0">
                <a:solidFill>
                  <a:srgbClr val="1B2633"/>
                </a:solidFill>
                <a:latin typeface="IBM Plex Sans" pitchFamily="34" charset="0"/>
                <a:ea typeface="IBM Plex Sans" pitchFamily="34" charset="-122"/>
                <a:cs typeface="IBM Plex Sans" pitchFamily="34" charset="-120"/>
              </a:rPr>
              <a:t>Fit the model to the fake data.</a:t>
            </a:r>
            <a:endParaRPr lang="en-US" sz="1400" dirty="0"/>
          </a:p>
          <a:p>
            <a:pPr algn="l" marL="197048" indent="-197048">
              <a:lnSpc>
                <a:spcPts val="1960"/>
              </a:lnSpc>
              <a:buSzPct val="100000"/>
              <a:buFontTx/>
              <a:buAutoNum type="arabicPeriod" startAt="1"/>
            </a:pPr>
            <a:r>
              <a:rPr lang="en-US" sz="1400" dirty="0">
                <a:solidFill>
                  <a:srgbClr val="1B2633"/>
                </a:solidFill>
                <a:latin typeface="IBM Plex Sans" pitchFamily="34" charset="0"/>
                <a:ea typeface="IBM Plex Sans" pitchFamily="34" charset="-122"/>
                <a:cs typeface="IBM Plex Sans" pitchFamily="34" charset="-120"/>
              </a:rPr>
              <a:t>Compare with the truth. Repeat 5,000 times.</a:t>
            </a:r>
            <a:endParaRPr lang="en-US" sz="1400" dirty="0"/>
          </a:p>
        </p:txBody>
      </p:sp>
      <p:sp>
        <p:nvSpPr>
          <p:cNvPr id="5" name="Text 3"/>
          <p:cNvSpPr/>
          <p:nvPr/>
        </p:nvSpPr>
        <p:spPr>
          <a:xfrm>
            <a:off x="812800" y="3916611"/>
            <a:ext cx="440829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Average slope: </a:t>
            </a:r>
            <a:r>
              <a:rPr lang="en-US" sz="1400" b="1" dirty="0">
                <a:solidFill>
                  <a:srgbClr val="4A5568"/>
                </a:solidFill>
                <a:latin typeface="IBM Plex Sans" pitchFamily="34" charset="0"/>
                <a:ea typeface="IBM Plex Sans" pitchFamily="34" charset="-122"/>
                <a:cs typeface="IBM Plex Sans" pitchFamily="34" charset="-120"/>
              </a:rPr>
              <a:t>2.99</a:t>
            </a:r>
            <a:r>
              <a:rPr lang="en-US" sz="1400" dirty="0">
                <a:solidFill>
                  <a:srgbClr val="4A5568"/>
                </a:solidFill>
                <a:latin typeface="IBM Plex Sans" pitchFamily="34" charset="0"/>
                <a:ea typeface="IBM Plex Sans" pitchFamily="34" charset="-122"/>
                <a:cs typeface="IBM Plex Sans" pitchFamily="34" charset="-120"/>
              </a:rPr>
              <a:t> (truth 3.0). Spread: </a:t>
            </a:r>
            <a:r>
              <a:rPr lang="en-US" sz="1400" b="1" dirty="0">
                <a:solidFill>
                  <a:srgbClr val="4A5568"/>
                </a:solidFill>
                <a:latin typeface="IBM Plex Sans" pitchFamily="34" charset="0"/>
                <a:ea typeface="IBM Plex Sans" pitchFamily="34" charset="-122"/>
                <a:cs typeface="IBM Plex Sans" pitchFamily="34" charset="-120"/>
              </a:rPr>
              <a:t>0.71</a:t>
            </a:r>
            <a:r>
              <a:rPr lang="en-US" sz="1400" dirty="0">
                <a:solidFill>
                  <a:srgbClr val="4A5568"/>
                </a:solidFill>
                <a:latin typeface="IBM Plex Sans" pitchFamily="34" charset="0"/>
                <a:ea typeface="IBM Plex Sans" pitchFamily="34" charset="-122"/>
                <a:cs typeface="IBM Plex Sans" pitchFamily="34" charset="-120"/>
              </a:rPr>
              <a:t>. Coverage of the 95% interval: </a:t>
            </a:r>
            <a:r>
              <a:rPr lang="en-US" sz="1400" b="1" dirty="0">
                <a:solidFill>
                  <a:srgbClr val="4A5568"/>
                </a:solidFill>
                <a:latin typeface="IBM Plex Sans" pitchFamily="34" charset="0"/>
                <a:ea typeface="IBM Plex Sans" pitchFamily="34" charset="-122"/>
                <a:cs typeface="IBM Plex Sans" pitchFamily="34" charset="-120"/>
              </a:rPr>
              <a:t>94.9%</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pic>
        <p:nvPicPr>
          <p:cNvPr id="6" name="Image 0" descr="Histogram of 5000 estimated slopes from fake data, centred on the true slope of 3.0">    </p:cNvPr>
          <p:cNvPicPr>
            <a:picLocks noChangeAspect="1"/>
          </p:cNvPicPr>
          <p:nvPr/>
        </p:nvPicPr>
        <p:blipFill>
          <a:blip r:embed="rId1"/>
          <a:srcRect l="0" r="0" t="-30" b="-30"/>
          <a:stretch/>
        </p:blipFill>
        <p:spPr>
          <a:xfrm>
            <a:off x="5448300" y="1572220"/>
            <a:ext cx="5930900" cy="4064000"/>
          </a:xfrm>
          <a:prstGeom prst="rect">
            <a:avLst/>
          </a:prstGeom>
        </p:spPr>
      </p:pic>
      <p:sp>
        <p:nvSpPr>
          <p:cNvPr id="7"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§8.2</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ESTIMATES, STANDARD ERRORS, INTERVALS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Classical and Bayesian inference, side by side</a:t>
            </a:r>
            <a:endParaRPr lang="en-US" sz="3000" dirty="0"/>
          </a:p>
        </p:txBody>
      </p:sp>
      <p:pic>
        <p:nvPicPr>
          <p:cNvPr id="4" name="Image 0" descr="Densities of data-alone estimate, prior and posterior for a multiplicative effect on earnings">    </p:cNvPr>
          <p:cNvPicPr>
            <a:picLocks noChangeAspect="1"/>
          </p:cNvPicPr>
          <p:nvPr/>
        </p:nvPicPr>
        <p:blipFill>
          <a:blip r:embed="rId1"/>
          <a:srcRect l="-37" r="-37" t="0" b="0"/>
          <a:stretch/>
        </p:blipFill>
        <p:spPr>
          <a:xfrm>
            <a:off x="812800" y="1572220"/>
            <a:ext cx="5080000" cy="3879850"/>
          </a:xfrm>
          <a:prstGeom prst="rect">
            <a:avLst/>
          </a:prstGeom>
        </p:spPr>
      </p:pic>
      <p:sp>
        <p:nvSpPr>
          <p:cNvPr id="5" name="Text 2"/>
          <p:cNvSpPr/>
          <p:nvPr/>
        </p:nvSpPr>
        <p:spPr>
          <a:xfrm>
            <a:off x="6096000" y="2625775"/>
            <a:ext cx="544169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A trial on 127 children reports earnings up by a factor 1.42, interval [1.02, 1.98].</a:t>
            </a:r>
            <a:endParaRPr lang="en-US" sz="1400" dirty="0"/>
          </a:p>
        </p:txBody>
      </p:sp>
      <p:sp>
        <p:nvSpPr>
          <p:cNvPr id="6" name="Text 3"/>
          <p:cNvSpPr/>
          <p:nvPr/>
        </p:nvSpPr>
        <p:spPr>
          <a:xfrm>
            <a:off x="6096000" y="3263255"/>
            <a:ext cx="544169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Prior knowledge: effects are typically within 10%. Combined: factor 1.10, interval [0.92, 1.30].</a:t>
            </a:r>
            <a:endParaRPr lang="en-US" sz="1400" dirty="0"/>
          </a:p>
        </p:txBody>
      </p:sp>
      <p:sp>
        <p:nvSpPr>
          <p:cNvPr id="7" name="Text 4"/>
          <p:cNvSpPr/>
          <p:nvPr/>
        </p:nvSpPr>
        <p:spPr>
          <a:xfrm>
            <a:off x="6096000" y="3900736"/>
            <a:ext cx="544169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461A"/>
                </a:solidFill>
                <a:latin typeface="IBM Plex Sans" pitchFamily="34" charset="0"/>
                <a:ea typeface="IBM Plex Sans" pitchFamily="34" charset="-122"/>
                <a:cs typeface="IBM Plex Sans" pitchFamily="34" charset="-120"/>
              </a:rPr>
              <a:t>Strength: more reasonable predictions. Cost: an extra assumption to defend.</a:t>
            </a:r>
            <a:endParaRPr lang="en-US" sz="1400" dirty="0"/>
          </a:p>
        </p:txBody>
      </p:sp>
      <p:sp>
        <p:nvSpPr>
          <p:cNvPr id="8" name="Text 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§13</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DEFINITIONS · CLASSICAL AND BAYESIAN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Bayes' rule, and the normal case</a:t>
            </a:r>
            <a:endParaRPr lang="en-US" sz="3000" dirty="0"/>
          </a:p>
        </p:txBody>
      </p:sp>
      <p:sp>
        <p:nvSpPr>
          <p:cNvPr id="4" name="Shape 2"/>
          <p:cNvSpPr/>
          <p:nvPr/>
        </p:nvSpPr>
        <p:spPr>
          <a:xfrm>
            <a:off x="815975" y="1575395"/>
            <a:ext cx="10560050" cy="773410"/>
          </a:xfrm>
          <a:prstGeom prst="roundRect">
            <a:avLst>
              <a:gd name="adj" fmla="val 12726"/>
            </a:avLst>
          </a:prstGeom>
          <a:solidFill>
            <a:srgbClr val="FBFAF6"/>
          </a:solidFill>
          <a:ln w="6350">
            <a:solidFill>
              <a:srgbClr val="DAD8CF"/>
            </a:solidFill>
            <a:prstDash val="solid"/>
          </a:ln>
        </p:spPr>
      </p:sp>
      <p:pic>
        <p:nvPicPr>
          <p:cNvPr id="5" name="Image 0" descr="p of theta given y is proportional to p of y given theta times p of theta">    </p:cNvPr>
          <p:cNvPicPr>
            <a:picLocks noChangeAspect="1"/>
          </p:cNvPicPr>
          <p:nvPr/>
        </p:nvPicPr>
        <p:blipFill>
          <a:blip r:embed="rId1"/>
          <a:srcRect l="-369" r="-369" t="0" b="0"/>
          <a:stretch/>
        </p:blipFill>
        <p:spPr>
          <a:xfrm>
            <a:off x="1047750" y="1777950"/>
            <a:ext cx="2571750" cy="368300"/>
          </a:xfrm>
          <a:prstGeom prst="rect">
            <a:avLst/>
          </a:prstGeom>
        </p:spPr>
      </p:pic>
      <p:sp>
        <p:nvSpPr>
          <p:cNvPr id="6" name="Text 3"/>
          <p:cNvSpPr/>
          <p:nvPr/>
        </p:nvSpPr>
        <p:spPr>
          <a:xfrm>
            <a:off x="6381750" y="1730970"/>
            <a:ext cx="4905375"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Bayes' rule.</a:t>
            </a:r>
            <a:r>
              <a:rPr lang="en-US" sz="1300" dirty="0">
                <a:solidFill>
                  <a:srgbClr val="4A5568"/>
                </a:solidFill>
                <a:latin typeface="IBM Plex Sans" pitchFamily="34" charset="0"/>
                <a:ea typeface="IBM Plex Sans" pitchFamily="34" charset="-122"/>
                <a:cs typeface="IBM Plex Sans" pitchFamily="34" charset="-120"/>
              </a:rPr>
              <a:t> Posterior &amp;prop; likelihood × prior. The data update what we believed before seeing them.</a:t>
            </a:r>
            <a:endParaRPr lang="en-US" sz="1300" dirty="0"/>
          </a:p>
        </p:txBody>
      </p:sp>
      <p:sp>
        <p:nvSpPr>
          <p:cNvPr id="7" name="Shape 4"/>
          <p:cNvSpPr/>
          <p:nvPr/>
        </p:nvSpPr>
        <p:spPr>
          <a:xfrm>
            <a:off x="815975" y="2482155"/>
            <a:ext cx="10560050" cy="1235670"/>
          </a:xfrm>
          <a:prstGeom prst="roundRect">
            <a:avLst>
              <a:gd name="adj" fmla="val 7965"/>
            </a:avLst>
          </a:prstGeom>
          <a:solidFill>
            <a:srgbClr val="FBFAF6"/>
          </a:solidFill>
          <a:ln w="6350">
            <a:solidFill>
              <a:srgbClr val="DAD8CF"/>
            </a:solidFill>
            <a:prstDash val="solid"/>
          </a:ln>
        </p:spPr>
      </p:sp>
      <p:pic>
        <p:nvPicPr>
          <p:cNvPr id="8" name="Image 1" descr="posterior mean equals theta hat over se squared plus mu 0 over tau squared, divided by 1 over se squared plus 1 over tau squared; posterior sd equals the inverse square root of 1 over se squared plus 1 over tau squared">    </p:cNvPr>
          <p:cNvPicPr>
            <a:picLocks noChangeAspect="1"/>
          </p:cNvPicPr>
          <p:nvPr/>
        </p:nvPicPr>
        <p:blipFill>
          <a:blip r:embed="rId2"/>
          <a:srcRect l="-145" r="-145" t="0" b="0"/>
          <a:stretch/>
        </p:blipFill>
        <p:spPr>
          <a:xfrm>
            <a:off x="1047750" y="2753916"/>
            <a:ext cx="5080000" cy="692150"/>
          </a:xfrm>
          <a:prstGeom prst="rect">
            <a:avLst/>
          </a:prstGeom>
        </p:spPr>
      </p:pic>
      <p:sp>
        <p:nvSpPr>
          <p:cNvPr id="9" name="Text 5"/>
          <p:cNvSpPr/>
          <p:nvPr/>
        </p:nvSpPr>
        <p:spPr>
          <a:xfrm>
            <a:off x="6381750" y="2637730"/>
            <a:ext cx="4905375"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A4A"/>
                </a:solidFill>
                <a:latin typeface="IBM Plex Sans" pitchFamily="34" charset="0"/>
                <a:ea typeface="IBM Plex Sans" pitchFamily="34" charset="-122"/>
                <a:cs typeface="IBM Plex Sans" pitchFamily="34" charset="-120"/>
              </a:rPr>
              <a:t>Normal estimate and prior.</a:t>
            </a:r>
            <a:r>
              <a:rPr lang="en-US" sz="1300" dirty="0">
                <a:solidFill>
                  <a:srgbClr val="4A5568"/>
                </a:solidFill>
                <a:latin typeface="IBM Plex Sans" pitchFamily="34" charset="0"/>
                <a:ea typeface="IBM Plex Sans" pitchFamily="34" charset="-122"/>
                <a:cs typeface="IBM Plex Sans" pitchFamily="34" charset="-120"/>
              </a:rPr>
              <a:t> Estimate θ̂ ± se, prior N(μ0, &amp;tau;²): a precision-weighted average. Earnings (log scale): 0.35 ± 0.17 with prior N(0, 0.10²) gives 0.09 ± 0.09, a factor 1.10 [0.92, 1.30].</a:t>
            </a:r>
            <a:endParaRPr lang="en-US" sz="1300" dirty="0"/>
          </a:p>
        </p:txBody>
      </p:sp>
      <p:sp>
        <p:nvSpPr>
          <p:cNvPr id="10" name="Text 6"/>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§13</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F2A4A"/>
        </a:solidFill>
      </p:bgPr>
    </p:bg>
    <p:spTree>
      <p:nvGrpSpPr>
        <p:cNvPr id="1" name=""/>
        <p:cNvGrpSpPr/>
        <p:nvPr/>
      </p:nvGrpSpPr>
      <p:grpSpPr>
        <a:xfrm>
          <a:off x="0" y="0"/>
          <a:ext cx="0" cy="0"/>
          <a:chOff x="0" y="0"/>
          <a:chExt cx="0" cy="0"/>
        </a:xfrm>
      </p:grpSpPr>
      <p:sp>
        <p:nvSpPr>
          <p:cNvPr id="2" name="Text 0"/>
          <p:cNvSpPr/>
          <p:nvPr/>
        </p:nvSpPr>
        <p:spPr>
          <a:xfrm>
            <a:off x="812800" y="15341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A6B"/>
                </a:solidFill>
                <a:latin typeface="IBM Plex Sans" pitchFamily="34" charset="0"/>
                <a:ea typeface="IBM Plex Sans" pitchFamily="34" charset="-122"/>
                <a:cs typeface="IBM Plex Sans" pitchFamily="34" charset="-120"/>
              </a:rPr>
              <a:t>TAKE-AWAYS</a:t>
            </a:r>
            <a:endParaRPr lang="en-US" sz="1200" dirty="0"/>
          </a:p>
        </p:txBody>
      </p:sp>
      <p:sp>
        <p:nvSpPr>
          <p:cNvPr id="3" name="Text 1"/>
          <p:cNvSpPr/>
          <p:nvPr>
            <p:ph type="title"/>
          </p:nvPr>
        </p:nvSpPr>
        <p:spPr>
          <a:xfrm>
            <a:off x="812800" y="1823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8"/>
                </a:solidFill>
                <a:latin typeface="Source Serif 4" pitchFamily="18" charset="0"/>
                <a:ea typeface="Source Serif 4" pitchFamily="18" charset="-122"/>
                <a:cs typeface="Source Serif 4" pitchFamily="18" charset="-120"/>
              </a:rPr>
              <a:t>Five things to remember</a:t>
            </a:r>
            <a:endParaRPr lang="en-US" sz="3600" dirty="0"/>
          </a:p>
        </p:txBody>
      </p:sp>
      <p:sp>
        <p:nvSpPr>
          <p:cNvPr id="4" name="Text 2"/>
          <p:cNvSpPr/>
          <p:nvPr/>
        </p:nvSpPr>
        <p:spPr>
          <a:xfrm>
            <a:off x="813495" y="2631380"/>
            <a:ext cx="10875077" cy="1739900"/>
          </a:xfrm>
          <a:prstGeom prst="rect">
            <a:avLst/>
          </a:prstGeom>
          <a:noFill/>
          <a:ln/>
        </p:spPr>
        <p:txBody>
          <a:bodyPr wrap="square" lIns="0" tIns="0" rIns="0" bIns="0" rtlCol="0" anchor="t">
            <a:normAutofit/>
          </a:bodyPr>
          <a:lstStyle/>
          <a:p>
            <a:pPr algn="l" marL="253305" indent="-253305">
              <a:lnSpc>
                <a:spcPts val="2700"/>
              </a:lnSpc>
              <a:buSzPct val="100000"/>
              <a:buFontTx/>
              <a:buAutoNum type="arabicPeriod" startAt="1"/>
            </a:pPr>
            <a:r>
              <a:rPr lang="en-US" sz="1800" dirty="0">
                <a:solidFill>
                  <a:srgbClr val="F4F1E8"/>
                </a:solidFill>
                <a:latin typeface="IBM Plex Sans" pitchFamily="34" charset="0"/>
                <a:ea typeface="IBM Plex Sans" pitchFamily="34" charset="-122"/>
                <a:cs typeface="IBM Plex Sans" pitchFamily="34" charset="-120"/>
              </a:rPr>
              <a:t>A model is a recipe for generating data. If you can code it, you can simulate it.</a:t>
            </a:r>
            <a:endParaRPr lang="en-US" sz="1800" dirty="0"/>
          </a:p>
          <a:p>
            <a:pPr algn="l" marL="253305" indent="-253305">
              <a:lnSpc>
                <a:spcPts val="2700"/>
              </a:lnSpc>
              <a:buSzPct val="100000"/>
              <a:buFontTx/>
              <a:buAutoNum type="arabicPeriod" startAt="1"/>
            </a:pPr>
            <a:r>
              <a:rPr lang="en-US" sz="1800" dirty="0">
                <a:solidFill>
                  <a:srgbClr val="F4F1E8"/>
                </a:solidFill>
                <a:latin typeface="IBM Plex Sans" pitchFamily="34" charset="0"/>
                <a:ea typeface="IBM Plex Sans" pitchFamily="34" charset="-122"/>
                <a:cs typeface="IBM Plex Sans" pitchFamily="34" charset="-120"/>
              </a:rPr>
              <a:t>A standard error is the spread of an estimate over repeated studies.</a:t>
            </a:r>
            <a:endParaRPr lang="en-US" sz="1800" dirty="0"/>
          </a:p>
          <a:p>
            <a:pPr algn="l" marL="253305" indent="-253305">
              <a:lnSpc>
                <a:spcPts val="2700"/>
              </a:lnSpc>
              <a:buSzPct val="100000"/>
              <a:buFontTx/>
              <a:buAutoNum type="arabicPeriod" startAt="1"/>
            </a:pPr>
            <a:r>
              <a:rPr lang="en-US" sz="1800" dirty="0">
                <a:solidFill>
                  <a:srgbClr val="F4F1E8"/>
                </a:solidFill>
                <a:latin typeface="IBM Plex Sans" pitchFamily="34" charset="0"/>
                <a:ea typeface="IBM Plex Sans" pitchFamily="34" charset="-122"/>
                <a:cs typeface="IBM Plex Sans" pitchFamily="34" charset="-120"/>
              </a:rPr>
              <a:t>"95%" describes a procedure, and only for sampling error.</a:t>
            </a:r>
            <a:endParaRPr lang="en-US" sz="1800" dirty="0"/>
          </a:p>
          <a:p>
            <a:pPr algn="l" marL="253305" indent="-253305">
              <a:lnSpc>
                <a:spcPts val="2700"/>
              </a:lnSpc>
              <a:buSzPct val="100000"/>
              <a:buFontTx/>
              <a:buAutoNum type="arabicPeriod" startAt="1"/>
            </a:pPr>
            <a:r>
              <a:rPr lang="en-US" sz="1800" dirty="0">
                <a:solidFill>
                  <a:srgbClr val="F4F1E8"/>
                </a:solidFill>
                <a:latin typeface="IBM Plex Sans" pitchFamily="34" charset="0"/>
                <a:ea typeface="IBM Plex Sans" pitchFamily="34" charset="-122"/>
                <a:cs typeface="IBM Plex Sans" pitchFamily="34" charset="-120"/>
              </a:rPr>
              <a:t>Significant results from noisy studies are exaggerated.</a:t>
            </a:r>
            <a:endParaRPr lang="en-US" sz="1800" dirty="0"/>
          </a:p>
          <a:p>
            <a:pPr algn="l" marL="253305" indent="-253305">
              <a:lnSpc>
                <a:spcPts val="2700"/>
              </a:lnSpc>
              <a:buSzPct val="100000"/>
              <a:buFontTx/>
              <a:buAutoNum type="arabicPeriod" startAt="1"/>
            </a:pPr>
            <a:r>
              <a:rPr lang="en-US" sz="1800" dirty="0">
                <a:solidFill>
                  <a:srgbClr val="F4F1E8"/>
                </a:solidFill>
                <a:latin typeface="IBM Plex Sans" pitchFamily="34" charset="0"/>
                <a:ea typeface="IBM Plex Sans" pitchFamily="34" charset="-122"/>
                <a:cs typeface="IBM Plex Sans" pitchFamily="34" charset="-120"/>
              </a:rPr>
              <a:t>Check any method on fake data where you know the truth.</a:t>
            </a:r>
            <a:endParaRPr lang="en-US" sz="1800" dirty="0"/>
          </a:p>
        </p:txBody>
      </p:sp>
      <p:sp>
        <p:nvSpPr>
          <p:cNvPr id="5" name="Text 3"/>
          <p:cNvSpPr/>
          <p:nvPr/>
        </p:nvSpPr>
        <p:spPr>
          <a:xfrm>
            <a:off x="812800" y="46506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E2"/>
                </a:solidFill>
                <a:latin typeface="IBM Plex Sans" pitchFamily="34" charset="0"/>
                <a:ea typeface="IBM Plex Sans" pitchFamily="34" charset="-122"/>
                <a:cs typeface="IBM Plex Sans" pitchFamily="34" charset="-120"/>
              </a:rPr>
              <a:t>Next: linear regression, with the same habit of simulate, fit, compare.</a:t>
            </a:r>
            <a:endParaRPr lang="en-US" sz="15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IBM Plex Sans" pitchFamily="34" charset="0"/>
                <a:ea typeface="IBM Plex Sans" pitchFamily="34" charset="-122"/>
                <a:cs typeface="IBM Plex Sans" pitchFamily="34" charset="-120"/>
              </a:rPr>
              <a:t>Statistics · Lesson 1 · Take-aways</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EXERCISES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Your turn, in the notebook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84920"/>
          <a:ext cx="10553700" cy="2316063"/>
        </p:xfrm>
        <a:graphic>
          <a:graphicData uri="http://schemas.openxmlformats.org/drawingml/2006/table">
            <a:tbl>
              <a:tblPr/>
              <a:tblGrid>
                <a:gridCol w="1477518"/>
                <a:gridCol w="9076182"/>
              </a:tblGrid>
              <a:tr h="386011">
                <a:tc>
                  <a:txBody>
                    <a:bodyPr/>
                    <a:lstStyle/>
                    <a:p>
                      <a:pPr indent="0" marL="0">
                        <a:lnSpc>
                          <a:spcPts val="1960"/>
                        </a:lnSpc>
                        <a:buNone/>
                      </a:pPr>
                      <a:r>
                        <a:rPr lang="en-US" sz="1400" b="1" dirty="0">
                          <a:solidFill>
                            <a:srgbClr val="1B2633"/>
                          </a:solidFill>
                          <a:latin typeface="IBM Plex Sans" pitchFamily="34" charset="0"/>
                          <a:ea typeface="IBM Plex Sans" pitchFamily="34" charset="-122"/>
                          <a:cs typeface="IBM Plex Sans" pitchFamily="34" charset="-120"/>
                        </a:rPr>
                        <a:t>Exercise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B2633"/>
                          </a:solidFill>
                          <a:latin typeface="IBM Plex Sans" pitchFamily="34" charset="0"/>
                          <a:ea typeface="IBM Plex Sans" pitchFamily="34" charset="-122"/>
                          <a:cs typeface="IBM Plex Sans" pitchFamily="34" charset="-120"/>
                        </a:rPr>
                        <a:t>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Difference of two response rates: estimate, standard error, and a check by simulation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Two basketball shooters, 30% against 40%: who wins over 20 shots, and how large must N be?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Simulate a player who shoots until two misses in a row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Propagate uncertainty: savings per unit times market size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B2633"/>
                          </a:solidFill>
                          <a:latin typeface="IBM Plex Sans" pitchFamily="34" charset="0"/>
                          <a:ea typeface="IBM Plex Sans" pitchFamily="34" charset="-122"/>
                          <a:cs typeface="IBM Plex Sans" pitchFamily="34" charset="-120"/>
                        </a:rPr>
                        <a:t>Redo the significance filter with standard error 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Notebook §14</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61A"/>
                </a:solidFill>
                <a:latin typeface="IBM Plex Sans" pitchFamily="34" charset="0"/>
                <a:ea typeface="IBM Plex Sans" pitchFamily="34" charset="-122"/>
                <a:cs typeface="IBM Plex Sans" pitchFamily="34" charset="-120"/>
              </a:rPr>
              <a:t>SOURCES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A"/>
                </a:solidFill>
                <a:latin typeface="Source Serif 4" pitchFamily="18" charset="0"/>
                <a:ea typeface="Source Serif 4" pitchFamily="18" charset="-122"/>
                <a:cs typeface="Source Serif 4" pitchFamily="18" charset="-120"/>
              </a:rPr>
              <a:t>Where this lesson comes from</a:t>
            </a:r>
            <a:endParaRPr lang="en-US" sz="3000" dirty="0"/>
          </a:p>
        </p:txBody>
      </p:sp>
      <p:sp>
        <p:nvSpPr>
          <p:cNvPr id="4" name="Text 2"/>
          <p:cNvSpPr/>
          <p:nvPr/>
        </p:nvSpPr>
        <p:spPr>
          <a:xfrm>
            <a:off x="812800" y="15722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Election data.</a:t>
            </a:r>
            <a:r>
              <a:rPr lang="en-US" sz="1500" dirty="0">
                <a:solidFill>
                  <a:srgbClr val="1B2633"/>
                </a:solidFill>
                <a:latin typeface="IBM Plex Sans" pitchFamily="34" charset="0"/>
                <a:ea typeface="IBM Plex Sans" pitchFamily="34" charset="-122"/>
                <a:cs typeface="IBM Plex Sans" pitchFamily="34" charset="-120"/>
              </a:rPr>
              <a:t> Hibbs: incumbent party vote share and income growth, US presidential elections 1952 to 2012.</a:t>
            </a:r>
            <a:endParaRPr lang="en-US" sz="1500" dirty="0"/>
          </a:p>
        </p:txBody>
      </p:sp>
      <p:sp>
        <p:nvSpPr>
          <p:cNvPr id="5" name="Text 3"/>
          <p:cNvSpPr/>
          <p:nvPr/>
        </p:nvSpPr>
        <p:spPr>
          <a:xfrm>
            <a:off x="812800" y="20167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Companion notebook.</a:t>
            </a:r>
            <a:r>
              <a:rPr lang="en-US" sz="1500" dirty="0">
                <a:solidFill>
                  <a:srgbClr val="1B2633"/>
                </a:solidFill>
                <a:latin typeface="IBM Plex Sans" pitchFamily="34" charset="0"/>
                <a:ea typeface="IBM Plex Sans" pitchFamily="34" charset="-122"/>
                <a:cs typeface="IBM Plex Sans" pitchFamily="34" charset="-120"/>
              </a:rPr>
              <a:t> Lesson1_Statistics_Introduction.ipynb, in Python, runs on Google Colab. Figures and numbers on these slides come from it.</a:t>
            </a:r>
            <a:endParaRPr lang="en-US" sz="1500" dirty="0"/>
          </a:p>
        </p:txBody>
      </p:sp>
      <p:sp>
        <p:nvSpPr>
          <p:cNvPr id="6" name="Text 4"/>
          <p:cNvSpPr/>
          <p:nvPr/>
        </p:nvSpPr>
        <p:spPr>
          <a:xfrm>
            <a:off x="812800" y="27279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633"/>
                </a:solidFill>
                <a:latin typeface="IBM Plex Sans" pitchFamily="34" charset="0"/>
                <a:ea typeface="IBM Plex Sans" pitchFamily="34" charset="-122"/>
                <a:cs typeface="IBM Plex Sans" pitchFamily="34" charset="-120"/>
              </a:rPr>
              <a:t>Head-turning example.</a:t>
            </a:r>
            <a:r>
              <a:rPr lang="en-US" sz="1500" dirty="0">
                <a:solidFill>
                  <a:srgbClr val="1B2633"/>
                </a:solidFill>
                <a:latin typeface="IBM Plex Sans" pitchFamily="34" charset="0"/>
                <a:ea typeface="IBM Plex Sans" pitchFamily="34" charset="-122"/>
                <a:cs typeface="IBM Plex Sans" pitchFamily="34" charset="-120"/>
              </a:rPr>
              <a:t> Nature (2003), "Human behaviour: Adult persistence of head-turning asymmetry", as in the previous version of this lesson.</a:t>
            </a:r>
            <a:endParaRPr lang="en-US" sz="15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Statistics · Lesson 1</a:t>
            </a:r>
            <a:endParaRPr lang="en-US" sz="1200" dirty="0"/>
          </a:p>
        </p:txBody>
      </p:sp>
    </p:spTree>
  </p:cSld>
  <p:clrMapOvr>
    <a:masterClrMapping/>
  </p:clrMapOvr>
</p:sld>
</file>

<file path=ppt/theme/theme1.xml><?xml version="1.0" encoding="utf-8"?>
<a:theme xmlns:a="http://schemas.openxmlformats.org/drawingml/2006/main" name="Statistics: Lesson 1">
  <a:themeElements>
    <a:clrScheme name="Statistics: Lesson 1">
      <a:dk1>
        <a:srgbClr val="0F2A4A"/>
      </a:dk1>
      <a:lt1>
        <a:srgbClr val="F7F6F2"/>
      </a:lt1>
      <a:dk2>
        <a:srgbClr val="495D74"/>
      </a:dk2>
      <a:lt2>
        <a:srgbClr val="E0E2E1"/>
      </a:lt2>
      <a:accent1>
        <a:srgbClr val="B8461A"/>
      </a:accent1>
      <a:accent2>
        <a:srgbClr val="F29A6B"/>
      </a:accent2>
      <a:accent3>
        <a:srgbClr val="9FB3C8"/>
      </a:accent3>
      <a:accent4>
        <a:srgbClr val="2A6FBB"/>
      </a:accent4>
      <a:accent5>
        <a:srgbClr val="4A5568"/>
      </a:accent5>
      <a:accent6>
        <a:srgbClr val="6A7179"/>
      </a:accent6>
      <a:hlink>
        <a:srgbClr val="0563C1"/>
      </a:hlink>
      <a:folHlink>
        <a:srgbClr val="954F72"/>
      </a:folHlink>
    </a:clrScheme>
    <a:fontScheme name="Statistics: Lesson 1">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Lesson 1</dc:title>
  <dc:subject/>
  <dc:creator/>
  <cp:lastModifiedBy/>
  <cp:revision>1</cp:revision>
  <dcterms:created xsi:type="dcterms:W3CDTF">2026-10-11T09:24:10Z</dcterms:created>
  <dcterms:modified xsi:type="dcterms:W3CDTF">2026-10-11T09:24:10Z</dcterms:modified>
</cp:coreProperties>
</file>